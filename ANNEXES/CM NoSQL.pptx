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0" r:id="rId1"/>
  </p:sldMasterIdLst>
  <p:notesMasterIdLst>
    <p:notesMasterId r:id="rId52"/>
  </p:notesMasterIdLst>
  <p:handoutMasterIdLst>
    <p:handoutMasterId r:id="rId53"/>
  </p:handoutMasterIdLst>
  <p:sldIdLst>
    <p:sldId id="258" r:id="rId2"/>
    <p:sldId id="681" r:id="rId3"/>
    <p:sldId id="703" r:id="rId4"/>
    <p:sldId id="704" r:id="rId5"/>
    <p:sldId id="711" r:id="rId6"/>
    <p:sldId id="712" r:id="rId7"/>
    <p:sldId id="713" r:id="rId8"/>
    <p:sldId id="714" r:id="rId9"/>
    <p:sldId id="752" r:id="rId10"/>
    <p:sldId id="715" r:id="rId11"/>
    <p:sldId id="716" r:id="rId12"/>
    <p:sldId id="717" r:id="rId13"/>
    <p:sldId id="718" r:id="rId14"/>
    <p:sldId id="719" r:id="rId15"/>
    <p:sldId id="720" r:id="rId16"/>
    <p:sldId id="721" r:id="rId17"/>
    <p:sldId id="722" r:id="rId18"/>
    <p:sldId id="723" r:id="rId19"/>
    <p:sldId id="724" r:id="rId20"/>
    <p:sldId id="725" r:id="rId21"/>
    <p:sldId id="726" r:id="rId22"/>
    <p:sldId id="733" r:id="rId23"/>
    <p:sldId id="734" r:id="rId24"/>
    <p:sldId id="753" r:id="rId25"/>
    <p:sldId id="754" r:id="rId26"/>
    <p:sldId id="727" r:id="rId27"/>
    <p:sldId id="728" r:id="rId28"/>
    <p:sldId id="729" r:id="rId29"/>
    <p:sldId id="730" r:id="rId30"/>
    <p:sldId id="759" r:id="rId31"/>
    <p:sldId id="751" r:id="rId32"/>
    <p:sldId id="731" r:id="rId33"/>
    <p:sldId id="710" r:id="rId34"/>
    <p:sldId id="756" r:id="rId35"/>
    <p:sldId id="735" r:id="rId36"/>
    <p:sldId id="757" r:id="rId37"/>
    <p:sldId id="736" r:id="rId38"/>
    <p:sldId id="737" r:id="rId39"/>
    <p:sldId id="738" r:id="rId40"/>
    <p:sldId id="739" r:id="rId41"/>
    <p:sldId id="740" r:id="rId42"/>
    <p:sldId id="758" r:id="rId43"/>
    <p:sldId id="741" r:id="rId44"/>
    <p:sldId id="742" r:id="rId45"/>
    <p:sldId id="743" r:id="rId46"/>
    <p:sldId id="744" r:id="rId47"/>
    <p:sldId id="745" r:id="rId48"/>
    <p:sldId id="746" r:id="rId49"/>
    <p:sldId id="747" r:id="rId50"/>
    <p:sldId id="755"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x!mu$" initials="M" lastIdx="4" clrIdx="0"/>
  <p:cmAuthor id="1" name=". ." initials=""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F712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64" autoAdjust="0"/>
    <p:restoredTop sz="92123"/>
  </p:normalViewPr>
  <p:slideViewPr>
    <p:cSldViewPr snapToGrid="0" snapToObjects="1">
      <p:cViewPr varScale="1">
        <p:scale>
          <a:sx n="117" d="100"/>
          <a:sy n="117" d="100"/>
        </p:scale>
        <p:origin x="1824" y="168"/>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110" d="100"/>
          <a:sy n="110" d="100"/>
        </p:scale>
        <p:origin x="2544" y="1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CF9CA0A-55D2-4544-89FC-73158659A506}" type="datetimeFigureOut">
              <a:rPr lang="fr-FR" smtClean="0"/>
              <a:t>16/09/2025</a:t>
            </a:fld>
            <a:endParaRPr lang="fr-FR"/>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B590803-6959-C147-80D5-904F0E7F1CBF}" type="slidenum">
              <a:rPr lang="fr-FR" smtClean="0"/>
              <a:t>‹N°›</a:t>
            </a:fld>
            <a:endParaRPr lang="fr-FR"/>
          </a:p>
        </p:txBody>
      </p:sp>
    </p:spTree>
    <p:extLst>
      <p:ext uri="{BB962C8B-B14F-4D97-AF65-F5344CB8AC3E}">
        <p14:creationId xmlns:p14="http://schemas.microsoft.com/office/powerpoint/2010/main" val="68276066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5014C29-B795-46BA-9038-59A2B5B23AB9}" type="datetimeFigureOut">
              <a:rPr lang="fr-FR" smtClean="0"/>
              <a:pPr/>
              <a:t>16/09/2025</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6A3754-1705-4DF2-8ADD-F3AEE0D7576C}" type="slidenum">
              <a:rPr lang="fr-FR" smtClean="0"/>
              <a:pPr/>
              <a:t>‹N°›</a:t>
            </a:fld>
            <a:endParaRPr lang="fr-FR"/>
          </a:p>
        </p:txBody>
      </p:sp>
    </p:spTree>
    <p:extLst>
      <p:ext uri="{BB962C8B-B14F-4D97-AF65-F5344CB8AC3E}">
        <p14:creationId xmlns:p14="http://schemas.microsoft.com/office/powerpoint/2010/main" val="64094797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5" name="Espace réservé du numéro de diapositive 4"/>
          <p:cNvSpPr>
            <a:spLocks noGrp="1"/>
          </p:cNvSpPr>
          <p:nvPr>
            <p:ph type="sldNum" sz="quarter" idx="11"/>
          </p:nvPr>
        </p:nvSpPr>
        <p:spPr/>
        <p:txBody>
          <a:bodyPr/>
          <a:lstStyle/>
          <a:p>
            <a:fld id="{8B6880FB-8AAC-4EC0-B8D1-08E6C81CCF3F}" type="slidenum">
              <a:rPr lang="fr-FR" smtClean="0"/>
              <a:pPr/>
              <a:t>1</a:t>
            </a:fld>
            <a:endParaRPr lang="fr-FR"/>
          </a:p>
        </p:txBody>
      </p:sp>
    </p:spTree>
    <p:extLst>
      <p:ext uri="{BB962C8B-B14F-4D97-AF65-F5344CB8AC3E}">
        <p14:creationId xmlns:p14="http://schemas.microsoft.com/office/powerpoint/2010/main" val="73052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charset="0"/>
                <a:ea typeface="ＭＳ Ｐゴシック" charset="-128"/>
              </a:defRPr>
            </a:lvl1pPr>
            <a:lvl2pPr marL="742950" indent="-285750">
              <a:spcBef>
                <a:spcPct val="30000"/>
              </a:spcBef>
              <a:defRPr sz="1200">
                <a:solidFill>
                  <a:schemeClr val="tx1"/>
                </a:solidFill>
                <a:latin typeface="Times New Roman" charset="0"/>
                <a:ea typeface="ＭＳ Ｐゴシック" charset="-128"/>
              </a:defRPr>
            </a:lvl2pPr>
            <a:lvl3pPr marL="1143000" indent="-228600">
              <a:spcBef>
                <a:spcPct val="30000"/>
              </a:spcBef>
              <a:defRPr sz="1200">
                <a:solidFill>
                  <a:schemeClr val="tx1"/>
                </a:solidFill>
                <a:latin typeface="Times New Roman" charset="0"/>
                <a:ea typeface="ＭＳ Ｐゴシック" charset="-128"/>
              </a:defRPr>
            </a:lvl3pPr>
            <a:lvl4pPr marL="1600200" indent="-228600">
              <a:spcBef>
                <a:spcPct val="30000"/>
              </a:spcBef>
              <a:defRPr sz="1200">
                <a:solidFill>
                  <a:schemeClr val="tx1"/>
                </a:solidFill>
                <a:latin typeface="Times New Roman" charset="0"/>
                <a:ea typeface="ＭＳ Ｐゴシック" charset="-128"/>
              </a:defRPr>
            </a:lvl4pPr>
            <a:lvl5pPr marL="2057400" indent="-228600">
              <a:spcBef>
                <a:spcPct val="30000"/>
              </a:spcBef>
              <a:defRPr sz="1200">
                <a:solidFill>
                  <a:schemeClr val="tx1"/>
                </a:solidFill>
                <a:latin typeface="Times New Roman" charset="0"/>
                <a:ea typeface="ＭＳ Ｐゴシック" charset="-128"/>
              </a:defRPr>
            </a:lvl5pPr>
            <a:lvl6pPr marL="2514600" indent="-228600" eaLnBrk="0" fontAlgn="base" hangingPunct="0">
              <a:spcBef>
                <a:spcPct val="30000"/>
              </a:spcBef>
              <a:spcAft>
                <a:spcPct val="0"/>
              </a:spcAft>
              <a:defRPr sz="1200">
                <a:solidFill>
                  <a:schemeClr val="tx1"/>
                </a:solidFill>
                <a:latin typeface="Times New Roman" charset="0"/>
                <a:ea typeface="ＭＳ Ｐゴシック" charset="-128"/>
              </a:defRPr>
            </a:lvl6pPr>
            <a:lvl7pPr marL="2971800" indent="-228600" eaLnBrk="0" fontAlgn="base" hangingPunct="0">
              <a:spcBef>
                <a:spcPct val="30000"/>
              </a:spcBef>
              <a:spcAft>
                <a:spcPct val="0"/>
              </a:spcAft>
              <a:defRPr sz="1200">
                <a:solidFill>
                  <a:schemeClr val="tx1"/>
                </a:solidFill>
                <a:latin typeface="Times New Roman" charset="0"/>
                <a:ea typeface="ＭＳ Ｐゴシック" charset="-128"/>
              </a:defRPr>
            </a:lvl7pPr>
            <a:lvl8pPr marL="3429000" indent="-228600" eaLnBrk="0" fontAlgn="base" hangingPunct="0">
              <a:spcBef>
                <a:spcPct val="30000"/>
              </a:spcBef>
              <a:spcAft>
                <a:spcPct val="0"/>
              </a:spcAft>
              <a:defRPr sz="1200">
                <a:solidFill>
                  <a:schemeClr val="tx1"/>
                </a:solidFill>
                <a:latin typeface="Times New Roman" charset="0"/>
                <a:ea typeface="ＭＳ Ｐゴシック" charset="-128"/>
              </a:defRPr>
            </a:lvl8pPr>
            <a:lvl9pPr marL="3886200" indent="-228600" eaLnBrk="0" fontAlgn="base" hangingPunct="0">
              <a:spcBef>
                <a:spcPct val="30000"/>
              </a:spcBef>
              <a:spcAft>
                <a:spcPct val="0"/>
              </a:spcAft>
              <a:defRPr sz="1200">
                <a:solidFill>
                  <a:schemeClr val="tx1"/>
                </a:solidFill>
                <a:latin typeface="Times New Roman" charset="0"/>
                <a:ea typeface="ＭＳ Ｐゴシック" charset="-128"/>
              </a:defRPr>
            </a:lvl9pPr>
          </a:lstStyle>
          <a:p>
            <a:pPr>
              <a:spcBef>
                <a:spcPct val="0"/>
              </a:spcBef>
            </a:pPr>
            <a:fld id="{5B884391-A89E-8A4A-837C-15808AA4CC26}" type="slidenum">
              <a:rPr lang="fr-FR" altLang="fr-FR" sz="1000"/>
              <a:pPr>
                <a:spcBef>
                  <a:spcPct val="0"/>
                </a:spcBef>
              </a:pPr>
              <a:t>2</a:t>
            </a:fld>
            <a:endParaRPr lang="fr-FR" altLang="fr-FR" sz="1000"/>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fr-FR" altLang="fr-FR">
              <a:latin typeface="Times New Roman" charset="0"/>
              <a:ea typeface="ＭＳ Ｐゴシック" charset="-128"/>
            </a:endParaRPr>
          </a:p>
        </p:txBody>
      </p:sp>
    </p:spTree>
    <p:extLst>
      <p:ext uri="{BB962C8B-B14F-4D97-AF65-F5344CB8AC3E}">
        <p14:creationId xmlns:p14="http://schemas.microsoft.com/office/powerpoint/2010/main" val="501670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Tahoma" charset="0"/>
                <a:ea typeface="ＭＳ Ｐゴシック" charset="-128"/>
              </a:defRPr>
            </a:lvl1pPr>
            <a:lvl2pPr marL="742950" indent="-285750" eaLnBrk="0" hangingPunct="0">
              <a:defRPr sz="2400" b="1">
                <a:solidFill>
                  <a:schemeClr val="tx1"/>
                </a:solidFill>
                <a:latin typeface="Tahoma" charset="0"/>
                <a:ea typeface="ＭＳ Ｐゴシック" charset="-128"/>
              </a:defRPr>
            </a:lvl2pPr>
            <a:lvl3pPr marL="1143000" indent="-228600" eaLnBrk="0" hangingPunct="0">
              <a:defRPr sz="2400" b="1">
                <a:solidFill>
                  <a:schemeClr val="tx1"/>
                </a:solidFill>
                <a:latin typeface="Tahoma" charset="0"/>
                <a:ea typeface="ＭＳ Ｐゴシック" charset="-128"/>
              </a:defRPr>
            </a:lvl3pPr>
            <a:lvl4pPr marL="1600200" indent="-228600" eaLnBrk="0" hangingPunct="0">
              <a:defRPr sz="2400" b="1">
                <a:solidFill>
                  <a:schemeClr val="tx1"/>
                </a:solidFill>
                <a:latin typeface="Tahoma" charset="0"/>
                <a:ea typeface="ＭＳ Ｐゴシック" charset="-128"/>
              </a:defRPr>
            </a:lvl4pPr>
            <a:lvl5pPr marL="2057400" indent="-228600" eaLnBrk="0" hangingPunct="0">
              <a:defRPr sz="2400" b="1">
                <a:solidFill>
                  <a:schemeClr val="tx1"/>
                </a:solidFill>
                <a:latin typeface="Tahoma" charset="0"/>
                <a:ea typeface="ＭＳ Ｐゴシック" charset="-128"/>
              </a:defRPr>
            </a:lvl5pPr>
            <a:lvl6pPr marL="2514600" indent="-228600" eaLnBrk="0" fontAlgn="base" hangingPunct="0">
              <a:spcBef>
                <a:spcPct val="0"/>
              </a:spcBef>
              <a:spcAft>
                <a:spcPct val="0"/>
              </a:spcAft>
              <a:defRPr sz="2400" b="1">
                <a:solidFill>
                  <a:schemeClr val="tx1"/>
                </a:solidFill>
                <a:latin typeface="Tahoma" charset="0"/>
                <a:ea typeface="ＭＳ Ｐゴシック" charset="-128"/>
              </a:defRPr>
            </a:lvl6pPr>
            <a:lvl7pPr marL="2971800" indent="-228600" eaLnBrk="0" fontAlgn="base" hangingPunct="0">
              <a:spcBef>
                <a:spcPct val="0"/>
              </a:spcBef>
              <a:spcAft>
                <a:spcPct val="0"/>
              </a:spcAft>
              <a:defRPr sz="2400" b="1">
                <a:solidFill>
                  <a:schemeClr val="tx1"/>
                </a:solidFill>
                <a:latin typeface="Tahoma" charset="0"/>
                <a:ea typeface="ＭＳ Ｐゴシック" charset="-128"/>
              </a:defRPr>
            </a:lvl7pPr>
            <a:lvl8pPr marL="3429000" indent="-228600" eaLnBrk="0" fontAlgn="base" hangingPunct="0">
              <a:spcBef>
                <a:spcPct val="0"/>
              </a:spcBef>
              <a:spcAft>
                <a:spcPct val="0"/>
              </a:spcAft>
              <a:defRPr sz="2400" b="1">
                <a:solidFill>
                  <a:schemeClr val="tx1"/>
                </a:solidFill>
                <a:latin typeface="Tahoma" charset="0"/>
                <a:ea typeface="ＭＳ Ｐゴシック" charset="-128"/>
              </a:defRPr>
            </a:lvl8pPr>
            <a:lvl9pPr marL="3886200" indent="-228600" eaLnBrk="0" fontAlgn="base" hangingPunct="0">
              <a:spcBef>
                <a:spcPct val="0"/>
              </a:spcBef>
              <a:spcAft>
                <a:spcPct val="0"/>
              </a:spcAft>
              <a:defRPr sz="2400" b="1">
                <a:solidFill>
                  <a:schemeClr val="tx1"/>
                </a:solidFill>
                <a:latin typeface="Tahoma" charset="0"/>
                <a:ea typeface="ＭＳ Ｐゴシック" charset="-128"/>
              </a:defRPr>
            </a:lvl9pPr>
          </a:lstStyle>
          <a:p>
            <a:fld id="{2E2DE7C8-39DB-9744-946F-A77311FE3D4D}" type="slidenum">
              <a:rPr lang="fr-FR" altLang="x-none" sz="1000" b="0">
                <a:latin typeface="Times New Roman" charset="0"/>
              </a:rPr>
              <a:pPr/>
              <a:t>33</a:t>
            </a:fld>
            <a:endParaRPr lang="fr-FR" altLang="x-none" sz="1000" b="0">
              <a:latin typeface="Times New Roman" charset="0"/>
            </a:endParaRPr>
          </a:p>
        </p:txBody>
      </p:sp>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x-none" altLang="x-none">
              <a:latin typeface="Times New Roman" charset="0"/>
              <a:ea typeface="ＭＳ Ｐゴシック" charset="-128"/>
            </a:endParaRPr>
          </a:p>
        </p:txBody>
      </p:sp>
    </p:spTree>
    <p:extLst>
      <p:ext uri="{BB962C8B-B14F-4D97-AF65-F5344CB8AC3E}">
        <p14:creationId xmlns:p14="http://schemas.microsoft.com/office/powerpoint/2010/main" val="743398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fr-FR"/>
              <a:t>Cliquez et modifiez le titre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endParaRPr lang="en-US" dirty="0"/>
          </a:p>
        </p:txBody>
      </p:sp>
      <p:sp>
        <p:nvSpPr>
          <p:cNvPr id="4" name="Date Placeholder 3"/>
          <p:cNvSpPr>
            <a:spLocks noGrp="1"/>
          </p:cNvSpPr>
          <p:nvPr>
            <p:ph type="dt" sz="half" idx="10"/>
          </p:nvPr>
        </p:nvSpPr>
        <p:spPr/>
        <p:txBody>
          <a:bodyPr/>
          <a:lstStyle/>
          <a:p>
            <a:fld id="{449D2458-D17E-7F44-9F91-C60A9EBE58B7}" type="datetime2">
              <a:rPr lang="fr-FR" smtClean="0"/>
              <a:t>mardi 16 septembre 2025</a:t>
            </a:fld>
            <a:endParaRPr lang="en-US"/>
          </a:p>
        </p:txBody>
      </p:sp>
      <p:sp>
        <p:nvSpPr>
          <p:cNvPr id="5" name="Footer Placeholder 4"/>
          <p:cNvSpPr>
            <a:spLocks noGrp="1"/>
          </p:cNvSpPr>
          <p:nvPr>
            <p:ph type="ftr" sz="quarter" idx="11"/>
          </p:nvPr>
        </p:nvSpPr>
        <p:spPr/>
        <p:txBody>
          <a:bodyPr/>
          <a:lstStyle/>
          <a:p>
            <a:pPr algn="r"/>
            <a:endParaRPr lang="en-US" dirty="0"/>
          </a:p>
        </p:txBody>
      </p:sp>
      <p:sp>
        <p:nvSpPr>
          <p:cNvPr id="6" name="Slide Number Placeholder 5"/>
          <p:cNvSpPr>
            <a:spLocks noGrp="1"/>
          </p:cNvSpPr>
          <p:nvPr>
            <p:ph type="sldNum" sz="quarter" idx="12"/>
          </p:nvPr>
        </p:nvSpPr>
        <p:spPr>
          <a:xfrm>
            <a:off x="8394700" y="0"/>
            <a:ext cx="736600" cy="347472"/>
          </a:xfrm>
        </p:spPr>
        <p:txBody>
          <a:bodyPr/>
          <a:lstStyle>
            <a:lvl1pPr algn="r">
              <a:defRPr/>
            </a:lvl1pPr>
          </a:lstStyle>
          <a:p>
            <a:fld id="{0CFEC368-1D7A-4F81-ABF6-AE0E36BAF64C}" type="slidenum">
              <a:rPr lang="en-US" smtClean="0"/>
              <a:pPr/>
              <a:t>‹N°›</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Cliquez et modifiez le titre</a:t>
            </a:r>
            <a:endParaRPr lang="en-US"/>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FB6687F7-FACD-4444-AFF8-D0AE1C76520A}" type="datetime2">
              <a:rPr lang="fr-FR" smtClean="0"/>
              <a:t>mardi 16 septembre 2025</a:t>
            </a:fld>
            <a:endParaRPr lang="en-US"/>
          </a:p>
        </p:txBody>
      </p:sp>
      <p:sp>
        <p:nvSpPr>
          <p:cNvPr id="5" name="Footer Placeholder 4"/>
          <p:cNvSpPr>
            <a:spLocks noGrp="1"/>
          </p:cNvSpPr>
          <p:nvPr>
            <p:ph type="ftr" sz="quarter" idx="11"/>
          </p:nvPr>
        </p:nvSpPr>
        <p:spPr/>
        <p:txBody>
          <a:bodyPr/>
          <a:lstStyle/>
          <a:p>
            <a:pPr algn="r"/>
            <a:endParaRPr lang="en-US" dirty="0"/>
          </a:p>
        </p:txBody>
      </p:sp>
      <p:sp>
        <p:nvSpPr>
          <p:cNvPr id="6" name="Slide Number Placeholder 5"/>
          <p:cNvSpPr>
            <a:spLocks noGrp="1"/>
          </p:cNvSpPr>
          <p:nvPr>
            <p:ph type="sldNum" sz="quarter" idx="12"/>
          </p:nvPr>
        </p:nvSpPr>
        <p:spPr>
          <a:xfrm>
            <a:off x="8483600" y="18288"/>
            <a:ext cx="660400" cy="329184"/>
          </a:xfrm>
        </p:spPr>
        <p:txBody>
          <a:bodyPr/>
          <a:lstStyle>
            <a:lvl1pPr algn="r">
              <a:defRPr/>
            </a:lvl1pPr>
          </a:lstStyle>
          <a:p>
            <a:fld id="{0CFEC368-1D7A-4F81-ABF6-AE0E36BAF64C}"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Cliquez et modifiez le titre</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DF0ABD6C-47DB-E84B-8F3E-F83302A004E9}" type="datetime2">
              <a:rPr lang="fr-FR" smtClean="0"/>
              <a:t>mardi 16 septembre 2025</a:t>
            </a:fld>
            <a:endParaRPr lang="en-US"/>
          </a:p>
        </p:txBody>
      </p:sp>
      <p:sp>
        <p:nvSpPr>
          <p:cNvPr id="6" name="Footer Placeholder 5"/>
          <p:cNvSpPr>
            <a:spLocks noGrp="1"/>
          </p:cNvSpPr>
          <p:nvPr>
            <p:ph type="ftr" sz="quarter" idx="11"/>
          </p:nvPr>
        </p:nvSpPr>
        <p:spPr/>
        <p:txBody>
          <a:bodyPr/>
          <a:lstStyle/>
          <a:p>
            <a:pPr algn="r"/>
            <a:endParaRPr lang="en-US" dirty="0"/>
          </a:p>
        </p:txBody>
      </p:sp>
      <p:sp>
        <p:nvSpPr>
          <p:cNvPr id="7" name="Slide Number Placeholder 6"/>
          <p:cNvSpPr>
            <a:spLocks noGrp="1"/>
          </p:cNvSpPr>
          <p:nvPr>
            <p:ph type="sldNum" sz="quarter" idx="12"/>
          </p:nvPr>
        </p:nvSpPr>
        <p:spPr>
          <a:xfrm>
            <a:off x="8039100" y="18288"/>
            <a:ext cx="1066800" cy="329184"/>
          </a:xfrm>
        </p:spPr>
        <p:txBody>
          <a:bodyPr/>
          <a:lstStyle>
            <a:lvl1pPr algn="r">
              <a:defRPr/>
            </a:lvl1pPr>
          </a:lstStyle>
          <a:p>
            <a:fld id="{0CFEC368-1D7A-4F81-ABF6-AE0E36BAF64C}"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5D950C-A170-BF4F-B509-BDCBEA1E4272}" type="datetime2">
              <a:rPr lang="fr-FR" smtClean="0"/>
              <a:t>mardi 16 septembre 2025</a:t>
            </a:fld>
            <a:endParaRPr lang="en-US"/>
          </a:p>
        </p:txBody>
      </p:sp>
      <p:sp>
        <p:nvSpPr>
          <p:cNvPr id="3" name="Footer Placeholder 2"/>
          <p:cNvSpPr>
            <a:spLocks noGrp="1"/>
          </p:cNvSpPr>
          <p:nvPr>
            <p:ph type="ftr" sz="quarter" idx="11"/>
          </p:nvPr>
        </p:nvSpPr>
        <p:spPr/>
        <p:txBody>
          <a:bodyPr/>
          <a:lstStyle/>
          <a:p>
            <a:pPr algn="r"/>
            <a:endParaRPr lang="en-US" dirty="0"/>
          </a:p>
        </p:txBody>
      </p:sp>
      <p:sp>
        <p:nvSpPr>
          <p:cNvPr id="4" name="Slide Number Placeholder 3"/>
          <p:cNvSpPr>
            <a:spLocks noGrp="1"/>
          </p:cNvSpPr>
          <p:nvPr>
            <p:ph type="sldNum" sz="quarter" idx="12"/>
          </p:nvPr>
        </p:nvSpPr>
        <p:spPr/>
        <p:txBody>
          <a:bodyPr/>
          <a:lstStyle/>
          <a:p>
            <a:fld id="{0CFEC368-1D7A-4F81-ABF6-AE0E36BAF64C}"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396634"/>
            <a:ext cx="8229600" cy="990600"/>
          </a:xfrm>
          <a:prstGeom prst="rect">
            <a:avLst/>
          </a:prstGeom>
        </p:spPr>
        <p:txBody>
          <a:bodyPr vert="horz" lIns="91440" tIns="45720" rIns="91440" bIns="45720" rtlCol="0" anchor="ctr">
            <a:normAutofit/>
          </a:bodyPr>
          <a:lstStyle/>
          <a:p>
            <a:r>
              <a:rPr lang="fr-FR"/>
              <a:t>Cliquez et modifiez le titre</a:t>
            </a:r>
            <a:endParaRPr lang="en-US" dirty="0"/>
          </a:p>
        </p:txBody>
      </p:sp>
      <p:sp>
        <p:nvSpPr>
          <p:cNvPr id="3" name="Text Placeholder 2"/>
          <p:cNvSpPr>
            <a:spLocks noGrp="1"/>
          </p:cNvSpPr>
          <p:nvPr>
            <p:ph type="body" idx="1"/>
          </p:nvPr>
        </p:nvSpPr>
        <p:spPr>
          <a:xfrm>
            <a:off x="457200" y="1387234"/>
            <a:ext cx="8229600" cy="5089766"/>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15826AEB-A960-334C-B858-403CAFFB323C}" type="datetime2">
              <a:rPr lang="fr-FR" smtClean="0"/>
              <a:t>mardi 16 septembre 2025</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pPr algn="r"/>
            <a:endParaRPr lang="en-US" dirty="0"/>
          </a:p>
        </p:txBody>
      </p:sp>
      <p:sp>
        <p:nvSpPr>
          <p:cNvPr id="6" name="Slide Number Placeholder 5"/>
          <p:cNvSpPr>
            <a:spLocks noGrp="1"/>
          </p:cNvSpPr>
          <p:nvPr>
            <p:ph type="sldNum" sz="quarter" idx="4"/>
          </p:nvPr>
        </p:nvSpPr>
        <p:spPr>
          <a:xfrm>
            <a:off x="8039100" y="18288"/>
            <a:ext cx="1066800" cy="329184"/>
          </a:xfrm>
          <a:prstGeom prst="rect">
            <a:avLst/>
          </a:prstGeom>
        </p:spPr>
        <p:txBody>
          <a:bodyPr vert="horz" lIns="91440" tIns="45720" rIns="91440" bIns="45720" rtlCol="0" anchor="ctr"/>
          <a:lstStyle>
            <a:lvl1pPr algn="r">
              <a:defRPr sz="1400" b="1">
                <a:solidFill>
                  <a:srgbClr val="FFFFFF"/>
                </a:solidFill>
              </a:defRPr>
            </a:lvl1pPr>
          </a:lstStyle>
          <a:p>
            <a:fld id="{0CFEC368-1D7A-4F81-ABF6-AE0E36BAF64C}" type="slidenum">
              <a:rPr lang="en-US" smtClean="0"/>
              <a:pPr/>
              <a:t>‹N°›</a:t>
            </a:fld>
            <a:endParaRPr lang="en-US" dirty="0"/>
          </a:p>
        </p:txBody>
      </p:sp>
    </p:spTree>
  </p:cSld>
  <p:clrMap bg1="lt1" tx1="dk1" bg2="lt2" tx2="dk2" accent1="accent1" accent2="accent2" accent3="accent3" accent4="accent4" accent5="accent5" accent6="accent6" hlink="hlink" folHlink="folHlink"/>
  <p:sldLayoutIdLst>
    <p:sldLayoutId id="2147483961" r:id="rId1"/>
    <p:sldLayoutId id="2147483962" r:id="rId2"/>
    <p:sldLayoutId id="2147483964" r:id="rId3"/>
    <p:sldLayoutId id="2147483967" r:id="rId4"/>
  </p:sldLayoutIdLst>
  <p:hf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Vincent.couturier@univ-smb.fr"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openclassrooms.com/fr/courses/4462426-maitrisez-les-bases-de-donnees-nosql/4462471-maitrisez-le-theoreme-de-cap" TargetMode="External"/><Relationship Id="rId2" Type="http://schemas.openxmlformats.org/officeDocument/2006/relationships/hyperlink" Target="https://datascientest.com/theoreme-cap"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db-engines.com/en/ranking"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researchgate.net/publication/326006960_Testing_the_performance_of_NoSQL_databases_via_the_database_benchmark_tool" TargetMode="External"/><Relationship Id="rId2" Type="http://schemas.openxmlformats.org/officeDocument/2006/relationships/hyperlink" Target="http://www.couchbase.com/couchbase-vs-couchdb" TargetMode="External"/><Relationship Id="rId1" Type="http://schemas.openxmlformats.org/officeDocument/2006/relationships/slideLayout" Target="../slideLayouts/slideLayout2.xml"/><Relationship Id="rId4" Type="http://schemas.openxmlformats.org/officeDocument/2006/relationships/hyperlink" Target="http://blog.3pillarglobal.com/selection-criteria-nosql-database"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db-engines.com/en/ranking_categories" TargetMode="External"/><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hyperlink" Target="https://www.techrepublic.com/article/non-relationals-quiet-revolution-in-databases/"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b-engines.com/en/ranking"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en.wikipedia.org/wiki/Spanner_(database)" TargetMode="External"/><Relationship Id="rId2" Type="http://schemas.openxmlformats.org/officeDocument/2006/relationships/hyperlink" Target="http://highscalability.com/blog/2012/9/24/google-spanners-most-surprising-revelation-nosql-is-out-and.html" TargetMode="External"/><Relationship Id="rId1" Type="http://schemas.openxmlformats.org/officeDocument/2006/relationships/slideLayout" Target="../slideLayouts/slideLayout2.xml"/><Relationship Id="rId5" Type="http://schemas.openxmlformats.org/officeDocument/2006/relationships/hyperlink" Target="https://www.predictiveanalyticstoday.com/newsql-databases" TargetMode="External"/><Relationship Id="rId4" Type="http://schemas.openxmlformats.org/officeDocument/2006/relationships/hyperlink" Target="https://www.cockroachlabs.com/docs/stable/sql-feature-support.html"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docs.mongodb.com/manual/reference/sql-comparison/"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www.researchgate.net/publication/326006960_Testing_the_performance_of_NoSQL_databases_via_the_database_benchmark_tool" TargetMode="External"/><Relationship Id="rId2" Type="http://schemas.openxmlformats.org/officeDocument/2006/relationships/hyperlink" Target="https://www.smile.eu/fr/livres-blancslivres-blancs/nosq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a:t>Nouvelles Bases de données</a:t>
            </a:r>
          </a:p>
        </p:txBody>
      </p:sp>
      <p:sp>
        <p:nvSpPr>
          <p:cNvPr id="5" name="Espace réservé du numéro de diapositive 4"/>
          <p:cNvSpPr>
            <a:spLocks noGrp="1"/>
          </p:cNvSpPr>
          <p:nvPr>
            <p:ph type="sldNum" sz="quarter" idx="12"/>
          </p:nvPr>
        </p:nvSpPr>
        <p:spPr/>
        <p:txBody>
          <a:bodyPr/>
          <a:lstStyle/>
          <a:p>
            <a:fld id="{0CFEC368-1D7A-4F81-ABF6-AE0E36BAF64C}" type="slidenum">
              <a:rPr lang="en-US" smtClean="0"/>
              <a:pPr/>
              <a:t>1</a:t>
            </a:fld>
            <a:endParaRPr lang="en-US"/>
          </a:p>
        </p:txBody>
      </p:sp>
      <p:sp>
        <p:nvSpPr>
          <p:cNvPr id="4" name="ZoneTexte 3"/>
          <p:cNvSpPr txBox="1"/>
          <p:nvPr/>
        </p:nvSpPr>
        <p:spPr>
          <a:xfrm>
            <a:off x="685800" y="5751892"/>
            <a:ext cx="7848600" cy="1077218"/>
          </a:xfrm>
          <a:prstGeom prst="rect">
            <a:avLst/>
          </a:prstGeom>
          <a:noFill/>
        </p:spPr>
        <p:txBody>
          <a:bodyPr wrap="square" rtlCol="0">
            <a:spAutoFit/>
          </a:bodyPr>
          <a:lstStyle/>
          <a:p>
            <a:pPr algn="ctr"/>
            <a:r>
              <a:rPr lang="fr-FR" sz="1600" dirty="0"/>
              <a:t>Vincent COUTURIER</a:t>
            </a:r>
          </a:p>
          <a:p>
            <a:pPr algn="ctr"/>
            <a:r>
              <a:rPr lang="fr-FR" sz="1400" dirty="0"/>
              <a:t>Maitre de conférences – Université Savoie Mont-Blanc</a:t>
            </a:r>
          </a:p>
          <a:p>
            <a:pPr algn="ctr"/>
            <a:r>
              <a:rPr lang="fr-FR" sz="1400" dirty="0">
                <a:hlinkClick r:id="rId3"/>
              </a:rPr>
              <a:t>vincent.couturier@univ-smb.fr</a:t>
            </a:r>
            <a:endParaRPr lang="fr-FR" sz="1400" dirty="0"/>
          </a:p>
          <a:p>
            <a:pPr algn="ctr"/>
            <a:endParaRPr lang="fr-FR" sz="2000" dirty="0"/>
          </a:p>
        </p:txBody>
      </p:sp>
      <p:sp>
        <p:nvSpPr>
          <p:cNvPr id="6" name="ZoneTexte 5"/>
          <p:cNvSpPr txBox="1"/>
          <p:nvPr/>
        </p:nvSpPr>
        <p:spPr>
          <a:xfrm>
            <a:off x="685800" y="3661233"/>
            <a:ext cx="7848600" cy="769441"/>
          </a:xfrm>
          <a:prstGeom prst="rect">
            <a:avLst/>
          </a:prstGeom>
          <a:noFill/>
        </p:spPr>
        <p:txBody>
          <a:bodyPr wrap="square" rtlCol="0">
            <a:spAutoFit/>
          </a:bodyPr>
          <a:lstStyle/>
          <a:p>
            <a:pPr algn="ctr"/>
            <a:r>
              <a:rPr lang="fr-FR" altLang="x-none" sz="4400" dirty="0" err="1">
                <a:ea typeface="ＭＳ Ｐゴシック" charset="-128"/>
              </a:rPr>
              <a:t>NoSQL</a:t>
            </a:r>
            <a:endParaRPr lang="fr-FR" altLang="x-none" sz="4400" dirty="0">
              <a:ea typeface="ＭＳ Ｐゴシック"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1">
            <a:extLst>
              <a:ext uri="{FF2B5EF4-FFF2-40B4-BE49-F238E27FC236}">
                <a16:creationId xmlns:a16="http://schemas.microsoft.com/office/drawing/2014/main" id="{F7473FA4-A702-4D4E-AA29-77EAF90F1F26}"/>
              </a:ext>
            </a:extLst>
          </p:cNvPr>
          <p:cNvSpPr txBox="1">
            <a:spLocks/>
          </p:cNvSpPr>
          <p:nvPr/>
        </p:nvSpPr>
        <p:spPr>
          <a:xfrm>
            <a:off x="457200" y="1387234"/>
            <a:ext cx="8229600" cy="5452478"/>
          </a:xfrm>
          <a:prstGeom prst="rect">
            <a:avLst/>
          </a:prstGeom>
        </p:spPr>
        <p:txBody>
          <a:bodyPr vert="horz" lIns="91440" tIns="45720" rIns="91440" bIns="45720" rtlCol="0">
            <a:normAutofit fontScale="925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fr-FR" altLang="fr-FR" dirty="0">
                <a:ea typeface="ＭＳ Ｐゴシック" charset="-128"/>
              </a:rPr>
              <a:t>Terme attribué à  Johan </a:t>
            </a:r>
            <a:r>
              <a:rPr lang="fr-FR" altLang="fr-FR" dirty="0" err="1">
                <a:ea typeface="ＭＳ Ｐゴシック" charset="-128"/>
              </a:rPr>
              <a:t>Oskarsson</a:t>
            </a:r>
            <a:r>
              <a:rPr lang="fr-FR" altLang="fr-FR" dirty="0">
                <a:ea typeface="ＭＳ Ｐゴシック" charset="-128"/>
              </a:rPr>
              <a:t> (juin 2009)</a:t>
            </a:r>
          </a:p>
          <a:p>
            <a:r>
              <a:rPr lang="fr-FR" altLang="fr-FR" dirty="0">
                <a:ea typeface="ＭＳ Ｐゴシック" charset="-128"/>
              </a:rPr>
              <a:t>= « Not </a:t>
            </a:r>
            <a:r>
              <a:rPr lang="fr-FR" altLang="fr-FR" dirty="0" err="1">
                <a:ea typeface="ＭＳ Ｐゴシック" charset="-128"/>
              </a:rPr>
              <a:t>Only</a:t>
            </a:r>
            <a:r>
              <a:rPr lang="fr-FR" altLang="fr-FR" dirty="0">
                <a:ea typeface="ＭＳ Ｐゴシック" charset="-128"/>
              </a:rPr>
              <a:t> SQL »</a:t>
            </a:r>
          </a:p>
          <a:p>
            <a:r>
              <a:rPr lang="fr-FR" altLang="fr-FR" dirty="0">
                <a:ea typeface="ＭＳ Ｐゴシック" charset="-128"/>
              </a:rPr>
              <a:t>=« base de données </a:t>
            </a:r>
            <a:r>
              <a:rPr lang="fr-FR" altLang="fr-FR" b="1" dirty="0">
                <a:ea typeface="ＭＳ Ｐゴシック" charset="-128"/>
              </a:rPr>
              <a:t>non relationnelle </a:t>
            </a:r>
            <a:r>
              <a:rPr lang="fr-FR" altLang="fr-FR" dirty="0">
                <a:ea typeface="ＭＳ Ｐゴシック" charset="-128"/>
              </a:rPr>
              <a:t>qui peut gérer des données sur un ensemble de </a:t>
            </a:r>
            <a:r>
              <a:rPr lang="fr-FR" altLang="fr-FR" b="1" dirty="0">
                <a:ea typeface="ＭＳ Ｐゴシック" charset="-128"/>
              </a:rPr>
              <a:t>serveurs de stockage distribués</a:t>
            </a:r>
            <a:r>
              <a:rPr lang="fr-FR" altLang="fr-FR" dirty="0">
                <a:ea typeface="ＭＳ Ｐゴシック" charset="-128"/>
              </a:rPr>
              <a:t>, est conçue pour être </a:t>
            </a:r>
            <a:r>
              <a:rPr lang="fr-FR" altLang="fr-FR" b="1" dirty="0">
                <a:ea typeface="ＭＳ Ｐゴシック" charset="-128"/>
              </a:rPr>
              <a:t>hautement disponible </a:t>
            </a:r>
            <a:r>
              <a:rPr lang="fr-FR" altLang="fr-FR" dirty="0">
                <a:ea typeface="ＭＳ Ｐゴシック" charset="-128"/>
              </a:rPr>
              <a:t>tout en étant capable de </a:t>
            </a:r>
            <a:r>
              <a:rPr lang="fr-FR" altLang="fr-FR" b="1" dirty="0">
                <a:ea typeface="ＭＳ Ｐゴシック" charset="-128"/>
              </a:rPr>
              <a:t>monter fortement en charge </a:t>
            </a:r>
            <a:r>
              <a:rPr lang="fr-FR" altLang="fr-FR" dirty="0">
                <a:ea typeface="ＭＳ Ｐゴシック" charset="-128"/>
              </a:rPr>
              <a:t>et prend en charge un </a:t>
            </a:r>
            <a:r>
              <a:rPr lang="fr-FR" altLang="fr-FR" b="1" dirty="0">
                <a:ea typeface="ＭＳ Ｐゴシック" charset="-128"/>
              </a:rPr>
              <a:t>schéma de données variable </a:t>
            </a:r>
            <a:r>
              <a:rPr lang="fr-FR" altLang="fr-FR" dirty="0">
                <a:ea typeface="ＭＳ Ｐゴシック" charset="-128"/>
              </a:rPr>
              <a:t>et différents formats de données. Les bases de données NoSQL évitent souvent les transactions ACID (atomiques, cohérentes, isolées et durables) et les jointures de tables afin de parvenir à un débit plus rapide »</a:t>
            </a:r>
          </a:p>
          <a:p>
            <a:r>
              <a:rPr lang="fr-FR" altLang="fr-FR" dirty="0">
                <a:ea typeface="ＭＳ Ｐゴシック" charset="-128"/>
              </a:rPr>
              <a:t>=&gt; Approche qui complète les outils existants pour en combler les faiblesses</a:t>
            </a:r>
          </a:p>
          <a:p>
            <a:r>
              <a:rPr lang="fr-FR" altLang="fr-FR" dirty="0">
                <a:ea typeface="ＭＳ Ｐゴシック" charset="-128"/>
              </a:rPr>
              <a:t>Technologies portées par des acteurs comme Google, Facebook ou Twitter</a:t>
            </a:r>
          </a:p>
          <a:p>
            <a:r>
              <a:rPr lang="fr-FR" altLang="fr-FR" b="1" dirty="0">
                <a:ea typeface="ＭＳ Ｐゴシック" charset="-128"/>
              </a:rPr>
              <a:t>Objectif : manipuler des volumétries de données très importantes dans un contexte distribué</a:t>
            </a:r>
            <a:r>
              <a:rPr lang="fr-FR" altLang="fr-FR" sz="1500" b="1" dirty="0">
                <a:ea typeface="ＭＳ Ｐゴシック" charset="-128"/>
              </a:rPr>
              <a:t>.</a:t>
            </a:r>
            <a:endParaRPr lang="fr-FR" altLang="fr-FR" b="1" dirty="0">
              <a:ea typeface="ＭＳ Ｐゴシック" charset="-128"/>
            </a:endParaRPr>
          </a:p>
        </p:txBody>
      </p:sp>
      <p:sp>
        <p:nvSpPr>
          <p:cNvPr id="23554" name="Rectangle 2"/>
          <p:cNvSpPr>
            <a:spLocks noGrp="1" noChangeArrowheads="1"/>
          </p:cNvSpPr>
          <p:nvPr>
            <p:ph type="title"/>
          </p:nvPr>
        </p:nvSpPr>
        <p:spPr/>
        <p:txBody>
          <a:bodyPr>
            <a:normAutofit/>
          </a:bodyPr>
          <a:lstStyle/>
          <a:p>
            <a:r>
              <a:rPr lang="fr-FR" altLang="fr-FR" dirty="0" err="1">
                <a:ea typeface="ＭＳ Ｐゴシック" charset="-128"/>
              </a:rPr>
              <a:t>NoSQL</a:t>
            </a:r>
            <a:endParaRPr lang="fr-FR" altLang="fr-FR" dirty="0">
              <a:ea typeface="ＭＳ Ｐゴシック" charset="-128"/>
            </a:endParaRPr>
          </a:p>
        </p:txBody>
      </p:sp>
      <p:sp>
        <p:nvSpPr>
          <p:cNvPr id="2" name="Espace réservé du numéro de diapositive 1">
            <a:extLst>
              <a:ext uri="{FF2B5EF4-FFF2-40B4-BE49-F238E27FC236}">
                <a16:creationId xmlns:a16="http://schemas.microsoft.com/office/drawing/2014/main" id="{97799832-F77D-AB4B-86B8-74A386A270BB}"/>
              </a:ext>
            </a:extLst>
          </p:cNvPr>
          <p:cNvSpPr>
            <a:spLocks noGrp="1"/>
          </p:cNvSpPr>
          <p:nvPr>
            <p:ph type="sldNum" sz="quarter" idx="12"/>
          </p:nvPr>
        </p:nvSpPr>
        <p:spPr/>
        <p:txBody>
          <a:bodyPr/>
          <a:lstStyle/>
          <a:p>
            <a:fld id="{0CFEC368-1D7A-4F81-ABF6-AE0E36BAF64C}" type="slidenum">
              <a:rPr lang="en-US" smtClean="0"/>
              <a:pPr/>
              <a:t>2</a:t>
            </a:fld>
            <a:endParaRPr lang="en-US"/>
          </a:p>
        </p:txBody>
      </p:sp>
    </p:spTree>
    <p:extLst>
      <p:ext uri="{BB962C8B-B14F-4D97-AF65-F5344CB8AC3E}">
        <p14:creationId xmlns:p14="http://schemas.microsoft.com/office/powerpoint/2010/main" val="2820287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9781D0-0362-1849-9010-75820BAE6AF4}"/>
              </a:ext>
            </a:extLst>
          </p:cNvPr>
          <p:cNvSpPr>
            <a:spLocks noGrp="1"/>
          </p:cNvSpPr>
          <p:nvPr>
            <p:ph type="title"/>
          </p:nvPr>
        </p:nvSpPr>
        <p:spPr/>
        <p:txBody>
          <a:bodyPr/>
          <a:lstStyle/>
          <a:p>
            <a:r>
              <a:rPr lang="fr-FR" altLang="fr-FR" dirty="0">
                <a:ea typeface="ＭＳ Ｐゴシック" panose="020B0600070205080204" pitchFamily="34" charset="-128"/>
              </a:rPr>
              <a:t>SGBD Relationnels</a:t>
            </a:r>
            <a:endParaRPr lang="fr-FR" dirty="0"/>
          </a:p>
        </p:txBody>
      </p:sp>
      <p:sp>
        <p:nvSpPr>
          <p:cNvPr id="3" name="Espace réservé du contenu 2">
            <a:extLst>
              <a:ext uri="{FF2B5EF4-FFF2-40B4-BE49-F238E27FC236}">
                <a16:creationId xmlns:a16="http://schemas.microsoft.com/office/drawing/2014/main" id="{35DA0D3D-CB82-4A4F-9438-1322F3A817B3}"/>
              </a:ext>
            </a:extLst>
          </p:cNvPr>
          <p:cNvSpPr>
            <a:spLocks noGrp="1"/>
          </p:cNvSpPr>
          <p:nvPr>
            <p:ph idx="1"/>
          </p:nvPr>
        </p:nvSpPr>
        <p:spPr/>
        <p:txBody>
          <a:bodyPr>
            <a:normAutofit/>
          </a:bodyPr>
          <a:lstStyle/>
          <a:p>
            <a:r>
              <a:rPr lang="fr-FR" dirty="0"/>
              <a:t>Règnent en maitres pour le stockage et la manipulation de données depuis 40 ans :</a:t>
            </a:r>
          </a:p>
          <a:p>
            <a:pPr lvl="1"/>
            <a:r>
              <a:rPr lang="fr-FR" dirty="0"/>
              <a:t>SQL est un langage standardisé </a:t>
            </a:r>
          </a:p>
          <a:p>
            <a:pPr lvl="1"/>
            <a:r>
              <a:rPr lang="fr-FR" dirty="0"/>
              <a:t>Technologie SQL moins coûteuse sur le plan de la formation que toute autre technologie</a:t>
            </a:r>
          </a:p>
          <a:p>
            <a:pPr lvl="1"/>
            <a:r>
              <a:rPr lang="fr-FR" dirty="0"/>
              <a:t>Gestion de l’intégrité des données</a:t>
            </a:r>
          </a:p>
          <a:p>
            <a:pPr lvl="1"/>
            <a:r>
              <a:rPr lang="fr-FR" dirty="0"/>
              <a:t>Transactions : indispensables pour les applications de gestion</a:t>
            </a:r>
          </a:p>
          <a:p>
            <a:pPr lvl="1"/>
            <a:r>
              <a:rPr lang="fr-FR" dirty="0"/>
              <a:t>Outils de développement (intégration dans les langages ou </a:t>
            </a:r>
            <a:r>
              <a:rPr lang="fr-FR" dirty="0" err="1"/>
              <a:t>frameworks</a:t>
            </a:r>
            <a:r>
              <a:rPr lang="fr-FR" dirty="0"/>
              <a:t>) ou d’exploitation (outils de sauvegarde, monitoring) matures</a:t>
            </a:r>
          </a:p>
          <a:p>
            <a:r>
              <a:rPr lang="fr-FR" dirty="0"/>
              <a:t>Echec des initiatives concurrentes des années 1990/2000 : SGBD Objets, SGBD XML.</a:t>
            </a:r>
          </a:p>
        </p:txBody>
      </p:sp>
      <p:sp>
        <p:nvSpPr>
          <p:cNvPr id="4" name="Espace réservé du numéro de diapositive 3">
            <a:extLst>
              <a:ext uri="{FF2B5EF4-FFF2-40B4-BE49-F238E27FC236}">
                <a16:creationId xmlns:a16="http://schemas.microsoft.com/office/drawing/2014/main" id="{B3A71916-EB0D-4C4C-901E-D5FF083FF839}"/>
              </a:ext>
            </a:extLst>
          </p:cNvPr>
          <p:cNvSpPr>
            <a:spLocks noGrp="1"/>
          </p:cNvSpPr>
          <p:nvPr>
            <p:ph type="sldNum" sz="quarter" idx="12"/>
          </p:nvPr>
        </p:nvSpPr>
        <p:spPr/>
        <p:txBody>
          <a:bodyPr/>
          <a:lstStyle/>
          <a:p>
            <a:fld id="{0CFEC368-1D7A-4F81-ABF6-AE0E36BAF64C}" type="slidenum">
              <a:rPr lang="en-US" smtClean="0"/>
              <a:pPr/>
              <a:t>3</a:t>
            </a:fld>
            <a:endParaRPr lang="en-US"/>
          </a:p>
        </p:txBody>
      </p:sp>
    </p:spTree>
    <p:extLst>
      <p:ext uri="{BB962C8B-B14F-4D97-AF65-F5344CB8AC3E}">
        <p14:creationId xmlns:p14="http://schemas.microsoft.com/office/powerpoint/2010/main" val="3452966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9781D0-0362-1849-9010-75820BAE6AF4}"/>
              </a:ext>
            </a:extLst>
          </p:cNvPr>
          <p:cNvSpPr>
            <a:spLocks noGrp="1"/>
          </p:cNvSpPr>
          <p:nvPr>
            <p:ph type="title"/>
          </p:nvPr>
        </p:nvSpPr>
        <p:spPr/>
        <p:txBody>
          <a:bodyPr/>
          <a:lstStyle/>
          <a:p>
            <a:r>
              <a:rPr lang="fr-FR" altLang="fr-FR" dirty="0">
                <a:ea typeface="ＭＳ Ｐゴシック" panose="020B0600070205080204" pitchFamily="34" charset="-128"/>
              </a:rPr>
              <a:t>Limites du modèle relationnel</a:t>
            </a:r>
            <a:endParaRPr lang="fr-FR" dirty="0"/>
          </a:p>
        </p:txBody>
      </p:sp>
      <p:sp>
        <p:nvSpPr>
          <p:cNvPr id="3" name="Espace réservé du contenu 2">
            <a:extLst>
              <a:ext uri="{FF2B5EF4-FFF2-40B4-BE49-F238E27FC236}">
                <a16:creationId xmlns:a16="http://schemas.microsoft.com/office/drawing/2014/main" id="{35DA0D3D-CB82-4A4F-9438-1322F3A817B3}"/>
              </a:ext>
            </a:extLst>
          </p:cNvPr>
          <p:cNvSpPr>
            <a:spLocks noGrp="1"/>
          </p:cNvSpPr>
          <p:nvPr>
            <p:ph idx="1"/>
          </p:nvPr>
        </p:nvSpPr>
        <p:spPr/>
        <p:txBody>
          <a:bodyPr>
            <a:normAutofit lnSpcReduction="10000"/>
          </a:bodyPr>
          <a:lstStyle/>
          <a:p>
            <a:r>
              <a:rPr lang="fr-FR" altLang="fr-FR" dirty="0">
                <a:ea typeface="ＭＳ Ｐゴシック" panose="020B0600070205080204" pitchFamily="34" charset="-128"/>
              </a:rPr>
              <a:t>Ce n’est pas forcément le langage SQL qui est en cause</a:t>
            </a:r>
          </a:p>
          <a:p>
            <a:r>
              <a:rPr lang="fr-FR" altLang="fr-FR" dirty="0">
                <a:ea typeface="ＭＳ Ｐゴシック" panose="020B0600070205080204" pitchFamily="34" charset="-128"/>
              </a:rPr>
              <a:t>Faiblesses du modèle relationnel :</a:t>
            </a:r>
          </a:p>
          <a:p>
            <a:pPr lvl="1"/>
            <a:r>
              <a:rPr lang="fr-FR" altLang="fr-FR" dirty="0">
                <a:ea typeface="ＭＳ Ｐゴシック" panose="020B0600070205080204" pitchFamily="34" charset="-128"/>
              </a:rPr>
              <a:t>Absence de gestion d’objets hétérogènes</a:t>
            </a:r>
          </a:p>
          <a:p>
            <a:pPr lvl="1"/>
            <a:r>
              <a:rPr lang="fr-FR" altLang="fr-FR" dirty="0">
                <a:ea typeface="ＭＳ Ｐゴシック" panose="020B0600070205080204" pitchFamily="34" charset="-128"/>
              </a:rPr>
              <a:t>Besoin de déclarer au préalable l’ensemble des champs représentant un objet.</a:t>
            </a:r>
          </a:p>
          <a:p>
            <a:pPr lvl="1"/>
            <a:r>
              <a:rPr lang="fr-FR" altLang="fr-FR" i="1" dirty="0">
                <a:ea typeface="ＭＳ Ｐゴシック" panose="020B0600070205080204" pitchFamily="34" charset="-128"/>
              </a:rPr>
              <a:t>=&gt; NoSQL permet l’utilisation d’objets hétérogènes apportant une plus grande flexibilité dans les modèles de données ainsi qu’une simplification de la modélisation</a:t>
            </a:r>
            <a:r>
              <a:rPr lang="fr-FR" altLang="fr-FR" dirty="0">
                <a:ea typeface="ＭＳ Ｐゴシック" panose="020B0600070205080204" pitchFamily="34" charset="-128"/>
              </a:rPr>
              <a:t>.</a:t>
            </a:r>
          </a:p>
          <a:p>
            <a:r>
              <a:rPr lang="fr-FR" altLang="fr-FR" dirty="0">
                <a:ea typeface="ＭＳ Ｐゴシック" panose="020B0600070205080204" pitchFamily="34" charset="-128"/>
              </a:rPr>
              <a:t>Coût important du modèle relationnel dans le contexte des systèmes distribués :</a:t>
            </a:r>
          </a:p>
          <a:p>
            <a:pPr lvl="1"/>
            <a:r>
              <a:rPr lang="fr-FR" altLang="fr-FR" dirty="0">
                <a:ea typeface="ＭＳ Ｐゴシック" panose="020B0600070205080204" pitchFamily="34" charset="-128"/>
              </a:rPr>
              <a:t>Nécessité de s’assurer en permanence que les données liées entre elles sont placées sur le même nœud du serveur. </a:t>
            </a:r>
          </a:p>
          <a:p>
            <a:pPr lvl="1"/>
            <a:r>
              <a:rPr lang="fr-FR" altLang="fr-FR" dirty="0">
                <a:ea typeface="ＭＳ Ｐゴシック" panose="020B0600070205080204" pitchFamily="34" charset="-128"/>
              </a:rPr>
              <a:t>Lorsque le nombre de relations au sein d’une base augmente, il devient de plus en plus difficile de placer les données sur des nœuds différents du système.</a:t>
            </a:r>
          </a:p>
        </p:txBody>
      </p:sp>
      <p:sp>
        <p:nvSpPr>
          <p:cNvPr id="4" name="Espace réservé du numéro de diapositive 3">
            <a:extLst>
              <a:ext uri="{FF2B5EF4-FFF2-40B4-BE49-F238E27FC236}">
                <a16:creationId xmlns:a16="http://schemas.microsoft.com/office/drawing/2014/main" id="{B3A71916-EB0D-4C4C-901E-D5FF083FF839}"/>
              </a:ext>
            </a:extLst>
          </p:cNvPr>
          <p:cNvSpPr>
            <a:spLocks noGrp="1"/>
          </p:cNvSpPr>
          <p:nvPr>
            <p:ph type="sldNum" sz="quarter" idx="12"/>
          </p:nvPr>
        </p:nvSpPr>
        <p:spPr/>
        <p:txBody>
          <a:bodyPr/>
          <a:lstStyle/>
          <a:p>
            <a:fld id="{0CFEC368-1D7A-4F81-ABF6-AE0E36BAF64C}" type="slidenum">
              <a:rPr lang="en-US" smtClean="0"/>
              <a:pPr/>
              <a:t>4</a:t>
            </a:fld>
            <a:endParaRPr lang="en-US"/>
          </a:p>
        </p:txBody>
      </p:sp>
    </p:spTree>
    <p:extLst>
      <p:ext uri="{BB962C8B-B14F-4D97-AF65-F5344CB8AC3E}">
        <p14:creationId xmlns:p14="http://schemas.microsoft.com/office/powerpoint/2010/main" val="475341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9D34CB-186C-FC48-BF4A-D209A47FFDA1}"/>
              </a:ext>
            </a:extLst>
          </p:cNvPr>
          <p:cNvSpPr>
            <a:spLocks noGrp="1"/>
          </p:cNvSpPr>
          <p:nvPr>
            <p:ph type="title"/>
          </p:nvPr>
        </p:nvSpPr>
        <p:spPr/>
        <p:txBody>
          <a:bodyPr/>
          <a:lstStyle/>
          <a:p>
            <a:r>
              <a:rPr lang="fr-FR" altLang="fr-FR" dirty="0">
                <a:ea typeface="ＭＳ Ｐゴシック" panose="020B0600070205080204" pitchFamily="34" charset="-128"/>
              </a:rPr>
              <a:t>Limites du modèle transactionnel</a:t>
            </a:r>
            <a:endParaRPr lang="fr-FR" dirty="0"/>
          </a:p>
        </p:txBody>
      </p:sp>
      <p:sp>
        <p:nvSpPr>
          <p:cNvPr id="3" name="Espace réservé du contenu 2">
            <a:extLst>
              <a:ext uri="{FF2B5EF4-FFF2-40B4-BE49-F238E27FC236}">
                <a16:creationId xmlns:a16="http://schemas.microsoft.com/office/drawing/2014/main" id="{4BB5CFC0-2228-4040-A09F-AC5B30A073AB}"/>
              </a:ext>
            </a:extLst>
          </p:cNvPr>
          <p:cNvSpPr>
            <a:spLocks noGrp="1"/>
          </p:cNvSpPr>
          <p:nvPr>
            <p:ph idx="1"/>
          </p:nvPr>
        </p:nvSpPr>
        <p:spPr/>
        <p:txBody>
          <a:bodyPr>
            <a:normAutofit fontScale="85000" lnSpcReduction="10000"/>
          </a:bodyPr>
          <a:lstStyle/>
          <a:p>
            <a:r>
              <a:rPr lang="fr-FR" dirty="0"/>
              <a:t>Respect des contraintes </a:t>
            </a:r>
            <a:r>
              <a:rPr lang="fr-FR" b="1" dirty="0"/>
              <a:t>ACID</a:t>
            </a:r>
            <a:r>
              <a:rPr lang="fr-FR" dirty="0"/>
              <a:t> :</a:t>
            </a:r>
          </a:p>
          <a:p>
            <a:pPr lvl="1"/>
            <a:r>
              <a:rPr lang="fr-FR" b="1" dirty="0"/>
              <a:t>A (</a:t>
            </a:r>
            <a:r>
              <a:rPr lang="fr-FR" b="1" dirty="0" err="1"/>
              <a:t>Atomicity</a:t>
            </a:r>
            <a:r>
              <a:rPr lang="fr-FR" b="1" dirty="0"/>
              <a:t>) : </a:t>
            </a:r>
            <a:r>
              <a:rPr lang="fr-FR" dirty="0"/>
              <a:t>les mises à jour de la base de données doivent être atomiques : elles doivent être totalement réalisées ou pas du tout. Par exemple, sur 5000 lignes devant être modifiées au sein d’une même transaction, si la modification d'une seule échoue, alors la transaction entière doit être annulée, afin d’éviter l’incohérence des données de la base.</a:t>
            </a:r>
          </a:p>
          <a:p>
            <a:pPr lvl="1"/>
            <a:r>
              <a:rPr lang="fr-FR" b="1" dirty="0"/>
              <a:t>C (</a:t>
            </a:r>
            <a:r>
              <a:rPr lang="fr-FR" b="1" dirty="0" err="1"/>
              <a:t>Consistency</a:t>
            </a:r>
            <a:r>
              <a:rPr lang="fr-FR" b="1" dirty="0"/>
              <a:t>) : </a:t>
            </a:r>
            <a:r>
              <a:rPr lang="fr-FR" dirty="0"/>
              <a:t>les modifications apportées à la base doivent être valides, en accord avec l'ensemble de la base et de ses contraintes d'intégrité.</a:t>
            </a:r>
          </a:p>
          <a:p>
            <a:pPr lvl="1"/>
            <a:r>
              <a:rPr lang="fr-FR" b="1" dirty="0"/>
              <a:t>I (Isolation) </a:t>
            </a:r>
            <a:r>
              <a:rPr lang="fr-FR" dirty="0"/>
              <a:t>: les transactions lancées au même moment ne doivent jamais interférer entre elles, ni même agir sur le fonctionnement de chacune. De fait, les transactions doivent s'enchaîner les unes à la suite des autres, et non de manière concurrentielle.</a:t>
            </a:r>
          </a:p>
          <a:p>
            <a:pPr lvl="1"/>
            <a:r>
              <a:rPr lang="fr-FR" b="1" dirty="0"/>
              <a:t>D (</a:t>
            </a:r>
            <a:r>
              <a:rPr lang="fr-FR" b="1" dirty="0" err="1"/>
              <a:t>Durability</a:t>
            </a:r>
            <a:r>
              <a:rPr lang="fr-FR" b="1" dirty="0"/>
              <a:t>) : </a:t>
            </a:r>
            <a:r>
              <a:rPr lang="fr-FR" dirty="0"/>
              <a:t>Toutes les transactions sont lancées de manière définitive. Une base ne doit pas afficher le succès d'une transaction, pour ensuite remettre les données modifiées dans leur état initial. Pour ce faire, toute transaction est sauvegardée dans un fichier journal, de sorte que si un problème survient empêchant sa validation complète, la transaction pourra être correctement terminée lors de la disponibilité du système.</a:t>
            </a:r>
          </a:p>
        </p:txBody>
      </p:sp>
      <p:sp>
        <p:nvSpPr>
          <p:cNvPr id="4" name="Espace réservé du numéro de diapositive 3">
            <a:extLst>
              <a:ext uri="{FF2B5EF4-FFF2-40B4-BE49-F238E27FC236}">
                <a16:creationId xmlns:a16="http://schemas.microsoft.com/office/drawing/2014/main" id="{A7B533DF-FE9D-ED47-915A-C10C5F7137A8}"/>
              </a:ext>
            </a:extLst>
          </p:cNvPr>
          <p:cNvSpPr>
            <a:spLocks noGrp="1"/>
          </p:cNvSpPr>
          <p:nvPr>
            <p:ph type="sldNum" sz="quarter" idx="12"/>
          </p:nvPr>
        </p:nvSpPr>
        <p:spPr/>
        <p:txBody>
          <a:bodyPr/>
          <a:lstStyle/>
          <a:p>
            <a:fld id="{0CFEC368-1D7A-4F81-ABF6-AE0E36BAF64C}" type="slidenum">
              <a:rPr lang="en-US" smtClean="0"/>
              <a:pPr/>
              <a:t>5</a:t>
            </a:fld>
            <a:endParaRPr lang="en-US"/>
          </a:p>
        </p:txBody>
      </p:sp>
    </p:spTree>
    <p:extLst>
      <p:ext uri="{BB962C8B-B14F-4D97-AF65-F5344CB8AC3E}">
        <p14:creationId xmlns:p14="http://schemas.microsoft.com/office/powerpoint/2010/main" val="1712565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9D34CB-186C-FC48-BF4A-D209A47FFDA1}"/>
              </a:ext>
            </a:extLst>
          </p:cNvPr>
          <p:cNvSpPr>
            <a:spLocks noGrp="1"/>
          </p:cNvSpPr>
          <p:nvPr>
            <p:ph type="title"/>
          </p:nvPr>
        </p:nvSpPr>
        <p:spPr/>
        <p:txBody>
          <a:bodyPr/>
          <a:lstStyle/>
          <a:p>
            <a:r>
              <a:rPr lang="fr-FR" altLang="fr-FR" dirty="0">
                <a:ea typeface="ＭＳ Ｐゴシック" panose="020B0600070205080204" pitchFamily="34" charset="-128"/>
              </a:rPr>
              <a:t>Modèle transactionnel</a:t>
            </a:r>
            <a:endParaRPr lang="fr-FR" dirty="0"/>
          </a:p>
        </p:txBody>
      </p:sp>
      <p:sp>
        <p:nvSpPr>
          <p:cNvPr id="3" name="Espace réservé du contenu 2">
            <a:extLst>
              <a:ext uri="{FF2B5EF4-FFF2-40B4-BE49-F238E27FC236}">
                <a16:creationId xmlns:a16="http://schemas.microsoft.com/office/drawing/2014/main" id="{4BB5CFC0-2228-4040-A09F-AC5B30A073AB}"/>
              </a:ext>
            </a:extLst>
          </p:cNvPr>
          <p:cNvSpPr>
            <a:spLocks noGrp="1"/>
          </p:cNvSpPr>
          <p:nvPr>
            <p:ph idx="1"/>
          </p:nvPr>
        </p:nvSpPr>
        <p:spPr/>
        <p:txBody>
          <a:bodyPr>
            <a:normAutofit fontScale="92500" lnSpcReduction="10000"/>
          </a:bodyPr>
          <a:lstStyle/>
          <a:p>
            <a:r>
              <a:rPr lang="fr-FR" dirty="0"/>
              <a:t>Dans un contexte centralisé, les contraintes transactionnelles ACID sont aisées à garantir. </a:t>
            </a:r>
          </a:p>
          <a:p>
            <a:r>
              <a:rPr lang="fr-FR" dirty="0"/>
              <a:t>Dans les SGBD NoSQL, les traitements de données sont distribués entre différents serveurs. </a:t>
            </a:r>
          </a:p>
          <a:p>
            <a:pPr lvl="1"/>
            <a:r>
              <a:rPr lang="fr-FR" dirty="0"/>
              <a:t>=&gt; difficile de maintenir les contraintes transactionnelles (ACID) à l’échelle du système distribué entier tout en maintenant des performances correctes.</a:t>
            </a:r>
          </a:p>
          <a:p>
            <a:pPr lvl="1"/>
            <a:r>
              <a:rPr lang="fr-FR" dirty="0"/>
              <a:t>Impacts :</a:t>
            </a:r>
          </a:p>
          <a:p>
            <a:pPr lvl="2"/>
            <a:r>
              <a:rPr lang="fr-FR" dirty="0"/>
              <a:t>Les </a:t>
            </a:r>
            <a:r>
              <a:rPr lang="fr-FR" dirty="0" err="1"/>
              <a:t>MaJ</a:t>
            </a:r>
            <a:r>
              <a:rPr lang="fr-FR" dirty="0"/>
              <a:t> (insert, update, </a:t>
            </a:r>
            <a:r>
              <a:rPr lang="fr-FR" dirty="0" err="1"/>
              <a:t>delete</a:t>
            </a:r>
            <a:r>
              <a:rPr lang="fr-FR" dirty="0"/>
              <a:t>) ne sont pas forcément exécutées sur tous les nœuds (serveurs) ou il peut y avoir un temps de latence important dans l’exécution des </a:t>
            </a:r>
            <a:r>
              <a:rPr lang="fr-FR" dirty="0" err="1"/>
              <a:t>MaJ.</a:t>
            </a:r>
            <a:endParaRPr lang="fr-FR" dirty="0"/>
          </a:p>
          <a:p>
            <a:pPr lvl="2"/>
            <a:r>
              <a:rPr lang="fr-FR" dirty="0"/>
              <a:t>Pas de gestion de l’intégrité des données (intégrité référentielle, contrainte de validation, etc.). Ce sera au développeur de s’assurer de l’intégrité des données.</a:t>
            </a:r>
          </a:p>
          <a:p>
            <a:r>
              <a:rPr lang="fr-FR" b="1" dirty="0"/>
              <a:t>=&gt; La plupart des SGBD NoSQL ne sont pas capables de gérer les données vitales des entreprises (payes, données clients, etc.)</a:t>
            </a:r>
          </a:p>
        </p:txBody>
      </p:sp>
      <p:sp>
        <p:nvSpPr>
          <p:cNvPr id="4" name="Espace réservé du numéro de diapositive 3">
            <a:extLst>
              <a:ext uri="{FF2B5EF4-FFF2-40B4-BE49-F238E27FC236}">
                <a16:creationId xmlns:a16="http://schemas.microsoft.com/office/drawing/2014/main" id="{A7B533DF-FE9D-ED47-915A-C10C5F7137A8}"/>
              </a:ext>
            </a:extLst>
          </p:cNvPr>
          <p:cNvSpPr>
            <a:spLocks noGrp="1"/>
          </p:cNvSpPr>
          <p:nvPr>
            <p:ph type="sldNum" sz="quarter" idx="12"/>
          </p:nvPr>
        </p:nvSpPr>
        <p:spPr/>
        <p:txBody>
          <a:bodyPr/>
          <a:lstStyle/>
          <a:p>
            <a:fld id="{0CFEC368-1D7A-4F81-ABF6-AE0E36BAF64C}" type="slidenum">
              <a:rPr lang="en-US" smtClean="0"/>
              <a:pPr/>
              <a:t>6</a:t>
            </a:fld>
            <a:endParaRPr lang="en-US"/>
          </a:p>
        </p:txBody>
      </p:sp>
    </p:spTree>
    <p:extLst>
      <p:ext uri="{BB962C8B-B14F-4D97-AF65-F5344CB8AC3E}">
        <p14:creationId xmlns:p14="http://schemas.microsoft.com/office/powerpoint/2010/main" val="1901352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9D34CB-186C-FC48-BF4A-D209A47FFDA1}"/>
              </a:ext>
            </a:extLst>
          </p:cNvPr>
          <p:cNvSpPr>
            <a:spLocks noGrp="1"/>
          </p:cNvSpPr>
          <p:nvPr>
            <p:ph type="title"/>
          </p:nvPr>
        </p:nvSpPr>
        <p:spPr/>
        <p:txBody>
          <a:bodyPr/>
          <a:lstStyle/>
          <a:p>
            <a:r>
              <a:rPr lang="fr-FR" altLang="fr-FR" dirty="0">
                <a:ea typeface="ＭＳ Ｐゴシック" panose="020B0600070205080204" pitchFamily="34" charset="-128"/>
              </a:rPr>
              <a:t>Propriétés des systèmes distribués</a:t>
            </a:r>
            <a:endParaRPr lang="fr-FR" dirty="0"/>
          </a:p>
        </p:txBody>
      </p:sp>
      <p:sp>
        <p:nvSpPr>
          <p:cNvPr id="3" name="Espace réservé du contenu 2">
            <a:extLst>
              <a:ext uri="{FF2B5EF4-FFF2-40B4-BE49-F238E27FC236}">
                <a16:creationId xmlns:a16="http://schemas.microsoft.com/office/drawing/2014/main" id="{4BB5CFC0-2228-4040-A09F-AC5B30A073AB}"/>
              </a:ext>
            </a:extLst>
          </p:cNvPr>
          <p:cNvSpPr>
            <a:spLocks noGrp="1"/>
          </p:cNvSpPr>
          <p:nvPr>
            <p:ph idx="1"/>
          </p:nvPr>
        </p:nvSpPr>
        <p:spPr/>
        <p:txBody>
          <a:bodyPr>
            <a:normAutofit/>
          </a:bodyPr>
          <a:lstStyle/>
          <a:p>
            <a:r>
              <a:rPr lang="fr-FR" dirty="0"/>
              <a:t>Théorème CAP (</a:t>
            </a:r>
            <a:r>
              <a:rPr lang="fr-FR" dirty="0" err="1"/>
              <a:t>Consistency</a:t>
            </a:r>
            <a:r>
              <a:rPr lang="fr-FR" dirty="0"/>
              <a:t>­ - </a:t>
            </a:r>
            <a:r>
              <a:rPr lang="fr-FR" dirty="0" err="1"/>
              <a:t>Availibility</a:t>
            </a:r>
            <a:r>
              <a:rPr lang="fr-FR" dirty="0"/>
              <a:t>­ - Partition </a:t>
            </a:r>
            <a:r>
              <a:rPr lang="fr-FR" dirty="0" err="1"/>
              <a:t>tolerance</a:t>
            </a:r>
            <a:r>
              <a:rPr lang="fr-FR" dirty="0"/>
              <a:t>) (ou Théorème de </a:t>
            </a:r>
            <a:r>
              <a:rPr lang="fr-FR" dirty="0" err="1"/>
              <a:t>Brewer</a:t>
            </a:r>
            <a:r>
              <a:rPr lang="fr-FR" dirty="0"/>
              <a:t>, 2000) :</a:t>
            </a:r>
          </a:p>
          <a:p>
            <a:pPr lvl="1"/>
            <a:r>
              <a:rPr lang="fr-FR" dirty="0"/>
              <a:t>C (</a:t>
            </a:r>
            <a:r>
              <a:rPr lang="fr-FR" i="1" dirty="0" err="1"/>
              <a:t>Coherence</a:t>
            </a:r>
            <a:r>
              <a:rPr lang="fr-FR" dirty="0"/>
              <a:t>) : tous les nœuds du système voient exactement les mêmes données au même moment</a:t>
            </a:r>
          </a:p>
          <a:p>
            <a:pPr lvl="1"/>
            <a:r>
              <a:rPr lang="fr-FR" dirty="0"/>
              <a:t>A (</a:t>
            </a:r>
            <a:r>
              <a:rPr lang="fr-FR" i="1" dirty="0" err="1"/>
              <a:t>Availability</a:t>
            </a:r>
            <a:r>
              <a:rPr lang="fr-FR" dirty="0"/>
              <a:t>) : la perte de nœuds n’empêche pas les survivants de continuer à fonctionner correctement</a:t>
            </a:r>
          </a:p>
          <a:p>
            <a:pPr lvl="1"/>
            <a:r>
              <a:rPr lang="fr-FR" dirty="0"/>
              <a:t>P (</a:t>
            </a:r>
            <a:r>
              <a:rPr lang="fr-FR" i="1" dirty="0"/>
              <a:t>Partition </a:t>
            </a:r>
            <a:r>
              <a:rPr lang="fr-FR" i="1" dirty="0" err="1"/>
              <a:t>tolerance</a:t>
            </a:r>
            <a:r>
              <a:rPr lang="fr-FR" dirty="0"/>
              <a:t>) = Résistance au partitionnement =&gt; aucune panne moins importante qu'une coupure totale du réseau ne doit empêcher le système de répondre correctement</a:t>
            </a:r>
          </a:p>
          <a:p>
            <a:r>
              <a:rPr lang="fr-FR" dirty="0"/>
              <a:t>CAP stipule qu’il est impossible d’obtenir ces trois propriétés en même temps dans un système distribué et qu'il faut donc en choisir deux parmi les trois.</a:t>
            </a:r>
          </a:p>
          <a:p>
            <a:r>
              <a:rPr lang="fr-FR" sz="1400" i="1" dirty="0"/>
              <a:t>Plus de détails sur Théorème CAP : </a:t>
            </a:r>
            <a:r>
              <a:rPr lang="fr-FR" sz="1400" i="1" dirty="0">
                <a:hlinkClick r:id="rId2"/>
              </a:rPr>
              <a:t>https://datascientest.com/theoreme-cap</a:t>
            </a:r>
            <a:r>
              <a:rPr lang="fr-FR" sz="1400" i="1" dirty="0"/>
              <a:t>, </a:t>
            </a:r>
            <a:r>
              <a:rPr lang="fr-FR" sz="1400" i="1" dirty="0">
                <a:hlinkClick r:id="rId3"/>
              </a:rPr>
              <a:t>https://openclassrooms.com/fr/courses/4462426-maitrisez-les-bases-de-donnees-nosql/4462471-maitrisez-le-theoreme-de-cap</a:t>
            </a:r>
            <a:r>
              <a:rPr lang="fr-FR" sz="1400" i="1" dirty="0"/>
              <a:t> </a:t>
            </a:r>
          </a:p>
        </p:txBody>
      </p:sp>
      <p:sp>
        <p:nvSpPr>
          <p:cNvPr id="4" name="Espace réservé du numéro de diapositive 3">
            <a:extLst>
              <a:ext uri="{FF2B5EF4-FFF2-40B4-BE49-F238E27FC236}">
                <a16:creationId xmlns:a16="http://schemas.microsoft.com/office/drawing/2014/main" id="{A7B533DF-FE9D-ED47-915A-C10C5F7137A8}"/>
              </a:ext>
            </a:extLst>
          </p:cNvPr>
          <p:cNvSpPr>
            <a:spLocks noGrp="1"/>
          </p:cNvSpPr>
          <p:nvPr>
            <p:ph type="sldNum" sz="quarter" idx="12"/>
          </p:nvPr>
        </p:nvSpPr>
        <p:spPr/>
        <p:txBody>
          <a:bodyPr/>
          <a:lstStyle/>
          <a:p>
            <a:fld id="{0CFEC368-1D7A-4F81-ABF6-AE0E36BAF64C}" type="slidenum">
              <a:rPr lang="en-US" smtClean="0"/>
              <a:pPr/>
              <a:t>7</a:t>
            </a:fld>
            <a:endParaRPr lang="en-US"/>
          </a:p>
        </p:txBody>
      </p:sp>
    </p:spTree>
    <p:extLst>
      <p:ext uri="{BB962C8B-B14F-4D97-AF65-F5344CB8AC3E}">
        <p14:creationId xmlns:p14="http://schemas.microsoft.com/office/powerpoint/2010/main" val="1879674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9D34CB-186C-FC48-BF4A-D209A47FFDA1}"/>
              </a:ext>
            </a:extLst>
          </p:cNvPr>
          <p:cNvSpPr>
            <a:spLocks noGrp="1"/>
          </p:cNvSpPr>
          <p:nvPr>
            <p:ph type="title"/>
          </p:nvPr>
        </p:nvSpPr>
        <p:spPr/>
        <p:txBody>
          <a:bodyPr/>
          <a:lstStyle/>
          <a:p>
            <a:r>
              <a:rPr lang="fr-FR" dirty="0"/>
              <a:t>Théorème CAP</a:t>
            </a:r>
          </a:p>
        </p:txBody>
      </p:sp>
      <p:sp>
        <p:nvSpPr>
          <p:cNvPr id="4" name="Espace réservé du numéro de diapositive 3">
            <a:extLst>
              <a:ext uri="{FF2B5EF4-FFF2-40B4-BE49-F238E27FC236}">
                <a16:creationId xmlns:a16="http://schemas.microsoft.com/office/drawing/2014/main" id="{A7B533DF-FE9D-ED47-915A-C10C5F7137A8}"/>
              </a:ext>
            </a:extLst>
          </p:cNvPr>
          <p:cNvSpPr>
            <a:spLocks noGrp="1"/>
          </p:cNvSpPr>
          <p:nvPr>
            <p:ph type="sldNum" sz="quarter" idx="12"/>
          </p:nvPr>
        </p:nvSpPr>
        <p:spPr/>
        <p:txBody>
          <a:bodyPr/>
          <a:lstStyle/>
          <a:p>
            <a:fld id="{0CFEC368-1D7A-4F81-ABF6-AE0E36BAF64C}" type="slidenum">
              <a:rPr lang="en-US" smtClean="0"/>
              <a:pPr/>
              <a:t>8</a:t>
            </a:fld>
            <a:endParaRPr lang="en-US"/>
          </a:p>
        </p:txBody>
      </p:sp>
      <p:pic>
        <p:nvPicPr>
          <p:cNvPr id="5" name="Image 2" descr="CAP.tiff">
            <a:extLst>
              <a:ext uri="{FF2B5EF4-FFF2-40B4-BE49-F238E27FC236}">
                <a16:creationId xmlns:a16="http://schemas.microsoft.com/office/drawing/2014/main" id="{0B9E7820-5E1B-D340-A472-2C4578B2D4D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62580" y="1098794"/>
            <a:ext cx="5564188" cy="5219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ZoneTexte 2">
            <a:extLst>
              <a:ext uri="{FF2B5EF4-FFF2-40B4-BE49-F238E27FC236}">
                <a16:creationId xmlns:a16="http://schemas.microsoft.com/office/drawing/2014/main" id="{F90F8544-422A-364F-8C16-0CDFF16A9B9B}"/>
              </a:ext>
            </a:extLst>
          </p:cNvPr>
          <p:cNvSpPr txBox="1"/>
          <p:nvPr/>
        </p:nvSpPr>
        <p:spPr>
          <a:xfrm>
            <a:off x="511852" y="2828835"/>
            <a:ext cx="2743200" cy="1200329"/>
          </a:xfrm>
          <a:prstGeom prst="rect">
            <a:avLst/>
          </a:prstGeom>
          <a:noFill/>
        </p:spPr>
        <p:txBody>
          <a:bodyPr wrap="square" rtlCol="0">
            <a:spAutoFit/>
          </a:bodyPr>
          <a:lstStyle/>
          <a:p>
            <a:r>
              <a:rPr lang="fr-FR" i="1" dirty="0">
                <a:solidFill>
                  <a:srgbClr val="00B050"/>
                </a:solidFill>
              </a:rPr>
              <a:t>SGBD relationnels : PostgreSQL</a:t>
            </a:r>
          </a:p>
          <a:p>
            <a:r>
              <a:rPr lang="fr-FR" i="1" dirty="0">
                <a:solidFill>
                  <a:srgbClr val="00B050"/>
                </a:solidFill>
              </a:rPr>
              <a:t>Oracle, MySQL, SQL Server, IBM DB2, etc.</a:t>
            </a:r>
          </a:p>
        </p:txBody>
      </p:sp>
      <p:sp>
        <p:nvSpPr>
          <p:cNvPr id="6" name="ZoneTexte 5">
            <a:extLst>
              <a:ext uri="{FF2B5EF4-FFF2-40B4-BE49-F238E27FC236}">
                <a16:creationId xmlns:a16="http://schemas.microsoft.com/office/drawing/2014/main" id="{AC6ED99C-A5EF-054E-B569-78BD426B65D2}"/>
              </a:ext>
            </a:extLst>
          </p:cNvPr>
          <p:cNvSpPr txBox="1"/>
          <p:nvPr/>
        </p:nvSpPr>
        <p:spPr>
          <a:xfrm>
            <a:off x="3845206" y="5597623"/>
            <a:ext cx="1453588" cy="646331"/>
          </a:xfrm>
          <a:prstGeom prst="rect">
            <a:avLst/>
          </a:prstGeom>
          <a:noFill/>
        </p:spPr>
        <p:txBody>
          <a:bodyPr wrap="square" rtlCol="0">
            <a:spAutoFit/>
          </a:bodyPr>
          <a:lstStyle/>
          <a:p>
            <a:pPr algn="ctr"/>
            <a:r>
              <a:rPr lang="fr-FR" i="1" dirty="0">
                <a:solidFill>
                  <a:srgbClr val="FF0000"/>
                </a:solidFill>
              </a:rPr>
              <a:t>SGBD </a:t>
            </a:r>
            <a:r>
              <a:rPr lang="fr-FR" i="1" dirty="0" err="1">
                <a:solidFill>
                  <a:srgbClr val="FF0000"/>
                </a:solidFill>
              </a:rPr>
              <a:t>NoSQL</a:t>
            </a:r>
            <a:endParaRPr lang="fr-FR" i="1" dirty="0">
              <a:solidFill>
                <a:srgbClr val="FF0000"/>
              </a:solidFill>
            </a:endParaRPr>
          </a:p>
        </p:txBody>
      </p:sp>
      <p:sp>
        <p:nvSpPr>
          <p:cNvPr id="7" name="ZoneTexte 6">
            <a:extLst>
              <a:ext uri="{FF2B5EF4-FFF2-40B4-BE49-F238E27FC236}">
                <a16:creationId xmlns:a16="http://schemas.microsoft.com/office/drawing/2014/main" id="{0F2E5381-EF64-924B-B041-4062F555C9FF}"/>
              </a:ext>
            </a:extLst>
          </p:cNvPr>
          <p:cNvSpPr txBox="1"/>
          <p:nvPr/>
        </p:nvSpPr>
        <p:spPr>
          <a:xfrm>
            <a:off x="6411007" y="3244333"/>
            <a:ext cx="2221141" cy="369332"/>
          </a:xfrm>
          <a:prstGeom prst="rect">
            <a:avLst/>
          </a:prstGeom>
          <a:noFill/>
        </p:spPr>
        <p:txBody>
          <a:bodyPr wrap="square" rtlCol="0">
            <a:spAutoFit/>
          </a:bodyPr>
          <a:lstStyle/>
          <a:p>
            <a:r>
              <a:rPr lang="fr-FR" i="1" dirty="0">
                <a:solidFill>
                  <a:srgbClr val="FF0000"/>
                </a:solidFill>
              </a:rPr>
              <a:t>SGBD </a:t>
            </a:r>
            <a:r>
              <a:rPr lang="fr-FR" i="1" dirty="0" err="1">
                <a:solidFill>
                  <a:srgbClr val="FF0000"/>
                </a:solidFill>
              </a:rPr>
              <a:t>NoSQL</a:t>
            </a:r>
            <a:endParaRPr lang="fr-FR" i="1" dirty="0">
              <a:solidFill>
                <a:srgbClr val="FF0000"/>
              </a:solidFill>
            </a:endParaRPr>
          </a:p>
        </p:txBody>
      </p:sp>
    </p:spTree>
    <p:extLst>
      <p:ext uri="{BB962C8B-B14F-4D97-AF65-F5344CB8AC3E}">
        <p14:creationId xmlns:p14="http://schemas.microsoft.com/office/powerpoint/2010/main" val="1036083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9D34CB-186C-FC48-BF4A-D209A47FFDA1}"/>
              </a:ext>
            </a:extLst>
          </p:cNvPr>
          <p:cNvSpPr>
            <a:spLocks noGrp="1"/>
          </p:cNvSpPr>
          <p:nvPr>
            <p:ph type="title"/>
          </p:nvPr>
        </p:nvSpPr>
        <p:spPr/>
        <p:txBody>
          <a:bodyPr/>
          <a:lstStyle/>
          <a:p>
            <a:r>
              <a:rPr lang="fr-FR" dirty="0"/>
              <a:t>Théorème CAP</a:t>
            </a:r>
          </a:p>
        </p:txBody>
      </p:sp>
      <p:sp>
        <p:nvSpPr>
          <p:cNvPr id="3" name="Espace réservé du contenu 2">
            <a:extLst>
              <a:ext uri="{FF2B5EF4-FFF2-40B4-BE49-F238E27FC236}">
                <a16:creationId xmlns:a16="http://schemas.microsoft.com/office/drawing/2014/main" id="{4BB5CFC0-2228-4040-A09F-AC5B30A073AB}"/>
              </a:ext>
            </a:extLst>
          </p:cNvPr>
          <p:cNvSpPr>
            <a:spLocks noGrp="1"/>
          </p:cNvSpPr>
          <p:nvPr>
            <p:ph idx="1"/>
          </p:nvPr>
        </p:nvSpPr>
        <p:spPr/>
        <p:txBody>
          <a:bodyPr>
            <a:normAutofit/>
          </a:bodyPr>
          <a:lstStyle/>
          <a:p>
            <a:r>
              <a:rPr lang="fr-FR" dirty="0"/>
              <a:t>Remarques :</a:t>
            </a:r>
          </a:p>
          <a:p>
            <a:pPr lvl="1"/>
            <a:r>
              <a:rPr lang="fr-FR" dirty="0"/>
              <a:t>Le triangle CAP permet de sélectionner le SGBD adapté à vos besoins en termes de fonctionnalité, de calculs et de cohérence. </a:t>
            </a:r>
          </a:p>
          <a:p>
            <a:pPr lvl="1"/>
            <a:r>
              <a:rPr lang="fr-FR" dirty="0"/>
              <a:t>Les SGBD relationnelles se retrouvent sur la face AC du triangle, combinant disponibilité et cohérence.</a:t>
            </a:r>
          </a:p>
          <a:p>
            <a:pPr lvl="1"/>
            <a:r>
              <a:rPr lang="fr-FR" dirty="0"/>
              <a:t>La majorité des solutions </a:t>
            </a:r>
            <a:r>
              <a:rPr lang="fr-FR" dirty="0" err="1"/>
              <a:t>NoSQL</a:t>
            </a:r>
            <a:r>
              <a:rPr lang="fr-FR" dirty="0"/>
              <a:t> sont de type AP (disponibilité et distribution). En effet, la plupart cherchent les performances en relâchant volontairement la cohérence.</a:t>
            </a:r>
          </a:p>
          <a:p>
            <a:pPr lvl="1"/>
            <a:r>
              <a:rPr lang="fr-FR" dirty="0"/>
              <a:t>Certains SGBD </a:t>
            </a:r>
            <a:r>
              <a:rPr lang="fr-FR" dirty="0" err="1"/>
              <a:t>NoSQL</a:t>
            </a:r>
            <a:r>
              <a:rPr lang="fr-FR" dirty="0"/>
              <a:t> proposent également de modifier la politique de gestion de la concurrence. Dans ce cas, ils changent simplement de face sur ce triangle en passant de CP à AP ou inversement.</a:t>
            </a:r>
          </a:p>
          <a:p>
            <a:pPr lvl="1"/>
            <a:endParaRPr lang="fr-FR" sz="1000" i="1" dirty="0"/>
          </a:p>
        </p:txBody>
      </p:sp>
      <p:sp>
        <p:nvSpPr>
          <p:cNvPr id="4" name="Espace réservé du numéro de diapositive 3">
            <a:extLst>
              <a:ext uri="{FF2B5EF4-FFF2-40B4-BE49-F238E27FC236}">
                <a16:creationId xmlns:a16="http://schemas.microsoft.com/office/drawing/2014/main" id="{A7B533DF-FE9D-ED47-915A-C10C5F7137A8}"/>
              </a:ext>
            </a:extLst>
          </p:cNvPr>
          <p:cNvSpPr>
            <a:spLocks noGrp="1"/>
          </p:cNvSpPr>
          <p:nvPr>
            <p:ph type="sldNum" sz="quarter" idx="12"/>
          </p:nvPr>
        </p:nvSpPr>
        <p:spPr/>
        <p:txBody>
          <a:bodyPr/>
          <a:lstStyle/>
          <a:p>
            <a:fld id="{0CFEC368-1D7A-4F81-ABF6-AE0E36BAF64C}" type="slidenum">
              <a:rPr lang="en-US" smtClean="0"/>
              <a:pPr/>
              <a:t>9</a:t>
            </a:fld>
            <a:endParaRPr lang="en-US"/>
          </a:p>
        </p:txBody>
      </p:sp>
    </p:spTree>
    <p:extLst>
      <p:ext uri="{BB962C8B-B14F-4D97-AF65-F5344CB8AC3E}">
        <p14:creationId xmlns:p14="http://schemas.microsoft.com/office/powerpoint/2010/main" val="3091245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9D34CB-186C-FC48-BF4A-D209A47FFDA1}"/>
              </a:ext>
            </a:extLst>
          </p:cNvPr>
          <p:cNvSpPr>
            <a:spLocks noGrp="1"/>
          </p:cNvSpPr>
          <p:nvPr>
            <p:ph type="title"/>
          </p:nvPr>
        </p:nvSpPr>
        <p:spPr/>
        <p:txBody>
          <a:bodyPr/>
          <a:lstStyle/>
          <a:p>
            <a:r>
              <a:rPr lang="fr-FR" altLang="fr-FR" dirty="0">
                <a:ea typeface="ＭＳ Ｐゴシック" panose="020B0600070205080204" pitchFamily="34" charset="-128"/>
              </a:rPr>
              <a:t>Types de base </a:t>
            </a:r>
            <a:r>
              <a:rPr lang="fr-FR" altLang="fr-FR" dirty="0" err="1">
                <a:ea typeface="ＭＳ Ｐゴシック" panose="020B0600070205080204" pitchFamily="34" charset="-128"/>
              </a:rPr>
              <a:t>NoSQL</a:t>
            </a:r>
            <a:endParaRPr lang="fr-FR" dirty="0"/>
          </a:p>
        </p:txBody>
      </p:sp>
      <p:sp>
        <p:nvSpPr>
          <p:cNvPr id="3" name="Espace réservé du contenu 2">
            <a:extLst>
              <a:ext uri="{FF2B5EF4-FFF2-40B4-BE49-F238E27FC236}">
                <a16:creationId xmlns:a16="http://schemas.microsoft.com/office/drawing/2014/main" id="{4BB5CFC0-2228-4040-A09F-AC5B30A073AB}"/>
              </a:ext>
            </a:extLst>
          </p:cNvPr>
          <p:cNvSpPr>
            <a:spLocks noGrp="1"/>
          </p:cNvSpPr>
          <p:nvPr>
            <p:ph idx="1"/>
          </p:nvPr>
        </p:nvSpPr>
        <p:spPr>
          <a:xfrm>
            <a:off x="457200" y="1387233"/>
            <a:ext cx="8229600" cy="5296595"/>
          </a:xfrm>
        </p:spPr>
        <p:txBody>
          <a:bodyPr>
            <a:normAutofit fontScale="77500" lnSpcReduction="20000"/>
          </a:bodyPr>
          <a:lstStyle/>
          <a:p>
            <a:r>
              <a:rPr lang="fr-FR" dirty="0" err="1"/>
              <a:t>NoSQL</a:t>
            </a:r>
            <a:r>
              <a:rPr lang="fr-FR" dirty="0"/>
              <a:t> != 1 approche unique en mesure d’apporter une solution unique au problème de gestion de grandes masses de données dans un contexte distribué</a:t>
            </a:r>
          </a:p>
          <a:p>
            <a:r>
              <a:rPr lang="fr-FR" dirty="0"/>
              <a:t>4 grandes catégories d’outils + 1 « fourre-tout » :</a:t>
            </a:r>
          </a:p>
          <a:p>
            <a:pPr lvl="1"/>
            <a:r>
              <a:rPr lang="fr-FR" dirty="0"/>
              <a:t>Paradigme clé/valeur (</a:t>
            </a:r>
            <a:r>
              <a:rPr lang="fr-FR" i="1" dirty="0"/>
              <a:t>key-value store</a:t>
            </a:r>
            <a:r>
              <a:rPr lang="fr-FR" dirty="0"/>
              <a:t>)</a:t>
            </a:r>
          </a:p>
          <a:p>
            <a:pPr lvl="1"/>
            <a:r>
              <a:rPr lang="fr-FR" dirty="0"/>
              <a:t>Bases documentaires (</a:t>
            </a:r>
            <a:r>
              <a:rPr lang="fr-FR" i="1" dirty="0"/>
              <a:t>document store</a:t>
            </a:r>
            <a:r>
              <a:rPr lang="fr-FR" dirty="0"/>
              <a:t>)</a:t>
            </a:r>
          </a:p>
          <a:p>
            <a:pPr lvl="1"/>
            <a:r>
              <a:rPr lang="fr-FR" dirty="0"/>
              <a:t>Bases orientées colonnes </a:t>
            </a:r>
            <a:r>
              <a:rPr lang="fr-FR" i="1" dirty="0"/>
              <a:t>(</a:t>
            </a:r>
            <a:r>
              <a:rPr lang="fr-FR" i="1" dirty="0" err="1"/>
              <a:t>wide-column</a:t>
            </a:r>
            <a:r>
              <a:rPr lang="fr-FR" i="1" dirty="0"/>
              <a:t> store)</a:t>
            </a:r>
          </a:p>
          <a:p>
            <a:pPr lvl="1"/>
            <a:r>
              <a:rPr lang="fr-FR" dirty="0"/>
              <a:t>Bases orientées graphes </a:t>
            </a:r>
            <a:r>
              <a:rPr lang="fr-FR" i="1" dirty="0"/>
              <a:t>(graph DBMS)</a:t>
            </a:r>
          </a:p>
          <a:p>
            <a:pPr lvl="1"/>
            <a:r>
              <a:rPr lang="fr-FR" dirty="0"/>
              <a:t>Autre (« fourre-tout ») : </a:t>
            </a:r>
            <a:r>
              <a:rPr lang="fr-FR" dirty="0" err="1"/>
              <a:t>Search</a:t>
            </a:r>
            <a:r>
              <a:rPr lang="fr-FR" dirty="0"/>
              <a:t> engines, Time </a:t>
            </a:r>
            <a:r>
              <a:rPr lang="fr-FR" dirty="0" err="1"/>
              <a:t>series</a:t>
            </a:r>
            <a:r>
              <a:rPr lang="fr-FR" dirty="0"/>
              <a:t> DB (BD de séries chronologiques), etc.</a:t>
            </a:r>
          </a:p>
          <a:p>
            <a:r>
              <a:rPr lang="fr-FR" dirty="0"/>
              <a:t>Environ 200 outils existent aujourd’hui </a:t>
            </a:r>
            <a:r>
              <a:rPr lang="fr-FR" sz="1700" dirty="0"/>
              <a:t>(</a:t>
            </a:r>
            <a:r>
              <a:rPr lang="fr-FR" sz="1700" dirty="0">
                <a:hlinkClick r:id="rId2"/>
              </a:rPr>
              <a:t>https://db-engines.com/en/ranking</a:t>
            </a:r>
            <a:r>
              <a:rPr lang="fr-FR" sz="1700" dirty="0"/>
              <a:t>).</a:t>
            </a:r>
            <a:r>
              <a:rPr lang="fr-FR" dirty="0"/>
              <a:t> </a:t>
            </a:r>
          </a:p>
          <a:p>
            <a:r>
              <a:rPr lang="fr-FR" dirty="0"/>
              <a:t>Chaque implémentation à tendance à avoir son ensemble particulier de caractéristiques techniques et de comportement.</a:t>
            </a:r>
          </a:p>
          <a:p>
            <a:r>
              <a:rPr lang="fr-FR" dirty="0"/>
              <a:t>Certains SGBD </a:t>
            </a:r>
            <a:r>
              <a:rPr lang="fr-FR" dirty="0" err="1"/>
              <a:t>NoSQL</a:t>
            </a:r>
            <a:r>
              <a:rPr lang="fr-FR" dirty="0"/>
              <a:t> sont multi-paradigmes : Amazon </a:t>
            </a:r>
            <a:r>
              <a:rPr lang="fr-FR" dirty="0" err="1"/>
              <a:t>DynamoDB</a:t>
            </a:r>
            <a:r>
              <a:rPr lang="fr-FR" dirty="0"/>
              <a:t> est clé/valeur et documents ; Azure Cosmos DB est clé/valeur, documents, colonnes et graphes ; </a:t>
            </a:r>
            <a:r>
              <a:rPr lang="fr-FR" dirty="0" err="1"/>
              <a:t>MongoDB</a:t>
            </a:r>
            <a:r>
              <a:rPr lang="fr-FR" dirty="0"/>
              <a:t> est orienté documents, mais aussi </a:t>
            </a:r>
            <a:r>
              <a:rPr lang="fr-FR" dirty="0" err="1"/>
              <a:t>search</a:t>
            </a:r>
            <a:r>
              <a:rPr lang="fr-FR" dirty="0"/>
              <a:t> </a:t>
            </a:r>
            <a:r>
              <a:rPr lang="fr-FR" dirty="0" err="1"/>
              <a:t>engine</a:t>
            </a:r>
            <a:r>
              <a:rPr lang="fr-FR" dirty="0"/>
              <a:t> et time </a:t>
            </a:r>
            <a:r>
              <a:rPr lang="fr-FR" dirty="0" err="1"/>
              <a:t>series</a:t>
            </a:r>
            <a:r>
              <a:rPr lang="fr-FR" dirty="0"/>
              <a:t>.</a:t>
            </a:r>
          </a:p>
          <a:p>
            <a:r>
              <a:rPr lang="fr-FR" dirty="0"/>
              <a:t>Pas de norme aujourd’hui à ce sujet. Quelques tentatives de normalisation de langages de requêtes : CQL, </a:t>
            </a:r>
            <a:r>
              <a:rPr lang="fr-FR" dirty="0" err="1"/>
              <a:t>UnQL</a:t>
            </a:r>
            <a:r>
              <a:rPr lang="fr-FR" dirty="0"/>
              <a:t>, N1QL(SQL for JSON).</a:t>
            </a:r>
          </a:p>
        </p:txBody>
      </p:sp>
      <p:sp>
        <p:nvSpPr>
          <p:cNvPr id="4" name="Espace réservé du numéro de diapositive 3">
            <a:extLst>
              <a:ext uri="{FF2B5EF4-FFF2-40B4-BE49-F238E27FC236}">
                <a16:creationId xmlns:a16="http://schemas.microsoft.com/office/drawing/2014/main" id="{A7B533DF-FE9D-ED47-915A-C10C5F7137A8}"/>
              </a:ext>
            </a:extLst>
          </p:cNvPr>
          <p:cNvSpPr>
            <a:spLocks noGrp="1"/>
          </p:cNvSpPr>
          <p:nvPr>
            <p:ph type="sldNum" sz="quarter" idx="12"/>
          </p:nvPr>
        </p:nvSpPr>
        <p:spPr/>
        <p:txBody>
          <a:bodyPr/>
          <a:lstStyle/>
          <a:p>
            <a:fld id="{0CFEC368-1D7A-4F81-ABF6-AE0E36BAF64C}" type="slidenum">
              <a:rPr lang="en-US" smtClean="0"/>
              <a:pPr/>
              <a:t>10</a:t>
            </a:fld>
            <a:endParaRPr lang="en-US"/>
          </a:p>
        </p:txBody>
      </p:sp>
    </p:spTree>
    <p:extLst>
      <p:ext uri="{BB962C8B-B14F-4D97-AF65-F5344CB8AC3E}">
        <p14:creationId xmlns:p14="http://schemas.microsoft.com/office/powerpoint/2010/main" val="1915276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9D34CB-186C-FC48-BF4A-D209A47FFDA1}"/>
              </a:ext>
            </a:extLst>
          </p:cNvPr>
          <p:cNvSpPr>
            <a:spLocks noGrp="1"/>
          </p:cNvSpPr>
          <p:nvPr>
            <p:ph type="title"/>
          </p:nvPr>
        </p:nvSpPr>
        <p:spPr/>
        <p:txBody>
          <a:bodyPr/>
          <a:lstStyle/>
          <a:p>
            <a:r>
              <a:rPr lang="fr-FR" altLang="fr-FR" dirty="0">
                <a:ea typeface="ＭＳ Ｐゴシック" panose="020B0600070205080204" pitchFamily="34" charset="-128"/>
              </a:rPr>
              <a:t>Bases clé/valeur</a:t>
            </a:r>
            <a:endParaRPr lang="fr-FR" dirty="0"/>
          </a:p>
        </p:txBody>
      </p:sp>
      <p:sp>
        <p:nvSpPr>
          <p:cNvPr id="3" name="Espace réservé du contenu 2">
            <a:extLst>
              <a:ext uri="{FF2B5EF4-FFF2-40B4-BE49-F238E27FC236}">
                <a16:creationId xmlns:a16="http://schemas.microsoft.com/office/drawing/2014/main" id="{4BB5CFC0-2228-4040-A09F-AC5B30A073AB}"/>
              </a:ext>
            </a:extLst>
          </p:cNvPr>
          <p:cNvSpPr>
            <a:spLocks noGrp="1"/>
          </p:cNvSpPr>
          <p:nvPr>
            <p:ph idx="1"/>
          </p:nvPr>
        </p:nvSpPr>
        <p:spPr>
          <a:xfrm>
            <a:off x="457200" y="1387234"/>
            <a:ext cx="8229600" cy="2584691"/>
          </a:xfrm>
        </p:spPr>
        <p:txBody>
          <a:bodyPr>
            <a:normAutofit fontScale="92500"/>
          </a:bodyPr>
          <a:lstStyle/>
          <a:p>
            <a:r>
              <a:rPr lang="fr-FR" dirty="0"/>
              <a:t>Catégorie la plus simple.</a:t>
            </a:r>
          </a:p>
          <a:p>
            <a:r>
              <a:rPr lang="fr-FR" dirty="0"/>
              <a:t>Chaque objet est identifié par une clé unique qui constitue la seule manière de le requêter.</a:t>
            </a:r>
          </a:p>
          <a:p>
            <a:r>
              <a:rPr lang="fr-FR" dirty="0"/>
              <a:t>La structure de l’objet est libre et le plus souvent </a:t>
            </a:r>
            <a:r>
              <a:rPr lang="fr-FR" b="1" dirty="0"/>
              <a:t>laissé à la charge du développeur de l’application </a:t>
            </a:r>
            <a:r>
              <a:rPr lang="fr-FR" dirty="0"/>
              <a:t>(XML, JSON, ...)</a:t>
            </a:r>
          </a:p>
          <a:p>
            <a:r>
              <a:rPr lang="fr-FR" dirty="0"/>
              <a:t>La base ne gère que des chaînes d’octets.</a:t>
            </a:r>
          </a:p>
        </p:txBody>
      </p:sp>
      <p:sp>
        <p:nvSpPr>
          <p:cNvPr id="4" name="Espace réservé du numéro de diapositive 3">
            <a:extLst>
              <a:ext uri="{FF2B5EF4-FFF2-40B4-BE49-F238E27FC236}">
                <a16:creationId xmlns:a16="http://schemas.microsoft.com/office/drawing/2014/main" id="{A7B533DF-FE9D-ED47-915A-C10C5F7137A8}"/>
              </a:ext>
            </a:extLst>
          </p:cNvPr>
          <p:cNvSpPr>
            <a:spLocks noGrp="1"/>
          </p:cNvSpPr>
          <p:nvPr>
            <p:ph type="sldNum" sz="quarter" idx="12"/>
          </p:nvPr>
        </p:nvSpPr>
        <p:spPr/>
        <p:txBody>
          <a:bodyPr/>
          <a:lstStyle/>
          <a:p>
            <a:fld id="{0CFEC368-1D7A-4F81-ABF6-AE0E36BAF64C}" type="slidenum">
              <a:rPr lang="en-US" smtClean="0"/>
              <a:pPr/>
              <a:t>11</a:t>
            </a:fld>
            <a:endParaRPr lang="en-US"/>
          </a:p>
        </p:txBody>
      </p:sp>
      <p:pic>
        <p:nvPicPr>
          <p:cNvPr id="5" name="Image 1" descr="cle valeur.tiff">
            <a:extLst>
              <a:ext uri="{FF2B5EF4-FFF2-40B4-BE49-F238E27FC236}">
                <a16:creationId xmlns:a16="http://schemas.microsoft.com/office/drawing/2014/main" id="{C24351DF-0F0F-AF44-ACF5-FD97AC1DC88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32138" y="3706905"/>
            <a:ext cx="3111500" cy="304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0433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9D34CB-186C-FC48-BF4A-D209A47FFDA1}"/>
              </a:ext>
            </a:extLst>
          </p:cNvPr>
          <p:cNvSpPr>
            <a:spLocks noGrp="1"/>
          </p:cNvSpPr>
          <p:nvPr>
            <p:ph type="title"/>
          </p:nvPr>
        </p:nvSpPr>
        <p:spPr/>
        <p:txBody>
          <a:bodyPr/>
          <a:lstStyle/>
          <a:p>
            <a:r>
              <a:rPr lang="fr-FR" altLang="fr-FR" dirty="0">
                <a:ea typeface="ＭＳ Ｐゴシック" panose="020B0600070205080204" pitchFamily="34" charset="-128"/>
              </a:rPr>
              <a:t>Bases clé/valeur</a:t>
            </a:r>
            <a:endParaRPr lang="fr-FR" dirty="0"/>
          </a:p>
        </p:txBody>
      </p:sp>
      <p:sp>
        <p:nvSpPr>
          <p:cNvPr id="3" name="Espace réservé du contenu 2">
            <a:extLst>
              <a:ext uri="{FF2B5EF4-FFF2-40B4-BE49-F238E27FC236}">
                <a16:creationId xmlns:a16="http://schemas.microsoft.com/office/drawing/2014/main" id="{4BB5CFC0-2228-4040-A09F-AC5B30A073AB}"/>
              </a:ext>
            </a:extLst>
          </p:cNvPr>
          <p:cNvSpPr>
            <a:spLocks noGrp="1"/>
          </p:cNvSpPr>
          <p:nvPr>
            <p:ph idx="1"/>
          </p:nvPr>
        </p:nvSpPr>
        <p:spPr/>
        <p:txBody>
          <a:bodyPr>
            <a:normAutofit fontScale="92500" lnSpcReduction="10000"/>
          </a:bodyPr>
          <a:lstStyle/>
          <a:p>
            <a:r>
              <a:rPr lang="fr-FR" dirty="0"/>
              <a:t>4 opérations (CRUD):</a:t>
            </a:r>
          </a:p>
          <a:p>
            <a:pPr lvl="1"/>
            <a:r>
              <a:rPr lang="fr-FR" b="1" dirty="0" err="1"/>
              <a:t>Create</a:t>
            </a:r>
            <a:r>
              <a:rPr lang="fr-FR" dirty="0"/>
              <a:t> : créé un nouvel objet avec sa clé → </a:t>
            </a:r>
            <a:r>
              <a:rPr lang="fr-FR" dirty="0" err="1">
                <a:latin typeface="Courier New" panose="02070309020205020404" pitchFamily="49" charset="0"/>
                <a:cs typeface="Courier New" panose="02070309020205020404" pitchFamily="49" charset="0"/>
              </a:rPr>
              <a:t>create</a:t>
            </a:r>
            <a:r>
              <a:rPr lang="fr-FR" dirty="0">
                <a:latin typeface="Courier New" panose="02070309020205020404" pitchFamily="49" charset="0"/>
                <a:cs typeface="Courier New" panose="02070309020205020404" pitchFamily="49" charset="0"/>
              </a:rPr>
              <a:t>(key, value)</a:t>
            </a:r>
          </a:p>
          <a:p>
            <a:pPr lvl="1"/>
            <a:r>
              <a:rPr lang="fr-FR" b="1" dirty="0"/>
              <a:t>Read</a:t>
            </a:r>
            <a:r>
              <a:rPr lang="fr-FR" dirty="0"/>
              <a:t> : lit un objet à partir de sa clé → </a:t>
            </a:r>
            <a:r>
              <a:rPr lang="fr-FR" dirty="0" err="1">
                <a:latin typeface="Courier New" panose="02070309020205020404" pitchFamily="49" charset="0"/>
                <a:cs typeface="Courier New" panose="02070309020205020404" pitchFamily="49" charset="0"/>
              </a:rPr>
              <a:t>read</a:t>
            </a:r>
            <a:r>
              <a:rPr lang="fr-FR" dirty="0">
                <a:latin typeface="Courier New" panose="02070309020205020404" pitchFamily="49" charset="0"/>
                <a:cs typeface="Courier New" panose="02070309020205020404" pitchFamily="49" charset="0"/>
              </a:rPr>
              <a:t>(key</a:t>
            </a:r>
            <a:r>
              <a:rPr lang="fr-FR" dirty="0"/>
              <a:t>)</a:t>
            </a:r>
          </a:p>
          <a:p>
            <a:pPr lvl="1"/>
            <a:r>
              <a:rPr lang="fr-FR" b="1" dirty="0"/>
              <a:t>Update</a:t>
            </a:r>
            <a:r>
              <a:rPr lang="fr-FR" dirty="0"/>
              <a:t> : met à jour la valeur d’un objet à partir de sa clé → </a:t>
            </a:r>
            <a:r>
              <a:rPr lang="fr-FR" dirty="0">
                <a:latin typeface="Courier New" panose="02070309020205020404" pitchFamily="49" charset="0"/>
                <a:cs typeface="Courier New" panose="02070309020205020404" pitchFamily="49" charset="0"/>
              </a:rPr>
              <a:t>update(key, value)</a:t>
            </a:r>
          </a:p>
          <a:p>
            <a:pPr lvl="1"/>
            <a:r>
              <a:rPr lang="fr-FR" b="1" dirty="0" err="1"/>
              <a:t>Delete</a:t>
            </a:r>
            <a:r>
              <a:rPr lang="fr-FR" dirty="0"/>
              <a:t> : supprime un objet à partir de sa clé → </a:t>
            </a:r>
            <a:r>
              <a:rPr lang="fr-FR" dirty="0" err="1">
                <a:latin typeface="Courier New" panose="02070309020205020404" pitchFamily="49" charset="0"/>
                <a:cs typeface="Courier New" panose="02070309020205020404" pitchFamily="49" charset="0"/>
              </a:rPr>
              <a:t>delete</a:t>
            </a:r>
            <a:r>
              <a:rPr lang="fr-FR" dirty="0">
                <a:latin typeface="Courier New" panose="02070309020205020404" pitchFamily="49" charset="0"/>
                <a:cs typeface="Courier New" panose="02070309020205020404" pitchFamily="49" charset="0"/>
              </a:rPr>
              <a:t>(key)</a:t>
            </a:r>
          </a:p>
          <a:p>
            <a:r>
              <a:rPr lang="fr-FR" dirty="0"/>
              <a:t>Disposent généralement d’une interface HTTP REST permettant de procéder très simplement à des requêtes, et ceci depuis n’importe quel langage de développement.</a:t>
            </a:r>
          </a:p>
          <a:p>
            <a:r>
              <a:rPr lang="fr-FR" dirty="0"/>
              <a:t>+ : performances exceptionnellement élevées en lecture et en écriture, </a:t>
            </a:r>
            <a:r>
              <a:rPr lang="fr-FR" dirty="0" err="1"/>
              <a:t>scalabilité</a:t>
            </a:r>
            <a:r>
              <a:rPr lang="fr-FR" dirty="0"/>
              <a:t> horizontale considérable.</a:t>
            </a:r>
          </a:p>
          <a:p>
            <a:r>
              <a:rPr lang="fr-FR" dirty="0"/>
              <a:t>- : besoins très simples de requêtes, pas d’intégrité relationnelle des données</a:t>
            </a:r>
          </a:p>
          <a:p>
            <a:r>
              <a:rPr lang="fr-FR" dirty="0"/>
              <a:t>Exemples : Redis, </a:t>
            </a:r>
            <a:r>
              <a:rPr lang="fr-FR" dirty="0" err="1"/>
              <a:t>Riak</a:t>
            </a:r>
            <a:r>
              <a:rPr lang="fr-FR" dirty="0"/>
              <a:t>, Voldemort (LinkedIn), Oracle </a:t>
            </a:r>
            <a:r>
              <a:rPr lang="fr-FR" dirty="0" err="1"/>
              <a:t>Coherence</a:t>
            </a:r>
            <a:r>
              <a:rPr lang="fr-FR" dirty="0"/>
              <a:t>, Amazon </a:t>
            </a:r>
            <a:r>
              <a:rPr lang="fr-FR" dirty="0" err="1"/>
              <a:t>SimpleDB</a:t>
            </a:r>
            <a:r>
              <a:rPr lang="fr-FR" dirty="0"/>
              <a:t>, </a:t>
            </a:r>
            <a:r>
              <a:rPr lang="fr-FR" dirty="0" err="1"/>
              <a:t>MapDB</a:t>
            </a:r>
            <a:r>
              <a:rPr lang="fr-FR" dirty="0"/>
              <a:t>, etc.</a:t>
            </a:r>
          </a:p>
        </p:txBody>
      </p:sp>
      <p:sp>
        <p:nvSpPr>
          <p:cNvPr id="4" name="Espace réservé du numéro de diapositive 3">
            <a:extLst>
              <a:ext uri="{FF2B5EF4-FFF2-40B4-BE49-F238E27FC236}">
                <a16:creationId xmlns:a16="http://schemas.microsoft.com/office/drawing/2014/main" id="{A7B533DF-FE9D-ED47-915A-C10C5F7137A8}"/>
              </a:ext>
            </a:extLst>
          </p:cNvPr>
          <p:cNvSpPr>
            <a:spLocks noGrp="1"/>
          </p:cNvSpPr>
          <p:nvPr>
            <p:ph type="sldNum" sz="quarter" idx="12"/>
          </p:nvPr>
        </p:nvSpPr>
        <p:spPr/>
        <p:txBody>
          <a:bodyPr/>
          <a:lstStyle/>
          <a:p>
            <a:fld id="{0CFEC368-1D7A-4F81-ABF6-AE0E36BAF64C}" type="slidenum">
              <a:rPr lang="en-US" smtClean="0"/>
              <a:pPr/>
              <a:t>12</a:t>
            </a:fld>
            <a:endParaRPr lang="en-US"/>
          </a:p>
        </p:txBody>
      </p:sp>
    </p:spTree>
    <p:extLst>
      <p:ext uri="{BB962C8B-B14F-4D97-AF65-F5344CB8AC3E}">
        <p14:creationId xmlns:p14="http://schemas.microsoft.com/office/powerpoint/2010/main" val="1926510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9D34CB-186C-FC48-BF4A-D209A47FFDA1}"/>
              </a:ext>
            </a:extLst>
          </p:cNvPr>
          <p:cNvSpPr>
            <a:spLocks noGrp="1"/>
          </p:cNvSpPr>
          <p:nvPr>
            <p:ph type="title"/>
          </p:nvPr>
        </p:nvSpPr>
        <p:spPr/>
        <p:txBody>
          <a:bodyPr/>
          <a:lstStyle/>
          <a:p>
            <a:r>
              <a:rPr lang="fr-FR" altLang="fr-FR" dirty="0">
                <a:ea typeface="ＭＳ Ｐゴシック" panose="020B0600070205080204" pitchFamily="34" charset="-128"/>
              </a:rPr>
              <a:t>Bases documentaires</a:t>
            </a:r>
            <a:endParaRPr lang="fr-FR" dirty="0"/>
          </a:p>
        </p:txBody>
      </p:sp>
      <p:sp>
        <p:nvSpPr>
          <p:cNvPr id="3" name="Espace réservé du contenu 2">
            <a:extLst>
              <a:ext uri="{FF2B5EF4-FFF2-40B4-BE49-F238E27FC236}">
                <a16:creationId xmlns:a16="http://schemas.microsoft.com/office/drawing/2014/main" id="{4BB5CFC0-2228-4040-A09F-AC5B30A073AB}"/>
              </a:ext>
            </a:extLst>
          </p:cNvPr>
          <p:cNvSpPr>
            <a:spLocks noGrp="1"/>
          </p:cNvSpPr>
          <p:nvPr>
            <p:ph idx="1"/>
          </p:nvPr>
        </p:nvSpPr>
        <p:spPr/>
        <p:txBody>
          <a:bodyPr>
            <a:normAutofit/>
          </a:bodyPr>
          <a:lstStyle/>
          <a:p>
            <a:r>
              <a:rPr lang="fr-FR" dirty="0"/>
              <a:t>Extension des bases clé/valeur (+ possibilité d’effectuer des requêtes sur le contenu des objets)</a:t>
            </a:r>
          </a:p>
          <a:p>
            <a:r>
              <a:rPr lang="fr-FR" dirty="0"/>
              <a:t>Constituées de collections de documents. </a:t>
            </a:r>
          </a:p>
          <a:p>
            <a:pPr lvl="1"/>
            <a:r>
              <a:rPr lang="fr-FR" dirty="0"/>
              <a:t>Un document est composé de champs et des valeurs associées.</a:t>
            </a:r>
          </a:p>
          <a:p>
            <a:pPr lvl="1"/>
            <a:r>
              <a:rPr lang="fr-FR" dirty="0"/>
              <a:t>Les valeurs associées peuvent aussi  être requêtées.</a:t>
            </a:r>
          </a:p>
          <a:p>
            <a:r>
              <a:rPr lang="fr-FR" dirty="0"/>
              <a:t>Les valeurs peuvent être de type simple (entier, chaine de caractères, date, ...), soit composées de plusieurs couples clé/valeur.</a:t>
            </a:r>
          </a:p>
          <a:p>
            <a:r>
              <a:rPr lang="fr-FR" dirty="0"/>
              <a:t>Bases “</a:t>
            </a:r>
            <a:r>
              <a:rPr lang="fr-FR" dirty="0" err="1"/>
              <a:t>schemaless</a:t>
            </a:r>
            <a:r>
              <a:rPr lang="fr-FR" dirty="0"/>
              <a:t>” : </a:t>
            </a:r>
          </a:p>
          <a:p>
            <a:pPr lvl="1"/>
            <a:r>
              <a:rPr lang="fr-FR" dirty="0"/>
              <a:t>Pas nécessaire de définir au préalable les champs utilisés dans un document.</a:t>
            </a:r>
          </a:p>
          <a:p>
            <a:pPr lvl="1"/>
            <a:r>
              <a:rPr lang="fr-FR" dirty="0"/>
              <a:t>Les documents peuvent être très hétérogènes au sein de la base. </a:t>
            </a:r>
          </a:p>
        </p:txBody>
      </p:sp>
      <p:sp>
        <p:nvSpPr>
          <p:cNvPr id="4" name="Espace réservé du numéro de diapositive 3">
            <a:extLst>
              <a:ext uri="{FF2B5EF4-FFF2-40B4-BE49-F238E27FC236}">
                <a16:creationId xmlns:a16="http://schemas.microsoft.com/office/drawing/2014/main" id="{A7B533DF-FE9D-ED47-915A-C10C5F7137A8}"/>
              </a:ext>
            </a:extLst>
          </p:cNvPr>
          <p:cNvSpPr>
            <a:spLocks noGrp="1"/>
          </p:cNvSpPr>
          <p:nvPr>
            <p:ph type="sldNum" sz="quarter" idx="12"/>
          </p:nvPr>
        </p:nvSpPr>
        <p:spPr/>
        <p:txBody>
          <a:bodyPr/>
          <a:lstStyle/>
          <a:p>
            <a:fld id="{0CFEC368-1D7A-4F81-ABF6-AE0E36BAF64C}" type="slidenum">
              <a:rPr lang="en-US" smtClean="0"/>
              <a:pPr/>
              <a:t>13</a:t>
            </a:fld>
            <a:endParaRPr lang="en-US"/>
          </a:p>
        </p:txBody>
      </p:sp>
    </p:spTree>
    <p:extLst>
      <p:ext uri="{BB962C8B-B14F-4D97-AF65-F5344CB8AC3E}">
        <p14:creationId xmlns:p14="http://schemas.microsoft.com/office/powerpoint/2010/main" val="304552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9D34CB-186C-FC48-BF4A-D209A47FFDA1}"/>
              </a:ext>
            </a:extLst>
          </p:cNvPr>
          <p:cNvSpPr>
            <a:spLocks noGrp="1"/>
          </p:cNvSpPr>
          <p:nvPr>
            <p:ph type="title"/>
          </p:nvPr>
        </p:nvSpPr>
        <p:spPr/>
        <p:txBody>
          <a:bodyPr/>
          <a:lstStyle/>
          <a:p>
            <a:r>
              <a:rPr lang="fr-FR" altLang="fr-FR" dirty="0">
                <a:ea typeface="ＭＳ Ｐゴシック" panose="020B0600070205080204" pitchFamily="34" charset="-128"/>
              </a:rPr>
              <a:t>Bases documentaires</a:t>
            </a:r>
            <a:endParaRPr lang="fr-FR" dirty="0"/>
          </a:p>
        </p:txBody>
      </p:sp>
      <p:sp>
        <p:nvSpPr>
          <p:cNvPr id="4" name="Espace réservé du numéro de diapositive 3">
            <a:extLst>
              <a:ext uri="{FF2B5EF4-FFF2-40B4-BE49-F238E27FC236}">
                <a16:creationId xmlns:a16="http://schemas.microsoft.com/office/drawing/2014/main" id="{A7B533DF-FE9D-ED47-915A-C10C5F7137A8}"/>
              </a:ext>
            </a:extLst>
          </p:cNvPr>
          <p:cNvSpPr>
            <a:spLocks noGrp="1"/>
          </p:cNvSpPr>
          <p:nvPr>
            <p:ph type="sldNum" sz="quarter" idx="12"/>
          </p:nvPr>
        </p:nvSpPr>
        <p:spPr/>
        <p:txBody>
          <a:bodyPr/>
          <a:lstStyle/>
          <a:p>
            <a:fld id="{0CFEC368-1D7A-4F81-ABF6-AE0E36BAF64C}" type="slidenum">
              <a:rPr lang="en-US" smtClean="0"/>
              <a:pPr/>
              <a:t>14</a:t>
            </a:fld>
            <a:endParaRPr lang="en-US"/>
          </a:p>
        </p:txBody>
      </p:sp>
      <p:pic>
        <p:nvPicPr>
          <p:cNvPr id="5" name="Image 2" descr="base doc.tiff">
            <a:extLst>
              <a:ext uri="{FF2B5EF4-FFF2-40B4-BE49-F238E27FC236}">
                <a16:creationId xmlns:a16="http://schemas.microsoft.com/office/drawing/2014/main" id="{01FDD4FE-50A5-E64B-B77B-CD409B1F56C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69635" y="1246429"/>
            <a:ext cx="4965890" cy="521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8960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9D34CB-186C-FC48-BF4A-D209A47FFDA1}"/>
              </a:ext>
            </a:extLst>
          </p:cNvPr>
          <p:cNvSpPr>
            <a:spLocks noGrp="1"/>
          </p:cNvSpPr>
          <p:nvPr>
            <p:ph type="title"/>
          </p:nvPr>
        </p:nvSpPr>
        <p:spPr/>
        <p:txBody>
          <a:bodyPr/>
          <a:lstStyle/>
          <a:p>
            <a:r>
              <a:rPr lang="fr-FR" dirty="0"/>
              <a:t>Bases documentaires</a:t>
            </a:r>
          </a:p>
        </p:txBody>
      </p:sp>
      <p:sp>
        <p:nvSpPr>
          <p:cNvPr id="3" name="Espace réservé du contenu 2">
            <a:extLst>
              <a:ext uri="{FF2B5EF4-FFF2-40B4-BE49-F238E27FC236}">
                <a16:creationId xmlns:a16="http://schemas.microsoft.com/office/drawing/2014/main" id="{4BB5CFC0-2228-4040-A09F-AC5B30A073AB}"/>
              </a:ext>
            </a:extLst>
          </p:cNvPr>
          <p:cNvSpPr>
            <a:spLocks noGrp="1"/>
          </p:cNvSpPr>
          <p:nvPr>
            <p:ph idx="1"/>
          </p:nvPr>
        </p:nvSpPr>
        <p:spPr/>
        <p:txBody>
          <a:bodyPr>
            <a:normAutofit/>
          </a:bodyPr>
          <a:lstStyle/>
          <a:p>
            <a:r>
              <a:rPr lang="fr-FR" dirty="0"/>
              <a:t>Interface d’accès HTTP REST permettant d’effectuer simplement des requêtes sur la base mais celle­-ci est plus complexe que l’interface CRUD des bases clés/valeurs. </a:t>
            </a:r>
          </a:p>
          <a:p>
            <a:r>
              <a:rPr lang="fr-FR" dirty="0"/>
              <a:t>Formats de données JSON et XML sont le plus souvent utilisés afin d’assurer le transfert des données sérialisées entre l’application et la base.</a:t>
            </a:r>
          </a:p>
          <a:p>
            <a:r>
              <a:rPr lang="fr-FR" dirty="0"/>
              <a:t>+ : performances élevées, flexibilité du modèle documentaire, très adapté à la gestion des contenus des CMS</a:t>
            </a:r>
          </a:p>
          <a:p>
            <a:r>
              <a:rPr lang="fr-FR" dirty="0"/>
              <a:t>Exemples : </a:t>
            </a:r>
            <a:r>
              <a:rPr lang="fr-FR" dirty="0" err="1"/>
              <a:t>MongoDB</a:t>
            </a:r>
            <a:r>
              <a:rPr lang="fr-FR" dirty="0"/>
              <a:t>, </a:t>
            </a:r>
            <a:r>
              <a:rPr lang="fr-FR" dirty="0" err="1"/>
              <a:t>Couchbase</a:t>
            </a:r>
            <a:r>
              <a:rPr lang="fr-FR" dirty="0"/>
              <a:t>, </a:t>
            </a:r>
            <a:r>
              <a:rPr lang="fr-FR" dirty="0" err="1"/>
              <a:t>Firebase</a:t>
            </a:r>
            <a:r>
              <a:rPr lang="fr-FR" dirty="0"/>
              <a:t> </a:t>
            </a:r>
            <a:r>
              <a:rPr lang="fr-FR" dirty="0" err="1"/>
              <a:t>Realtime</a:t>
            </a:r>
            <a:r>
              <a:rPr lang="fr-FR" dirty="0"/>
              <a:t> DB, </a:t>
            </a:r>
            <a:r>
              <a:rPr lang="fr-FR" dirty="0" err="1"/>
              <a:t>CouchDB</a:t>
            </a:r>
            <a:r>
              <a:rPr lang="fr-FR" dirty="0"/>
              <a:t>, </a:t>
            </a:r>
            <a:r>
              <a:rPr lang="fr-FR" dirty="0" err="1"/>
              <a:t>RavenDB</a:t>
            </a:r>
            <a:r>
              <a:rPr lang="fr-FR" dirty="0"/>
              <a:t>, (MySQL, </a:t>
            </a:r>
            <a:r>
              <a:rPr lang="fr-FR" dirty="0" err="1"/>
              <a:t>MariaDB</a:t>
            </a:r>
            <a:r>
              <a:rPr lang="fr-FR" dirty="0"/>
              <a:t>, PostgreSQL, Oracle, Microsoft SQL Server), etc.</a:t>
            </a:r>
          </a:p>
        </p:txBody>
      </p:sp>
      <p:sp>
        <p:nvSpPr>
          <p:cNvPr id="4" name="Espace réservé du numéro de diapositive 3">
            <a:extLst>
              <a:ext uri="{FF2B5EF4-FFF2-40B4-BE49-F238E27FC236}">
                <a16:creationId xmlns:a16="http://schemas.microsoft.com/office/drawing/2014/main" id="{A7B533DF-FE9D-ED47-915A-C10C5F7137A8}"/>
              </a:ext>
            </a:extLst>
          </p:cNvPr>
          <p:cNvSpPr>
            <a:spLocks noGrp="1"/>
          </p:cNvSpPr>
          <p:nvPr>
            <p:ph type="sldNum" sz="quarter" idx="12"/>
          </p:nvPr>
        </p:nvSpPr>
        <p:spPr/>
        <p:txBody>
          <a:bodyPr/>
          <a:lstStyle/>
          <a:p>
            <a:fld id="{0CFEC368-1D7A-4F81-ABF6-AE0E36BAF64C}" type="slidenum">
              <a:rPr lang="en-US" smtClean="0"/>
              <a:pPr/>
              <a:t>15</a:t>
            </a:fld>
            <a:endParaRPr lang="en-US"/>
          </a:p>
        </p:txBody>
      </p:sp>
    </p:spTree>
    <p:extLst>
      <p:ext uri="{BB962C8B-B14F-4D97-AF65-F5344CB8AC3E}">
        <p14:creationId xmlns:p14="http://schemas.microsoft.com/office/powerpoint/2010/main" val="6789189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9D34CB-186C-FC48-BF4A-D209A47FFDA1}"/>
              </a:ext>
            </a:extLst>
          </p:cNvPr>
          <p:cNvSpPr>
            <a:spLocks noGrp="1"/>
          </p:cNvSpPr>
          <p:nvPr>
            <p:ph type="title"/>
          </p:nvPr>
        </p:nvSpPr>
        <p:spPr/>
        <p:txBody>
          <a:bodyPr/>
          <a:lstStyle/>
          <a:p>
            <a:r>
              <a:rPr lang="fr-FR" altLang="fr-FR" dirty="0">
                <a:ea typeface="ＭＳ Ｐゴシック" panose="020B0600070205080204" pitchFamily="34" charset="-128"/>
              </a:rPr>
              <a:t>Bases orientées colonnes</a:t>
            </a:r>
            <a:endParaRPr lang="fr-FR" dirty="0"/>
          </a:p>
        </p:txBody>
      </p:sp>
      <p:sp>
        <p:nvSpPr>
          <p:cNvPr id="3" name="Espace réservé du contenu 2">
            <a:extLst>
              <a:ext uri="{FF2B5EF4-FFF2-40B4-BE49-F238E27FC236}">
                <a16:creationId xmlns:a16="http://schemas.microsoft.com/office/drawing/2014/main" id="{4BB5CFC0-2228-4040-A09F-AC5B30A073AB}"/>
              </a:ext>
            </a:extLst>
          </p:cNvPr>
          <p:cNvSpPr>
            <a:spLocks noGrp="1"/>
          </p:cNvSpPr>
          <p:nvPr>
            <p:ph idx="1"/>
          </p:nvPr>
        </p:nvSpPr>
        <p:spPr/>
        <p:txBody>
          <a:bodyPr>
            <a:normAutofit lnSpcReduction="10000"/>
          </a:bodyPr>
          <a:lstStyle/>
          <a:p>
            <a:r>
              <a:rPr lang="fr-FR" dirty="0"/>
              <a:t>Les plus complexes</a:t>
            </a:r>
          </a:p>
          <a:p>
            <a:r>
              <a:rPr lang="fr-FR" dirty="0"/>
              <a:t>Organisation des données adaptée aux traitements d’analyse de données et traitements massifs</a:t>
            </a:r>
          </a:p>
          <a:p>
            <a:r>
              <a:rPr lang="fr-FR" dirty="0"/>
              <a:t>Concepts :</a:t>
            </a:r>
          </a:p>
          <a:p>
            <a:pPr lvl="1"/>
            <a:r>
              <a:rPr lang="fr-FR" dirty="0"/>
              <a:t>Colonne : entité de base représentant un champ de données. Chaque colonne est définie par un couple clé / valeur. </a:t>
            </a:r>
          </a:p>
          <a:p>
            <a:pPr lvl="1"/>
            <a:r>
              <a:rPr lang="fr-FR" dirty="0"/>
              <a:t>Une colonne contenant d’autres colonnes est nommée </a:t>
            </a:r>
            <a:r>
              <a:rPr lang="fr-FR" dirty="0" err="1"/>
              <a:t>super­colonne</a:t>
            </a:r>
            <a:r>
              <a:rPr lang="fr-FR" dirty="0"/>
              <a:t>. Correspond à une ligne d’une table. La clé permet d'identifier la super colonne tandis que la valeur est la liste des colonnes qui la compose.</a:t>
            </a:r>
          </a:p>
          <a:p>
            <a:pPr lvl="1"/>
            <a:r>
              <a:rPr lang="fr-FR" dirty="0"/>
              <a:t>Famille de colonnes : conteneur permettant de regrouper plusieurs colonnes ou super­-colonnes.</a:t>
            </a:r>
          </a:p>
          <a:p>
            <a:pPr lvl="2"/>
            <a:r>
              <a:rPr lang="fr-FR" dirty="0"/>
              <a:t>Les colonnes sont regroupées par ligne et chaque ligne est identifiée par un identifiant unique. </a:t>
            </a:r>
          </a:p>
          <a:p>
            <a:pPr lvl="2"/>
            <a:r>
              <a:rPr lang="fr-FR" dirty="0"/>
              <a:t>Famille ≈ table dans le modèle relationnel, identifiée par un nom unique.</a:t>
            </a:r>
          </a:p>
        </p:txBody>
      </p:sp>
      <p:sp>
        <p:nvSpPr>
          <p:cNvPr id="4" name="Espace réservé du numéro de diapositive 3">
            <a:extLst>
              <a:ext uri="{FF2B5EF4-FFF2-40B4-BE49-F238E27FC236}">
                <a16:creationId xmlns:a16="http://schemas.microsoft.com/office/drawing/2014/main" id="{A7B533DF-FE9D-ED47-915A-C10C5F7137A8}"/>
              </a:ext>
            </a:extLst>
          </p:cNvPr>
          <p:cNvSpPr>
            <a:spLocks noGrp="1"/>
          </p:cNvSpPr>
          <p:nvPr>
            <p:ph type="sldNum" sz="quarter" idx="12"/>
          </p:nvPr>
        </p:nvSpPr>
        <p:spPr/>
        <p:txBody>
          <a:bodyPr/>
          <a:lstStyle/>
          <a:p>
            <a:fld id="{0CFEC368-1D7A-4F81-ABF6-AE0E36BAF64C}" type="slidenum">
              <a:rPr lang="en-US" smtClean="0"/>
              <a:pPr/>
              <a:t>16</a:t>
            </a:fld>
            <a:endParaRPr lang="en-US"/>
          </a:p>
        </p:txBody>
      </p:sp>
    </p:spTree>
    <p:extLst>
      <p:ext uri="{BB962C8B-B14F-4D97-AF65-F5344CB8AC3E}">
        <p14:creationId xmlns:p14="http://schemas.microsoft.com/office/powerpoint/2010/main" val="1547506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F5516-E186-374F-A348-1052096DFD90}"/>
              </a:ext>
            </a:extLst>
          </p:cNvPr>
          <p:cNvSpPr>
            <a:spLocks noGrp="1"/>
          </p:cNvSpPr>
          <p:nvPr>
            <p:ph type="title"/>
          </p:nvPr>
        </p:nvSpPr>
        <p:spPr/>
        <p:txBody>
          <a:bodyPr/>
          <a:lstStyle/>
          <a:p>
            <a:r>
              <a:rPr lang="fr-FR" altLang="fr-FR" dirty="0">
                <a:ea typeface="ＭＳ Ｐゴシック" panose="020B0600070205080204" pitchFamily="34" charset="-128"/>
              </a:rPr>
              <a:t>Bases orientées colonnes</a:t>
            </a:r>
            <a:endParaRPr lang="fr-FR" dirty="0"/>
          </a:p>
        </p:txBody>
      </p:sp>
      <p:sp>
        <p:nvSpPr>
          <p:cNvPr id="4" name="Espace réservé du numéro de diapositive 3">
            <a:extLst>
              <a:ext uri="{FF2B5EF4-FFF2-40B4-BE49-F238E27FC236}">
                <a16:creationId xmlns:a16="http://schemas.microsoft.com/office/drawing/2014/main" id="{4106B14E-3613-2548-9CD8-1D9685BBBD8F}"/>
              </a:ext>
            </a:extLst>
          </p:cNvPr>
          <p:cNvSpPr>
            <a:spLocks noGrp="1"/>
          </p:cNvSpPr>
          <p:nvPr>
            <p:ph type="sldNum" sz="quarter" idx="12"/>
          </p:nvPr>
        </p:nvSpPr>
        <p:spPr/>
        <p:txBody>
          <a:bodyPr/>
          <a:lstStyle/>
          <a:p>
            <a:fld id="{0CFEC368-1D7A-4F81-ABF6-AE0E36BAF64C}" type="slidenum">
              <a:rPr lang="en-US" smtClean="0"/>
              <a:pPr/>
              <a:t>17</a:t>
            </a:fld>
            <a:endParaRPr lang="en-US"/>
          </a:p>
        </p:txBody>
      </p:sp>
      <p:grpSp>
        <p:nvGrpSpPr>
          <p:cNvPr id="5" name="Grouper 3">
            <a:extLst>
              <a:ext uri="{FF2B5EF4-FFF2-40B4-BE49-F238E27FC236}">
                <a16:creationId xmlns:a16="http://schemas.microsoft.com/office/drawing/2014/main" id="{B7C39F99-42C2-E84E-ABF0-E6D7F3307807}"/>
              </a:ext>
            </a:extLst>
          </p:cNvPr>
          <p:cNvGrpSpPr>
            <a:grpSpLocks/>
          </p:cNvGrpSpPr>
          <p:nvPr/>
        </p:nvGrpSpPr>
        <p:grpSpPr bwMode="auto">
          <a:xfrm>
            <a:off x="1550982" y="3068638"/>
            <a:ext cx="1873250" cy="1296987"/>
            <a:chOff x="3347864" y="2636912"/>
            <a:chExt cx="1872208" cy="1296144"/>
          </a:xfrm>
        </p:grpSpPr>
        <p:sp>
          <p:nvSpPr>
            <p:cNvPr id="6" name="Rectangle 2">
              <a:extLst>
                <a:ext uri="{FF2B5EF4-FFF2-40B4-BE49-F238E27FC236}">
                  <a16:creationId xmlns:a16="http://schemas.microsoft.com/office/drawing/2014/main" id="{AD31875F-EE11-6B4E-BE75-1E234357DF25}"/>
                </a:ext>
              </a:extLst>
            </p:cNvPr>
            <p:cNvSpPr>
              <a:spLocks noChangeArrowheads="1"/>
            </p:cNvSpPr>
            <p:nvPr/>
          </p:nvSpPr>
          <p:spPr bwMode="auto">
            <a:xfrm>
              <a:off x="3347864" y="2636912"/>
              <a:ext cx="1872208" cy="432048"/>
            </a:xfrm>
            <a:prstGeom prst="rect">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lgn="ctr" eaLnBrk="1" hangingPunct="1">
                <a:spcBef>
                  <a:spcPct val="0"/>
                </a:spcBef>
                <a:buClrTx/>
                <a:buSzTx/>
                <a:buFontTx/>
                <a:buNone/>
              </a:pPr>
              <a:r>
                <a:rPr lang="fr-FR" altLang="fr-FR" sz="1800"/>
                <a:t>Column</a:t>
              </a:r>
            </a:p>
          </p:txBody>
        </p:sp>
        <p:sp>
          <p:nvSpPr>
            <p:cNvPr id="7" name="Rectangle 6">
              <a:extLst>
                <a:ext uri="{FF2B5EF4-FFF2-40B4-BE49-F238E27FC236}">
                  <a16:creationId xmlns:a16="http://schemas.microsoft.com/office/drawing/2014/main" id="{6A4C65AF-6C5A-B447-8454-B9E7223002C6}"/>
                </a:ext>
              </a:extLst>
            </p:cNvPr>
            <p:cNvSpPr>
              <a:spLocks noChangeArrowheads="1"/>
            </p:cNvSpPr>
            <p:nvPr/>
          </p:nvSpPr>
          <p:spPr bwMode="auto">
            <a:xfrm>
              <a:off x="3347864" y="3068960"/>
              <a:ext cx="1872208" cy="432048"/>
            </a:xfrm>
            <a:prstGeom prst="rect">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fr-FR" altLang="fr-FR" sz="1600"/>
                <a:t>name : </a:t>
              </a:r>
              <a:r>
                <a:rPr lang="fr-FR" altLang="fr-FR" sz="1600" b="0"/>
                <a:t>Firstname</a:t>
              </a:r>
            </a:p>
            <a:p>
              <a:pPr eaLnBrk="1" hangingPunct="1">
                <a:spcBef>
                  <a:spcPct val="0"/>
                </a:spcBef>
                <a:buClrTx/>
                <a:buSzTx/>
                <a:buFontTx/>
                <a:buNone/>
              </a:pPr>
              <a:endParaRPr lang="fr-FR" altLang="fr-FR" sz="1600"/>
            </a:p>
          </p:txBody>
        </p:sp>
        <p:sp>
          <p:nvSpPr>
            <p:cNvPr id="8" name="Rectangle 7">
              <a:extLst>
                <a:ext uri="{FF2B5EF4-FFF2-40B4-BE49-F238E27FC236}">
                  <a16:creationId xmlns:a16="http://schemas.microsoft.com/office/drawing/2014/main" id="{CC3072D0-7894-0240-A4C6-B03728252ABB}"/>
                </a:ext>
              </a:extLst>
            </p:cNvPr>
            <p:cNvSpPr>
              <a:spLocks noChangeArrowheads="1"/>
            </p:cNvSpPr>
            <p:nvPr/>
          </p:nvSpPr>
          <p:spPr bwMode="auto">
            <a:xfrm>
              <a:off x="3347864" y="3501008"/>
              <a:ext cx="1872208" cy="432048"/>
            </a:xfrm>
            <a:prstGeom prst="rect">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fr-FR" altLang="fr-FR" sz="1600"/>
                <a:t>value : </a:t>
              </a:r>
              <a:r>
                <a:rPr lang="fr-FR" altLang="fr-FR" sz="1600" b="0"/>
                <a:t>John</a:t>
              </a:r>
            </a:p>
            <a:p>
              <a:pPr eaLnBrk="1" hangingPunct="1">
                <a:spcBef>
                  <a:spcPct val="0"/>
                </a:spcBef>
                <a:buClrTx/>
                <a:buSzTx/>
                <a:buFontTx/>
                <a:buNone/>
              </a:pPr>
              <a:endParaRPr lang="fr-FR" altLang="fr-FR" sz="1600"/>
            </a:p>
          </p:txBody>
        </p:sp>
      </p:grpSp>
      <p:sp>
        <p:nvSpPr>
          <p:cNvPr id="9" name="ZoneTexte 5">
            <a:extLst>
              <a:ext uri="{FF2B5EF4-FFF2-40B4-BE49-F238E27FC236}">
                <a16:creationId xmlns:a16="http://schemas.microsoft.com/office/drawing/2014/main" id="{DD61105A-0AB9-C941-9150-343988010816}"/>
              </a:ext>
            </a:extLst>
          </p:cNvPr>
          <p:cNvSpPr txBox="1">
            <a:spLocks noChangeArrowheads="1"/>
          </p:cNvSpPr>
          <p:nvPr/>
        </p:nvSpPr>
        <p:spPr bwMode="auto">
          <a:xfrm>
            <a:off x="3825870" y="3255466"/>
            <a:ext cx="415766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fr-FR" altLang="fr-FR" sz="1800" b="0" dirty="0">
                <a:latin typeface="Arial" panose="020B0604020202020204" pitchFamily="34" charset="0"/>
                <a:cs typeface="Arial" panose="020B0604020202020204" pitchFamily="34" charset="0"/>
              </a:rPr>
              <a:t>1 </a:t>
            </a:r>
            <a:r>
              <a:rPr lang="fr-FR" altLang="fr-FR" sz="1800" b="0" i="1" dirty="0" err="1">
                <a:latin typeface="Arial" panose="020B0604020202020204" pitchFamily="34" charset="0"/>
                <a:cs typeface="Arial" panose="020B0604020202020204" pitchFamily="34" charset="0"/>
              </a:rPr>
              <a:t>column</a:t>
            </a:r>
            <a:r>
              <a:rPr lang="fr-FR" altLang="fr-FR" sz="1800" b="0" dirty="0">
                <a:latin typeface="Arial" panose="020B0604020202020204" pitchFamily="34" charset="0"/>
                <a:cs typeface="Arial" panose="020B0604020202020204" pitchFamily="34" charset="0"/>
              </a:rPr>
              <a:t> est constituée de 2 champs :</a:t>
            </a:r>
          </a:p>
          <a:p>
            <a:pPr eaLnBrk="1" hangingPunct="1">
              <a:spcBef>
                <a:spcPct val="0"/>
              </a:spcBef>
              <a:buClrTx/>
              <a:buSzTx/>
              <a:buFontTx/>
              <a:buNone/>
            </a:pPr>
            <a:r>
              <a:rPr lang="fr-FR" altLang="fr-FR" sz="1800" b="0" dirty="0">
                <a:latin typeface="Arial" panose="020B0604020202020204" pitchFamily="34" charset="0"/>
                <a:cs typeface="Arial" panose="020B0604020202020204" pitchFamily="34" charset="0"/>
              </a:rPr>
              <a:t>- Name (Key)</a:t>
            </a:r>
          </a:p>
          <a:p>
            <a:pPr eaLnBrk="1" hangingPunct="1">
              <a:spcBef>
                <a:spcPct val="0"/>
              </a:spcBef>
              <a:buClrTx/>
              <a:buSzTx/>
              <a:buFontTx/>
              <a:buNone/>
            </a:pPr>
            <a:r>
              <a:rPr lang="fr-FR" altLang="fr-FR" sz="1800" b="0" dirty="0">
                <a:latin typeface="Arial" panose="020B0604020202020204" pitchFamily="34" charset="0"/>
                <a:cs typeface="Arial" panose="020B0604020202020204" pitchFamily="34" charset="0"/>
              </a:rPr>
              <a:t>- Value</a:t>
            </a:r>
          </a:p>
        </p:txBody>
      </p:sp>
    </p:spTree>
    <p:extLst>
      <p:ext uri="{BB962C8B-B14F-4D97-AF65-F5344CB8AC3E}">
        <p14:creationId xmlns:p14="http://schemas.microsoft.com/office/powerpoint/2010/main" val="1973265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F5516-E186-374F-A348-1052096DFD90}"/>
              </a:ext>
            </a:extLst>
          </p:cNvPr>
          <p:cNvSpPr>
            <a:spLocks noGrp="1"/>
          </p:cNvSpPr>
          <p:nvPr>
            <p:ph type="title"/>
          </p:nvPr>
        </p:nvSpPr>
        <p:spPr/>
        <p:txBody>
          <a:bodyPr/>
          <a:lstStyle/>
          <a:p>
            <a:r>
              <a:rPr lang="fr-FR" dirty="0"/>
              <a:t>Bases orientées colonnes</a:t>
            </a:r>
          </a:p>
        </p:txBody>
      </p:sp>
      <p:sp>
        <p:nvSpPr>
          <p:cNvPr id="4" name="Espace réservé du numéro de diapositive 3">
            <a:extLst>
              <a:ext uri="{FF2B5EF4-FFF2-40B4-BE49-F238E27FC236}">
                <a16:creationId xmlns:a16="http://schemas.microsoft.com/office/drawing/2014/main" id="{4106B14E-3613-2548-9CD8-1D9685BBBD8F}"/>
              </a:ext>
            </a:extLst>
          </p:cNvPr>
          <p:cNvSpPr>
            <a:spLocks noGrp="1"/>
          </p:cNvSpPr>
          <p:nvPr>
            <p:ph type="sldNum" sz="quarter" idx="12"/>
          </p:nvPr>
        </p:nvSpPr>
        <p:spPr/>
        <p:txBody>
          <a:bodyPr/>
          <a:lstStyle/>
          <a:p>
            <a:fld id="{0CFEC368-1D7A-4F81-ABF6-AE0E36BAF64C}" type="slidenum">
              <a:rPr lang="en-US" smtClean="0"/>
              <a:pPr/>
              <a:t>18</a:t>
            </a:fld>
            <a:endParaRPr lang="en-US"/>
          </a:p>
        </p:txBody>
      </p:sp>
      <p:pic>
        <p:nvPicPr>
          <p:cNvPr id="5" name="Image 4">
            <a:extLst>
              <a:ext uri="{FF2B5EF4-FFF2-40B4-BE49-F238E27FC236}">
                <a16:creationId xmlns:a16="http://schemas.microsoft.com/office/drawing/2014/main" id="{F0567B48-A03F-A44B-AABD-9EAF570EB77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667" y="2133600"/>
            <a:ext cx="6408737" cy="444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ZoneTexte 5">
            <a:extLst>
              <a:ext uri="{FF2B5EF4-FFF2-40B4-BE49-F238E27FC236}">
                <a16:creationId xmlns:a16="http://schemas.microsoft.com/office/drawing/2014/main" id="{B96FCB7A-54AD-6041-8139-D8391F6083E8}"/>
              </a:ext>
            </a:extLst>
          </p:cNvPr>
          <p:cNvSpPr txBox="1">
            <a:spLocks noChangeArrowheads="1"/>
          </p:cNvSpPr>
          <p:nvPr/>
        </p:nvSpPr>
        <p:spPr bwMode="auto">
          <a:xfrm>
            <a:off x="6475404" y="3757655"/>
            <a:ext cx="251143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fr-FR" altLang="fr-FR" sz="1800" b="0" dirty="0">
                <a:latin typeface="+mn-lt"/>
              </a:rPr>
              <a:t>2 </a:t>
            </a:r>
            <a:r>
              <a:rPr lang="fr-FR" altLang="fr-FR" sz="1800" b="0" i="1" dirty="0" err="1">
                <a:latin typeface="+mn-lt"/>
              </a:rPr>
              <a:t>SuperColumn</a:t>
            </a:r>
            <a:r>
              <a:rPr lang="fr-FR" altLang="fr-FR" sz="1800" b="0" dirty="0">
                <a:latin typeface="+mn-lt"/>
              </a:rPr>
              <a:t>.</a:t>
            </a:r>
          </a:p>
          <a:p>
            <a:pPr eaLnBrk="1" hangingPunct="1">
              <a:spcBef>
                <a:spcPct val="0"/>
              </a:spcBef>
              <a:buClrTx/>
              <a:buSzTx/>
              <a:buFontTx/>
              <a:buNone/>
            </a:pPr>
            <a:r>
              <a:rPr lang="fr-FR" altLang="fr-FR" sz="1800" b="0" dirty="0">
                <a:latin typeface="+mn-lt"/>
              </a:rPr>
              <a:t>Chaque </a:t>
            </a:r>
            <a:r>
              <a:rPr lang="fr-FR" altLang="fr-FR" sz="1800" b="0" i="1" dirty="0" err="1">
                <a:latin typeface="+mn-lt"/>
              </a:rPr>
              <a:t>SuperColumn</a:t>
            </a:r>
            <a:r>
              <a:rPr lang="fr-FR" altLang="fr-FR" sz="1800" b="0" dirty="0">
                <a:latin typeface="+mn-lt"/>
              </a:rPr>
              <a:t> est ici constituée de 2 </a:t>
            </a:r>
            <a:r>
              <a:rPr lang="fr-FR" altLang="fr-FR" sz="1800" b="0" i="1" dirty="0" err="1">
                <a:latin typeface="+mn-lt"/>
              </a:rPr>
              <a:t>Column</a:t>
            </a:r>
            <a:r>
              <a:rPr lang="fr-FR" altLang="fr-FR" sz="1800" b="0" dirty="0">
                <a:latin typeface="+mn-lt"/>
              </a:rPr>
              <a:t> (</a:t>
            </a:r>
            <a:r>
              <a:rPr lang="fr-FR" altLang="fr-FR" sz="1800" b="0" dirty="0" err="1">
                <a:latin typeface="+mn-lt"/>
              </a:rPr>
              <a:t>fistname</a:t>
            </a:r>
            <a:r>
              <a:rPr lang="fr-FR" altLang="fr-FR" sz="1800" b="0" dirty="0">
                <a:latin typeface="+mn-lt"/>
              </a:rPr>
              <a:t> et </a:t>
            </a:r>
            <a:r>
              <a:rPr lang="fr-FR" altLang="fr-FR" sz="1800" b="0" dirty="0" err="1">
                <a:latin typeface="+mn-lt"/>
              </a:rPr>
              <a:t>lastname</a:t>
            </a:r>
            <a:r>
              <a:rPr lang="fr-FR" altLang="fr-FR" sz="1800" b="0" dirty="0">
                <a:latin typeface="+mn-lt"/>
              </a:rPr>
              <a:t>)</a:t>
            </a:r>
          </a:p>
        </p:txBody>
      </p:sp>
      <p:sp>
        <p:nvSpPr>
          <p:cNvPr id="7" name="ZoneTexte 9">
            <a:extLst>
              <a:ext uri="{FF2B5EF4-FFF2-40B4-BE49-F238E27FC236}">
                <a16:creationId xmlns:a16="http://schemas.microsoft.com/office/drawing/2014/main" id="{F037AE99-534B-6645-AECC-012F1F8A6660}"/>
              </a:ext>
            </a:extLst>
          </p:cNvPr>
          <p:cNvSpPr txBox="1">
            <a:spLocks noChangeArrowheads="1"/>
          </p:cNvSpPr>
          <p:nvPr/>
        </p:nvSpPr>
        <p:spPr bwMode="auto">
          <a:xfrm>
            <a:off x="6475404" y="2205038"/>
            <a:ext cx="251143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fr-FR" altLang="fr-FR" sz="1800" b="0" i="1" dirty="0" err="1">
                <a:latin typeface="+mn-lt"/>
              </a:rPr>
              <a:t>SuperColumn</a:t>
            </a:r>
            <a:r>
              <a:rPr lang="fr-FR" altLang="fr-FR" sz="1800" b="0" i="1" dirty="0">
                <a:latin typeface="+mn-lt"/>
              </a:rPr>
              <a:t> : clé </a:t>
            </a:r>
            <a:r>
              <a:rPr lang="fr-FR" altLang="fr-FR" sz="1800" b="0" dirty="0">
                <a:latin typeface="+mn-lt"/>
              </a:rPr>
              <a:t>(permet d’identifier la ligne)</a:t>
            </a:r>
            <a:r>
              <a:rPr lang="fr-FR" altLang="fr-FR" sz="1800" b="0" i="1" dirty="0">
                <a:latin typeface="+mn-lt"/>
              </a:rPr>
              <a:t>, value </a:t>
            </a:r>
            <a:r>
              <a:rPr lang="fr-FR" altLang="fr-FR" sz="1800" b="0" dirty="0">
                <a:latin typeface="+mn-lt"/>
              </a:rPr>
              <a:t>(liste des colonnes qui la compose)</a:t>
            </a:r>
          </a:p>
        </p:txBody>
      </p:sp>
      <p:sp>
        <p:nvSpPr>
          <p:cNvPr id="8" name="ZoneTexte 1">
            <a:extLst>
              <a:ext uri="{FF2B5EF4-FFF2-40B4-BE49-F238E27FC236}">
                <a16:creationId xmlns:a16="http://schemas.microsoft.com/office/drawing/2014/main" id="{8AF8D2DF-AD4B-9042-92A7-7FD296BDBD0B}"/>
              </a:ext>
            </a:extLst>
          </p:cNvPr>
          <p:cNvSpPr txBox="1">
            <a:spLocks noChangeArrowheads="1"/>
          </p:cNvSpPr>
          <p:nvPr/>
        </p:nvSpPr>
        <p:spPr bwMode="auto">
          <a:xfrm>
            <a:off x="1113361" y="1528008"/>
            <a:ext cx="69172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fr-FR" altLang="fr-FR" sz="1800" b="1" i="1">
                <a:solidFill>
                  <a:srgbClr val="C00000"/>
                </a:solidFill>
                <a:latin typeface="Arial" panose="020B0604020202020204" pitchFamily="34" charset="0"/>
                <a:cs typeface="Arial" panose="020B0604020202020204" pitchFamily="34" charset="0"/>
              </a:rPr>
              <a:t>Le concept de supercolumn n’existe pas dans tous les outils.</a:t>
            </a:r>
          </a:p>
        </p:txBody>
      </p:sp>
    </p:spTree>
    <p:extLst>
      <p:ext uri="{BB962C8B-B14F-4D97-AF65-F5344CB8AC3E}">
        <p14:creationId xmlns:p14="http://schemas.microsoft.com/office/powerpoint/2010/main" val="3273830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F5516-E186-374F-A348-1052096DFD90}"/>
              </a:ext>
            </a:extLst>
          </p:cNvPr>
          <p:cNvSpPr>
            <a:spLocks noGrp="1"/>
          </p:cNvSpPr>
          <p:nvPr>
            <p:ph type="title"/>
          </p:nvPr>
        </p:nvSpPr>
        <p:spPr/>
        <p:txBody>
          <a:bodyPr/>
          <a:lstStyle/>
          <a:p>
            <a:r>
              <a:rPr lang="fr-FR" altLang="fr-FR" dirty="0">
                <a:ea typeface="ＭＳ Ｐゴシック" panose="020B0600070205080204" pitchFamily="34" charset="-128"/>
              </a:rPr>
              <a:t>Bases orientées colonnes</a:t>
            </a:r>
            <a:endParaRPr lang="fr-FR" dirty="0"/>
          </a:p>
        </p:txBody>
      </p:sp>
      <p:sp>
        <p:nvSpPr>
          <p:cNvPr id="4" name="Espace réservé du numéro de diapositive 3">
            <a:extLst>
              <a:ext uri="{FF2B5EF4-FFF2-40B4-BE49-F238E27FC236}">
                <a16:creationId xmlns:a16="http://schemas.microsoft.com/office/drawing/2014/main" id="{4106B14E-3613-2548-9CD8-1D9685BBBD8F}"/>
              </a:ext>
            </a:extLst>
          </p:cNvPr>
          <p:cNvSpPr>
            <a:spLocks noGrp="1"/>
          </p:cNvSpPr>
          <p:nvPr>
            <p:ph type="sldNum" sz="quarter" idx="12"/>
          </p:nvPr>
        </p:nvSpPr>
        <p:spPr/>
        <p:txBody>
          <a:bodyPr/>
          <a:lstStyle/>
          <a:p>
            <a:fld id="{0CFEC368-1D7A-4F81-ABF6-AE0E36BAF64C}" type="slidenum">
              <a:rPr lang="en-US" smtClean="0"/>
              <a:pPr/>
              <a:t>19</a:t>
            </a:fld>
            <a:endParaRPr lang="en-US"/>
          </a:p>
        </p:txBody>
      </p:sp>
      <p:pic>
        <p:nvPicPr>
          <p:cNvPr id="5" name="Image 1">
            <a:extLst>
              <a:ext uri="{FF2B5EF4-FFF2-40B4-BE49-F238E27FC236}">
                <a16:creationId xmlns:a16="http://schemas.microsoft.com/office/drawing/2014/main" id="{96FF3766-0992-4848-B1B2-88DDBA240CE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89022" y="1436396"/>
            <a:ext cx="7083997" cy="477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91180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F5516-E186-374F-A348-1052096DFD90}"/>
              </a:ext>
            </a:extLst>
          </p:cNvPr>
          <p:cNvSpPr>
            <a:spLocks noGrp="1"/>
          </p:cNvSpPr>
          <p:nvPr>
            <p:ph type="title"/>
          </p:nvPr>
        </p:nvSpPr>
        <p:spPr/>
        <p:txBody>
          <a:bodyPr/>
          <a:lstStyle/>
          <a:p>
            <a:r>
              <a:rPr lang="fr-FR" altLang="fr-FR" dirty="0">
                <a:ea typeface="ＭＳ Ｐゴシック" panose="020B0600070205080204" pitchFamily="34" charset="-128"/>
              </a:rPr>
              <a:t>Bases orientées colonnes</a:t>
            </a:r>
            <a:endParaRPr lang="fr-FR" dirty="0"/>
          </a:p>
        </p:txBody>
      </p:sp>
      <p:sp>
        <p:nvSpPr>
          <p:cNvPr id="3" name="Espace réservé du contenu 2">
            <a:extLst>
              <a:ext uri="{FF2B5EF4-FFF2-40B4-BE49-F238E27FC236}">
                <a16:creationId xmlns:a16="http://schemas.microsoft.com/office/drawing/2014/main" id="{408355C9-D2BB-7842-88BF-BF7EFDAFF959}"/>
              </a:ext>
            </a:extLst>
          </p:cNvPr>
          <p:cNvSpPr>
            <a:spLocks noGrp="1"/>
          </p:cNvSpPr>
          <p:nvPr>
            <p:ph idx="1"/>
          </p:nvPr>
        </p:nvSpPr>
        <p:spPr/>
        <p:txBody>
          <a:bodyPr/>
          <a:lstStyle/>
          <a:p>
            <a:r>
              <a:rPr lang="fr-FR" dirty="0"/>
              <a:t>Les super-­colonnes situées dans les familles de colonnes sont souvent utilisées comme les lignes d’une table de jointure dans le modèle relationnel. </a:t>
            </a:r>
          </a:p>
          <a:p>
            <a:r>
              <a:rPr lang="fr-FR" dirty="0"/>
              <a:t>Comparativement au modèle relationnel, les bases orientées colonnes offrent plus de flexibilité : </a:t>
            </a:r>
          </a:p>
          <a:p>
            <a:pPr lvl="1"/>
            <a:r>
              <a:rPr lang="fr-FR" dirty="0"/>
              <a:t>Possible d’ajouter une colonne ou une super colonne à n’importe quelle ligne d’une famille de colonnes à tout instant. </a:t>
            </a:r>
          </a:p>
          <a:p>
            <a:r>
              <a:rPr lang="fr-FR" dirty="0"/>
              <a:t>Exemples : </a:t>
            </a:r>
            <a:r>
              <a:rPr lang="fr-FR" dirty="0" err="1"/>
              <a:t>Hbase</a:t>
            </a:r>
            <a:r>
              <a:rPr lang="fr-FR" dirty="0"/>
              <a:t> (Apache), </a:t>
            </a:r>
            <a:r>
              <a:rPr lang="fr-FR" dirty="0" err="1"/>
              <a:t>Accumulo</a:t>
            </a:r>
            <a:r>
              <a:rPr lang="fr-FR" dirty="0"/>
              <a:t>, Amazon </a:t>
            </a:r>
            <a:r>
              <a:rPr lang="fr-FR" dirty="0" err="1"/>
              <a:t>SimpleDB</a:t>
            </a:r>
            <a:r>
              <a:rPr lang="fr-FR" dirty="0"/>
              <a:t>, Google Cloud </a:t>
            </a:r>
            <a:r>
              <a:rPr lang="fr-FR" dirty="0" err="1"/>
              <a:t>BigTable</a:t>
            </a:r>
            <a:r>
              <a:rPr lang="fr-FR" dirty="0"/>
              <a:t>. </a:t>
            </a:r>
          </a:p>
          <a:p>
            <a:r>
              <a:rPr lang="fr-FR" sz="1600" i="1" dirty="0"/>
              <a:t>Remarque : Apache Cassandra n’est plus réellement une base orientée colonnes, mais documents.</a:t>
            </a:r>
          </a:p>
        </p:txBody>
      </p:sp>
      <p:sp>
        <p:nvSpPr>
          <p:cNvPr id="4" name="Espace réservé du numéro de diapositive 3">
            <a:extLst>
              <a:ext uri="{FF2B5EF4-FFF2-40B4-BE49-F238E27FC236}">
                <a16:creationId xmlns:a16="http://schemas.microsoft.com/office/drawing/2014/main" id="{4106B14E-3613-2548-9CD8-1D9685BBBD8F}"/>
              </a:ext>
            </a:extLst>
          </p:cNvPr>
          <p:cNvSpPr>
            <a:spLocks noGrp="1"/>
          </p:cNvSpPr>
          <p:nvPr>
            <p:ph type="sldNum" sz="quarter" idx="12"/>
          </p:nvPr>
        </p:nvSpPr>
        <p:spPr/>
        <p:txBody>
          <a:bodyPr/>
          <a:lstStyle/>
          <a:p>
            <a:fld id="{0CFEC368-1D7A-4F81-ABF6-AE0E36BAF64C}" type="slidenum">
              <a:rPr lang="en-US" smtClean="0"/>
              <a:pPr/>
              <a:t>20</a:t>
            </a:fld>
            <a:endParaRPr lang="en-US"/>
          </a:p>
        </p:txBody>
      </p:sp>
    </p:spTree>
    <p:extLst>
      <p:ext uri="{BB962C8B-B14F-4D97-AF65-F5344CB8AC3E}">
        <p14:creationId xmlns:p14="http://schemas.microsoft.com/office/powerpoint/2010/main" val="2491667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F5516-E186-374F-A348-1052096DFD90}"/>
              </a:ext>
            </a:extLst>
          </p:cNvPr>
          <p:cNvSpPr>
            <a:spLocks noGrp="1"/>
          </p:cNvSpPr>
          <p:nvPr>
            <p:ph type="title"/>
          </p:nvPr>
        </p:nvSpPr>
        <p:spPr/>
        <p:txBody>
          <a:bodyPr/>
          <a:lstStyle/>
          <a:p>
            <a:r>
              <a:rPr lang="fr-FR" altLang="fr-FR" dirty="0">
                <a:ea typeface="ＭＳ Ｐゴシック" panose="020B0600070205080204" pitchFamily="34" charset="-128"/>
              </a:rPr>
              <a:t>Bases orientées graphes</a:t>
            </a:r>
            <a:endParaRPr lang="fr-FR" dirty="0"/>
          </a:p>
        </p:txBody>
      </p:sp>
      <p:sp>
        <p:nvSpPr>
          <p:cNvPr id="4" name="Espace réservé du numéro de diapositive 3">
            <a:extLst>
              <a:ext uri="{FF2B5EF4-FFF2-40B4-BE49-F238E27FC236}">
                <a16:creationId xmlns:a16="http://schemas.microsoft.com/office/drawing/2014/main" id="{4106B14E-3613-2548-9CD8-1D9685BBBD8F}"/>
              </a:ext>
            </a:extLst>
          </p:cNvPr>
          <p:cNvSpPr>
            <a:spLocks noGrp="1"/>
          </p:cNvSpPr>
          <p:nvPr>
            <p:ph type="sldNum" sz="quarter" idx="12"/>
          </p:nvPr>
        </p:nvSpPr>
        <p:spPr/>
        <p:txBody>
          <a:bodyPr/>
          <a:lstStyle/>
          <a:p>
            <a:fld id="{0CFEC368-1D7A-4F81-ABF6-AE0E36BAF64C}" type="slidenum">
              <a:rPr lang="en-US" smtClean="0"/>
              <a:pPr/>
              <a:t>21</a:t>
            </a:fld>
            <a:endParaRPr lang="en-US"/>
          </a:p>
        </p:txBody>
      </p:sp>
      <p:pic>
        <p:nvPicPr>
          <p:cNvPr id="5" name="Image 1" descr="base graphes.tiff">
            <a:extLst>
              <a:ext uri="{FF2B5EF4-FFF2-40B4-BE49-F238E27FC236}">
                <a16:creationId xmlns:a16="http://schemas.microsoft.com/office/drawing/2014/main" id="{ED0E73F9-00DB-614E-98AC-4134E777802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33654" y="3429000"/>
            <a:ext cx="5958568" cy="3082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Espace réservé du contenu 2">
            <a:extLst>
              <a:ext uri="{FF2B5EF4-FFF2-40B4-BE49-F238E27FC236}">
                <a16:creationId xmlns:a16="http://schemas.microsoft.com/office/drawing/2014/main" id="{408355C9-D2BB-7842-88BF-BF7EFDAFF959}"/>
              </a:ext>
            </a:extLst>
          </p:cNvPr>
          <p:cNvSpPr>
            <a:spLocks noGrp="1"/>
          </p:cNvSpPr>
          <p:nvPr>
            <p:ph idx="1"/>
          </p:nvPr>
        </p:nvSpPr>
        <p:spPr>
          <a:xfrm>
            <a:off x="457200" y="1387233"/>
            <a:ext cx="8229600" cy="3741979"/>
          </a:xfrm>
        </p:spPr>
        <p:txBody>
          <a:bodyPr>
            <a:normAutofit fontScale="85000" lnSpcReduction="20000"/>
          </a:bodyPr>
          <a:lstStyle/>
          <a:p>
            <a:r>
              <a:rPr lang="fr-FR" dirty="0"/>
              <a:t>Utilisée pour les problématiques liées aux réseaux (cartographie, relations entre personnes)</a:t>
            </a:r>
          </a:p>
          <a:p>
            <a:r>
              <a:rPr lang="fr-FR" dirty="0"/>
              <a:t>Principes :</a:t>
            </a:r>
          </a:p>
          <a:p>
            <a:pPr lvl="1"/>
            <a:r>
              <a:rPr lang="fr-FR" dirty="0"/>
              <a:t>Utilisation d’un moteur de stockage pour les objets (qui se présentent sous la forme d’une base documentaire, chaque entité de cette base étant nommée nœud). </a:t>
            </a:r>
          </a:p>
          <a:p>
            <a:pPr lvl="1"/>
            <a:r>
              <a:rPr lang="fr-FR" dirty="0"/>
              <a:t>Mécanisme permettant de décrire les arcs (relations entre les objets), ceux-­ci étant orientés et disposant de propriétés (nom, date, ...).</a:t>
            </a:r>
          </a:p>
          <a:p>
            <a:r>
              <a:rPr lang="fr-FR" dirty="0"/>
              <a:t>Exemples : </a:t>
            </a:r>
          </a:p>
          <a:p>
            <a:pPr lvl="1"/>
            <a:r>
              <a:rPr lang="fr-FR" dirty="0"/>
              <a:t>Neo4J</a:t>
            </a:r>
          </a:p>
          <a:p>
            <a:pPr lvl="1"/>
            <a:r>
              <a:rPr lang="fr-FR" dirty="0" err="1"/>
              <a:t>GraphDB</a:t>
            </a:r>
            <a:endParaRPr lang="fr-FR" dirty="0"/>
          </a:p>
          <a:p>
            <a:pPr lvl="1"/>
            <a:r>
              <a:rPr lang="fr-FR" dirty="0"/>
              <a:t>Amazon Neptune</a:t>
            </a:r>
          </a:p>
          <a:p>
            <a:pPr lvl="1"/>
            <a:r>
              <a:rPr lang="fr-FR" dirty="0" err="1"/>
              <a:t>InfiniteGraph</a:t>
            </a:r>
            <a:endParaRPr lang="fr-FR" dirty="0"/>
          </a:p>
          <a:p>
            <a:pPr lvl="1"/>
            <a:r>
              <a:rPr lang="fr-FR" dirty="0"/>
              <a:t>(Oracle, SQL Server)</a:t>
            </a:r>
          </a:p>
          <a:p>
            <a:pPr lvl="1"/>
            <a:endParaRPr lang="fr-FR" dirty="0"/>
          </a:p>
        </p:txBody>
      </p:sp>
    </p:spTree>
    <p:extLst>
      <p:ext uri="{BB962C8B-B14F-4D97-AF65-F5344CB8AC3E}">
        <p14:creationId xmlns:p14="http://schemas.microsoft.com/office/powerpoint/2010/main" val="34281562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F5516-E186-374F-A348-1052096DFD90}"/>
              </a:ext>
            </a:extLst>
          </p:cNvPr>
          <p:cNvSpPr>
            <a:spLocks noGrp="1"/>
          </p:cNvSpPr>
          <p:nvPr>
            <p:ph type="title"/>
          </p:nvPr>
        </p:nvSpPr>
        <p:spPr/>
        <p:txBody>
          <a:bodyPr>
            <a:normAutofit fontScale="90000"/>
          </a:bodyPr>
          <a:lstStyle/>
          <a:p>
            <a:r>
              <a:rPr lang="fr-FR" altLang="fr-FR" dirty="0" err="1">
                <a:ea typeface="ＭＳ Ｐゴシック" panose="020B0600070205080204" pitchFamily="34" charset="-128"/>
              </a:rPr>
              <a:t>Search</a:t>
            </a:r>
            <a:r>
              <a:rPr lang="fr-FR" altLang="fr-FR" dirty="0">
                <a:ea typeface="ＭＳ Ｐゴシック" panose="020B0600070205080204" pitchFamily="34" charset="-128"/>
              </a:rPr>
              <a:t> </a:t>
            </a:r>
            <a:r>
              <a:rPr lang="fr-FR" altLang="fr-FR" dirty="0" err="1">
                <a:ea typeface="ＭＳ Ｐゴシック" panose="020B0600070205080204" pitchFamily="34" charset="-128"/>
              </a:rPr>
              <a:t>engines</a:t>
            </a:r>
            <a:r>
              <a:rPr lang="fr-FR" altLang="fr-FR" dirty="0">
                <a:ea typeface="ＭＳ Ｐゴシック" panose="020B0600070205080204" pitchFamily="34" charset="-128"/>
              </a:rPr>
              <a:t> (moteurs de recherche)</a:t>
            </a:r>
            <a:endParaRPr lang="fr-FR" dirty="0"/>
          </a:p>
        </p:txBody>
      </p:sp>
      <p:sp>
        <p:nvSpPr>
          <p:cNvPr id="3" name="Espace réservé du contenu 2">
            <a:extLst>
              <a:ext uri="{FF2B5EF4-FFF2-40B4-BE49-F238E27FC236}">
                <a16:creationId xmlns:a16="http://schemas.microsoft.com/office/drawing/2014/main" id="{408355C9-D2BB-7842-88BF-BF7EFDAFF959}"/>
              </a:ext>
            </a:extLst>
          </p:cNvPr>
          <p:cNvSpPr>
            <a:spLocks noGrp="1"/>
          </p:cNvSpPr>
          <p:nvPr>
            <p:ph idx="1"/>
          </p:nvPr>
        </p:nvSpPr>
        <p:spPr/>
        <p:txBody>
          <a:bodyPr/>
          <a:lstStyle/>
          <a:p>
            <a:r>
              <a:rPr lang="fr-FR" dirty="0"/>
              <a:t>Outils dédiés à l'indexation et la recherche des données.</a:t>
            </a:r>
          </a:p>
          <a:p>
            <a:r>
              <a:rPr lang="fr-FR" dirty="0"/>
              <a:t>Fournissent un moteur de recherche distribué et multi-entité souvent via une interface REST.</a:t>
            </a:r>
          </a:p>
          <a:p>
            <a:r>
              <a:rPr lang="fr-FR" dirty="0"/>
              <a:t>Intègrent souvent un SGBD </a:t>
            </a:r>
            <a:r>
              <a:rPr lang="fr-FR" dirty="0" err="1"/>
              <a:t>NoSQL</a:t>
            </a:r>
            <a:r>
              <a:rPr lang="fr-FR" dirty="0"/>
              <a:t> (souvent orienté-colonnes ou orienté-documents) =&gt; il s’agit plus d’une surcouche.</a:t>
            </a:r>
          </a:p>
          <a:p>
            <a:r>
              <a:rPr lang="fr-FR" dirty="0"/>
              <a:t>Exemple : </a:t>
            </a:r>
            <a:r>
              <a:rPr lang="fr-FR" dirty="0" err="1"/>
              <a:t>Elasticsearch</a:t>
            </a:r>
            <a:r>
              <a:rPr lang="fr-FR" dirty="0"/>
              <a:t>, </a:t>
            </a:r>
            <a:r>
              <a:rPr lang="fr-FR" dirty="0" err="1"/>
              <a:t>Splunk</a:t>
            </a:r>
            <a:endParaRPr lang="fr-FR" dirty="0"/>
          </a:p>
        </p:txBody>
      </p:sp>
      <p:sp>
        <p:nvSpPr>
          <p:cNvPr id="4" name="Espace réservé du numéro de diapositive 3">
            <a:extLst>
              <a:ext uri="{FF2B5EF4-FFF2-40B4-BE49-F238E27FC236}">
                <a16:creationId xmlns:a16="http://schemas.microsoft.com/office/drawing/2014/main" id="{4106B14E-3613-2548-9CD8-1D9685BBBD8F}"/>
              </a:ext>
            </a:extLst>
          </p:cNvPr>
          <p:cNvSpPr>
            <a:spLocks noGrp="1"/>
          </p:cNvSpPr>
          <p:nvPr>
            <p:ph type="sldNum" sz="quarter" idx="12"/>
          </p:nvPr>
        </p:nvSpPr>
        <p:spPr/>
        <p:txBody>
          <a:bodyPr/>
          <a:lstStyle/>
          <a:p>
            <a:fld id="{0CFEC368-1D7A-4F81-ABF6-AE0E36BAF64C}" type="slidenum">
              <a:rPr lang="en-US" smtClean="0"/>
              <a:pPr/>
              <a:t>22</a:t>
            </a:fld>
            <a:endParaRPr lang="en-US"/>
          </a:p>
        </p:txBody>
      </p:sp>
    </p:spTree>
    <p:extLst>
      <p:ext uri="{BB962C8B-B14F-4D97-AF65-F5344CB8AC3E}">
        <p14:creationId xmlns:p14="http://schemas.microsoft.com/office/powerpoint/2010/main" val="32559959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F5516-E186-374F-A348-1052096DFD90}"/>
              </a:ext>
            </a:extLst>
          </p:cNvPr>
          <p:cNvSpPr>
            <a:spLocks noGrp="1"/>
          </p:cNvSpPr>
          <p:nvPr>
            <p:ph type="title"/>
          </p:nvPr>
        </p:nvSpPr>
        <p:spPr/>
        <p:txBody>
          <a:bodyPr/>
          <a:lstStyle/>
          <a:p>
            <a:r>
              <a:rPr lang="fr-FR" altLang="fr-FR" dirty="0">
                <a:ea typeface="ＭＳ Ｐゴシック" panose="020B0600070205080204" pitchFamily="34" charset="-128"/>
              </a:rPr>
              <a:t>Time </a:t>
            </a:r>
            <a:r>
              <a:rPr lang="fr-FR" altLang="fr-FR" dirty="0" err="1">
                <a:ea typeface="ＭＳ Ｐゴシック" panose="020B0600070205080204" pitchFamily="34" charset="-128"/>
              </a:rPr>
              <a:t>series</a:t>
            </a:r>
            <a:r>
              <a:rPr lang="fr-FR" altLang="fr-FR" dirty="0">
                <a:ea typeface="ＭＳ Ｐゴシック" panose="020B0600070205080204" pitchFamily="34" charset="-128"/>
              </a:rPr>
              <a:t> DB</a:t>
            </a:r>
            <a:endParaRPr lang="fr-FR" dirty="0"/>
          </a:p>
        </p:txBody>
      </p:sp>
      <p:sp>
        <p:nvSpPr>
          <p:cNvPr id="3" name="Espace réservé du contenu 2">
            <a:extLst>
              <a:ext uri="{FF2B5EF4-FFF2-40B4-BE49-F238E27FC236}">
                <a16:creationId xmlns:a16="http://schemas.microsoft.com/office/drawing/2014/main" id="{408355C9-D2BB-7842-88BF-BF7EFDAFF959}"/>
              </a:ext>
            </a:extLst>
          </p:cNvPr>
          <p:cNvSpPr>
            <a:spLocks noGrp="1"/>
          </p:cNvSpPr>
          <p:nvPr>
            <p:ph idx="1"/>
          </p:nvPr>
        </p:nvSpPr>
        <p:spPr/>
        <p:txBody>
          <a:bodyPr>
            <a:normAutofit fontScale="92500" lnSpcReduction="10000"/>
          </a:bodyPr>
          <a:lstStyle/>
          <a:p>
            <a:r>
              <a:rPr lang="fr-FR" dirty="0"/>
              <a:t>Conçues pour gérer des données de séries chronologiques ou des tableaux de nombres indexés par heure (une date / heure ou une plage de date / heure).</a:t>
            </a:r>
          </a:p>
          <a:p>
            <a:r>
              <a:rPr lang="fr-FR" dirty="0"/>
              <a:t>Exemples de time </a:t>
            </a:r>
            <a:r>
              <a:rPr lang="fr-FR" dirty="0" err="1"/>
              <a:t>series</a:t>
            </a:r>
            <a:r>
              <a:rPr lang="fr-FR" dirty="0"/>
              <a:t> :</a:t>
            </a:r>
          </a:p>
          <a:p>
            <a:pPr lvl="1"/>
            <a:r>
              <a:rPr lang="fr-FR" dirty="0"/>
              <a:t>Relevés périodiques de températures</a:t>
            </a:r>
          </a:p>
          <a:p>
            <a:pPr lvl="1"/>
            <a:r>
              <a:rPr lang="fr-FR" dirty="0"/>
              <a:t>Série chronologique de consommation d’énergie,</a:t>
            </a:r>
          </a:p>
          <a:p>
            <a:pPr lvl="1"/>
            <a:r>
              <a:rPr lang="fr-FR" dirty="0"/>
              <a:t>Cours d’actions (bourse)</a:t>
            </a:r>
          </a:p>
          <a:p>
            <a:pPr lvl="1"/>
            <a:r>
              <a:rPr lang="fr-FR" dirty="0"/>
              <a:t>Etc.</a:t>
            </a:r>
          </a:p>
          <a:p>
            <a:r>
              <a:rPr lang="fr-FR" dirty="0"/>
              <a:t>Dédiés à gérer une logique complexe ou des règles métier et un volume de transactions élevé pour les données de séries temporelles</a:t>
            </a:r>
          </a:p>
          <a:p>
            <a:r>
              <a:rPr lang="fr-FR" dirty="0"/>
              <a:t>Exemples : </a:t>
            </a:r>
            <a:r>
              <a:rPr lang="fr-FR" dirty="0" err="1"/>
              <a:t>InfluxDB</a:t>
            </a:r>
            <a:r>
              <a:rPr lang="fr-FR" dirty="0"/>
              <a:t>, </a:t>
            </a:r>
            <a:r>
              <a:rPr lang="fr-FR" dirty="0" err="1"/>
              <a:t>Prometheus</a:t>
            </a:r>
            <a:r>
              <a:rPr lang="fr-FR" dirty="0"/>
              <a:t>, </a:t>
            </a:r>
            <a:r>
              <a:rPr lang="fr-FR" dirty="0" err="1"/>
              <a:t>Riak</a:t>
            </a:r>
            <a:r>
              <a:rPr lang="fr-FR" dirty="0"/>
              <a:t> TS, Graphite, </a:t>
            </a:r>
            <a:r>
              <a:rPr lang="fr-FR" dirty="0" err="1"/>
              <a:t>MongoDB</a:t>
            </a:r>
            <a:r>
              <a:rPr lang="fr-FR" dirty="0"/>
              <a:t> (depuis la v5)</a:t>
            </a:r>
          </a:p>
          <a:p>
            <a:r>
              <a:rPr lang="fr-FR" dirty="0"/>
              <a:t>Il existe aussi des SGBD relationnels (voire objet) dédiés à la gestion des TS comme </a:t>
            </a:r>
            <a:r>
              <a:rPr lang="fr-FR" dirty="0" err="1"/>
              <a:t>Informix</a:t>
            </a:r>
            <a:r>
              <a:rPr lang="fr-FR" dirty="0"/>
              <a:t>-TS</a:t>
            </a:r>
          </a:p>
        </p:txBody>
      </p:sp>
      <p:sp>
        <p:nvSpPr>
          <p:cNvPr id="4" name="Espace réservé du numéro de diapositive 3">
            <a:extLst>
              <a:ext uri="{FF2B5EF4-FFF2-40B4-BE49-F238E27FC236}">
                <a16:creationId xmlns:a16="http://schemas.microsoft.com/office/drawing/2014/main" id="{4106B14E-3613-2548-9CD8-1D9685BBBD8F}"/>
              </a:ext>
            </a:extLst>
          </p:cNvPr>
          <p:cNvSpPr>
            <a:spLocks noGrp="1"/>
          </p:cNvSpPr>
          <p:nvPr>
            <p:ph type="sldNum" sz="quarter" idx="12"/>
          </p:nvPr>
        </p:nvSpPr>
        <p:spPr/>
        <p:txBody>
          <a:bodyPr/>
          <a:lstStyle/>
          <a:p>
            <a:fld id="{0CFEC368-1D7A-4F81-ABF6-AE0E36BAF64C}" type="slidenum">
              <a:rPr lang="en-US" smtClean="0"/>
              <a:pPr/>
              <a:t>23</a:t>
            </a:fld>
            <a:endParaRPr lang="en-US"/>
          </a:p>
        </p:txBody>
      </p:sp>
    </p:spTree>
    <p:extLst>
      <p:ext uri="{BB962C8B-B14F-4D97-AF65-F5344CB8AC3E}">
        <p14:creationId xmlns:p14="http://schemas.microsoft.com/office/powerpoint/2010/main" val="16197431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9D34CB-186C-FC48-BF4A-D209A47FFDA1}"/>
              </a:ext>
            </a:extLst>
          </p:cNvPr>
          <p:cNvSpPr>
            <a:spLocks noGrp="1"/>
          </p:cNvSpPr>
          <p:nvPr>
            <p:ph type="title"/>
          </p:nvPr>
        </p:nvSpPr>
        <p:spPr/>
        <p:txBody>
          <a:bodyPr/>
          <a:lstStyle/>
          <a:p>
            <a:r>
              <a:rPr lang="fr-FR" dirty="0"/>
              <a:t>Théorème CAP</a:t>
            </a:r>
          </a:p>
        </p:txBody>
      </p:sp>
      <p:sp>
        <p:nvSpPr>
          <p:cNvPr id="4" name="Espace réservé du numéro de diapositive 3">
            <a:extLst>
              <a:ext uri="{FF2B5EF4-FFF2-40B4-BE49-F238E27FC236}">
                <a16:creationId xmlns:a16="http://schemas.microsoft.com/office/drawing/2014/main" id="{A7B533DF-FE9D-ED47-915A-C10C5F7137A8}"/>
              </a:ext>
            </a:extLst>
          </p:cNvPr>
          <p:cNvSpPr>
            <a:spLocks noGrp="1"/>
          </p:cNvSpPr>
          <p:nvPr>
            <p:ph type="sldNum" sz="quarter" idx="12"/>
          </p:nvPr>
        </p:nvSpPr>
        <p:spPr/>
        <p:txBody>
          <a:bodyPr/>
          <a:lstStyle/>
          <a:p>
            <a:fld id="{0CFEC368-1D7A-4F81-ABF6-AE0E36BAF64C}" type="slidenum">
              <a:rPr lang="en-US" smtClean="0"/>
              <a:pPr/>
              <a:t>24</a:t>
            </a:fld>
            <a:endParaRPr lang="en-US"/>
          </a:p>
        </p:txBody>
      </p:sp>
      <p:pic>
        <p:nvPicPr>
          <p:cNvPr id="5" name="Image 2" descr="CAP.tiff">
            <a:extLst>
              <a:ext uri="{FF2B5EF4-FFF2-40B4-BE49-F238E27FC236}">
                <a16:creationId xmlns:a16="http://schemas.microsoft.com/office/drawing/2014/main" id="{0B9E7820-5E1B-D340-A472-2C4578B2D4D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62580" y="1098794"/>
            <a:ext cx="5564188" cy="5219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ZoneTexte 2">
            <a:extLst>
              <a:ext uri="{FF2B5EF4-FFF2-40B4-BE49-F238E27FC236}">
                <a16:creationId xmlns:a16="http://schemas.microsoft.com/office/drawing/2014/main" id="{F90F8544-422A-364F-8C16-0CDFF16A9B9B}"/>
              </a:ext>
            </a:extLst>
          </p:cNvPr>
          <p:cNvSpPr txBox="1"/>
          <p:nvPr/>
        </p:nvSpPr>
        <p:spPr>
          <a:xfrm>
            <a:off x="815749" y="2692859"/>
            <a:ext cx="2743200" cy="1015663"/>
          </a:xfrm>
          <a:prstGeom prst="rect">
            <a:avLst/>
          </a:prstGeom>
          <a:noFill/>
        </p:spPr>
        <p:txBody>
          <a:bodyPr wrap="square" rtlCol="0">
            <a:spAutoFit/>
          </a:bodyPr>
          <a:lstStyle/>
          <a:p>
            <a:r>
              <a:rPr lang="fr-FR" sz="1500" i="1" dirty="0"/>
              <a:t>SGBD relationnels : PostgreSQL</a:t>
            </a:r>
          </a:p>
          <a:p>
            <a:r>
              <a:rPr lang="fr-FR" sz="1500" i="1" dirty="0"/>
              <a:t>Oracle, MySQL, SQL Server, IBM DB2, etc.</a:t>
            </a:r>
          </a:p>
        </p:txBody>
      </p:sp>
      <p:sp>
        <p:nvSpPr>
          <p:cNvPr id="6" name="ZoneTexte 5">
            <a:extLst>
              <a:ext uri="{FF2B5EF4-FFF2-40B4-BE49-F238E27FC236}">
                <a16:creationId xmlns:a16="http://schemas.microsoft.com/office/drawing/2014/main" id="{AC6ED99C-A5EF-054E-B569-78BD426B65D2}"/>
              </a:ext>
            </a:extLst>
          </p:cNvPr>
          <p:cNvSpPr txBox="1"/>
          <p:nvPr/>
        </p:nvSpPr>
        <p:spPr>
          <a:xfrm>
            <a:off x="3880412" y="5246915"/>
            <a:ext cx="1453588" cy="1477328"/>
          </a:xfrm>
          <a:prstGeom prst="rect">
            <a:avLst/>
          </a:prstGeom>
          <a:noFill/>
        </p:spPr>
        <p:txBody>
          <a:bodyPr wrap="square" rtlCol="0">
            <a:spAutoFit/>
          </a:bodyPr>
          <a:lstStyle/>
          <a:p>
            <a:pPr algn="ctr"/>
            <a:r>
              <a:rPr lang="fr-FR" sz="1500" i="1" dirty="0" err="1"/>
              <a:t>MongoDB</a:t>
            </a:r>
            <a:endParaRPr lang="fr-FR" sz="1500" i="1" dirty="0"/>
          </a:p>
          <a:p>
            <a:pPr algn="ctr"/>
            <a:r>
              <a:rPr lang="fr-FR" sz="1500" i="1" dirty="0"/>
              <a:t>Neo4J</a:t>
            </a:r>
          </a:p>
          <a:p>
            <a:pPr algn="ctr"/>
            <a:r>
              <a:rPr lang="fr-FR" sz="1500" i="1" dirty="0"/>
              <a:t>Redis</a:t>
            </a:r>
          </a:p>
          <a:p>
            <a:pPr algn="ctr"/>
            <a:r>
              <a:rPr lang="fr-FR" sz="1500" i="1" dirty="0" err="1"/>
              <a:t>HBase</a:t>
            </a:r>
            <a:endParaRPr lang="fr-FR" sz="1500" i="1" dirty="0"/>
          </a:p>
          <a:p>
            <a:pPr algn="ctr"/>
            <a:r>
              <a:rPr lang="fr-FR" sz="1500" i="1" dirty="0" err="1"/>
              <a:t>BigTable</a:t>
            </a:r>
            <a:endParaRPr lang="fr-FR" sz="1500" i="1" dirty="0"/>
          </a:p>
          <a:p>
            <a:pPr algn="ctr"/>
            <a:r>
              <a:rPr lang="fr-FR" sz="1500" i="1" dirty="0"/>
              <a:t>Cosmos DB</a:t>
            </a:r>
          </a:p>
        </p:txBody>
      </p:sp>
      <p:sp>
        <p:nvSpPr>
          <p:cNvPr id="7" name="ZoneTexte 6">
            <a:extLst>
              <a:ext uri="{FF2B5EF4-FFF2-40B4-BE49-F238E27FC236}">
                <a16:creationId xmlns:a16="http://schemas.microsoft.com/office/drawing/2014/main" id="{0F2E5381-EF64-924B-B041-4062F555C9FF}"/>
              </a:ext>
            </a:extLst>
          </p:cNvPr>
          <p:cNvSpPr txBox="1"/>
          <p:nvPr/>
        </p:nvSpPr>
        <p:spPr>
          <a:xfrm>
            <a:off x="6270849" y="2687044"/>
            <a:ext cx="2221141" cy="1708160"/>
          </a:xfrm>
          <a:prstGeom prst="rect">
            <a:avLst/>
          </a:prstGeom>
          <a:noFill/>
        </p:spPr>
        <p:txBody>
          <a:bodyPr wrap="square" rtlCol="0">
            <a:spAutoFit/>
          </a:bodyPr>
          <a:lstStyle/>
          <a:p>
            <a:r>
              <a:rPr lang="fr-FR" sz="1500" i="1" dirty="0" err="1"/>
              <a:t>DynamoDB</a:t>
            </a:r>
            <a:endParaRPr lang="fr-FR" sz="1500" i="1" dirty="0"/>
          </a:p>
          <a:p>
            <a:r>
              <a:rPr lang="fr-FR" sz="1500" i="1" dirty="0"/>
              <a:t>Cassandra</a:t>
            </a:r>
          </a:p>
          <a:p>
            <a:r>
              <a:rPr lang="fr-FR" sz="1500" i="1" dirty="0" err="1"/>
              <a:t>Riak</a:t>
            </a:r>
            <a:endParaRPr lang="fr-FR" sz="1500" i="1" dirty="0"/>
          </a:p>
          <a:p>
            <a:r>
              <a:rPr lang="fr-FR" sz="1500" i="1" dirty="0" err="1"/>
              <a:t>Elasticsearch</a:t>
            </a:r>
            <a:endParaRPr lang="fr-FR" sz="1500" i="1" dirty="0"/>
          </a:p>
          <a:p>
            <a:r>
              <a:rPr lang="fr-FR" sz="1500" i="1" dirty="0" err="1"/>
              <a:t>Spark</a:t>
            </a:r>
            <a:endParaRPr lang="fr-FR" sz="1500" i="1" dirty="0"/>
          </a:p>
          <a:p>
            <a:r>
              <a:rPr lang="fr-FR" sz="1500" i="1" dirty="0" err="1"/>
              <a:t>SimpleDB</a:t>
            </a:r>
            <a:endParaRPr lang="fr-FR" sz="1500" i="1" dirty="0"/>
          </a:p>
          <a:p>
            <a:r>
              <a:rPr lang="fr-FR" sz="1500" i="1" dirty="0" err="1"/>
              <a:t>Couchbase</a:t>
            </a:r>
            <a:endParaRPr lang="fr-FR" sz="1500" i="1" dirty="0"/>
          </a:p>
        </p:txBody>
      </p:sp>
    </p:spTree>
    <p:extLst>
      <p:ext uri="{BB962C8B-B14F-4D97-AF65-F5344CB8AC3E}">
        <p14:creationId xmlns:p14="http://schemas.microsoft.com/office/powerpoint/2010/main" val="39255434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9D34CB-186C-FC48-BF4A-D209A47FFDA1}"/>
              </a:ext>
            </a:extLst>
          </p:cNvPr>
          <p:cNvSpPr>
            <a:spLocks noGrp="1"/>
          </p:cNvSpPr>
          <p:nvPr>
            <p:ph type="title"/>
          </p:nvPr>
        </p:nvSpPr>
        <p:spPr/>
        <p:txBody>
          <a:bodyPr/>
          <a:lstStyle/>
          <a:p>
            <a:r>
              <a:rPr lang="fr-FR" dirty="0"/>
              <a:t>Théorème CAP</a:t>
            </a:r>
          </a:p>
        </p:txBody>
      </p:sp>
      <p:sp>
        <p:nvSpPr>
          <p:cNvPr id="3" name="Espace réservé du contenu 2">
            <a:extLst>
              <a:ext uri="{FF2B5EF4-FFF2-40B4-BE49-F238E27FC236}">
                <a16:creationId xmlns:a16="http://schemas.microsoft.com/office/drawing/2014/main" id="{4BB5CFC0-2228-4040-A09F-AC5B30A073AB}"/>
              </a:ext>
            </a:extLst>
          </p:cNvPr>
          <p:cNvSpPr>
            <a:spLocks noGrp="1"/>
          </p:cNvSpPr>
          <p:nvPr>
            <p:ph idx="1"/>
          </p:nvPr>
        </p:nvSpPr>
        <p:spPr/>
        <p:txBody>
          <a:bodyPr>
            <a:normAutofit/>
          </a:bodyPr>
          <a:lstStyle/>
          <a:p>
            <a:r>
              <a:rPr lang="fr-FR" dirty="0"/>
              <a:t>Remarques :</a:t>
            </a:r>
          </a:p>
          <a:p>
            <a:pPr lvl="1"/>
            <a:r>
              <a:rPr lang="fr-FR" dirty="0"/>
              <a:t>Le triangle CAP permet de sélectionner le SGBD adapté à vos besoins en termes de fonctionnalités, de calculs et de cohérence. </a:t>
            </a:r>
          </a:p>
          <a:p>
            <a:pPr lvl="1"/>
            <a:r>
              <a:rPr lang="fr-FR" dirty="0"/>
              <a:t>La majorité des solutions </a:t>
            </a:r>
            <a:r>
              <a:rPr lang="fr-FR" dirty="0" err="1"/>
              <a:t>NoSQL</a:t>
            </a:r>
            <a:r>
              <a:rPr lang="fr-FR" dirty="0"/>
              <a:t> sont de type AP (Disponibilité et distribution). En effet, la plupart cherchent les performances en relâchant volontairement la cohérence. Nous y retrouvons principalement des solutions orientées clé-valeur et graphes, mais également orientées documents (clé-valeur étendu).</a:t>
            </a:r>
          </a:p>
          <a:p>
            <a:pPr lvl="1"/>
            <a:r>
              <a:rPr lang="fr-FR" dirty="0"/>
              <a:t>Dans le cas de </a:t>
            </a:r>
            <a:r>
              <a:rPr lang="fr-FR" dirty="0" err="1"/>
              <a:t>DynamoDB</a:t>
            </a:r>
            <a:r>
              <a:rPr lang="fr-FR" dirty="0"/>
              <a:t>, Cassandra, </a:t>
            </a:r>
            <a:r>
              <a:rPr lang="fr-FR" dirty="0" err="1"/>
              <a:t>MongoDB</a:t>
            </a:r>
            <a:r>
              <a:rPr lang="fr-FR" dirty="0"/>
              <a:t>, Cosmos DB..., il est possible de modifier la politique de gestion de la concurrence : dans ce cas, ils changent de face en passant de CP à AP ou inversement.</a:t>
            </a:r>
            <a:endParaRPr lang="fr-FR" sz="1000" i="1" dirty="0"/>
          </a:p>
        </p:txBody>
      </p:sp>
      <p:sp>
        <p:nvSpPr>
          <p:cNvPr id="4" name="Espace réservé du numéro de diapositive 3">
            <a:extLst>
              <a:ext uri="{FF2B5EF4-FFF2-40B4-BE49-F238E27FC236}">
                <a16:creationId xmlns:a16="http://schemas.microsoft.com/office/drawing/2014/main" id="{A7B533DF-FE9D-ED47-915A-C10C5F7137A8}"/>
              </a:ext>
            </a:extLst>
          </p:cNvPr>
          <p:cNvSpPr>
            <a:spLocks noGrp="1"/>
          </p:cNvSpPr>
          <p:nvPr>
            <p:ph type="sldNum" sz="quarter" idx="12"/>
          </p:nvPr>
        </p:nvSpPr>
        <p:spPr/>
        <p:txBody>
          <a:bodyPr/>
          <a:lstStyle/>
          <a:p>
            <a:fld id="{0CFEC368-1D7A-4F81-ABF6-AE0E36BAF64C}" type="slidenum">
              <a:rPr lang="en-US" smtClean="0"/>
              <a:pPr/>
              <a:t>25</a:t>
            </a:fld>
            <a:endParaRPr lang="en-US"/>
          </a:p>
        </p:txBody>
      </p:sp>
    </p:spTree>
    <p:extLst>
      <p:ext uri="{BB962C8B-B14F-4D97-AF65-F5344CB8AC3E}">
        <p14:creationId xmlns:p14="http://schemas.microsoft.com/office/powerpoint/2010/main" val="25428571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F5516-E186-374F-A348-1052096DFD90}"/>
              </a:ext>
            </a:extLst>
          </p:cNvPr>
          <p:cNvSpPr>
            <a:spLocks noGrp="1"/>
          </p:cNvSpPr>
          <p:nvPr>
            <p:ph type="title"/>
          </p:nvPr>
        </p:nvSpPr>
        <p:spPr/>
        <p:txBody>
          <a:bodyPr/>
          <a:lstStyle/>
          <a:p>
            <a:r>
              <a:rPr lang="fr-FR" altLang="fr-FR" dirty="0">
                <a:ea typeface="ＭＳ Ｐゴシック" panose="020B0600070205080204" pitchFamily="34" charset="-128"/>
              </a:rPr>
              <a:t>Conception des bases </a:t>
            </a:r>
            <a:r>
              <a:rPr lang="fr-FR" altLang="fr-FR" dirty="0" err="1">
                <a:ea typeface="ＭＳ Ｐゴシック" panose="020B0600070205080204" pitchFamily="34" charset="-128"/>
              </a:rPr>
              <a:t>NoSQL</a:t>
            </a:r>
            <a:endParaRPr lang="fr-FR" dirty="0"/>
          </a:p>
        </p:txBody>
      </p:sp>
      <p:sp>
        <p:nvSpPr>
          <p:cNvPr id="3" name="Espace réservé du contenu 2">
            <a:extLst>
              <a:ext uri="{FF2B5EF4-FFF2-40B4-BE49-F238E27FC236}">
                <a16:creationId xmlns:a16="http://schemas.microsoft.com/office/drawing/2014/main" id="{408355C9-D2BB-7842-88BF-BF7EFDAFF959}"/>
              </a:ext>
            </a:extLst>
          </p:cNvPr>
          <p:cNvSpPr>
            <a:spLocks noGrp="1"/>
          </p:cNvSpPr>
          <p:nvPr>
            <p:ph idx="1"/>
          </p:nvPr>
        </p:nvSpPr>
        <p:spPr>
          <a:xfrm>
            <a:off x="457200" y="1387234"/>
            <a:ext cx="5205413" cy="5089766"/>
          </a:xfrm>
        </p:spPr>
        <p:txBody>
          <a:bodyPr>
            <a:normAutofit fontScale="92500" lnSpcReduction="20000"/>
          </a:bodyPr>
          <a:lstStyle/>
          <a:p>
            <a:r>
              <a:rPr lang="fr-FR" dirty="0"/>
              <a:t>Modèle relationnel : utilisation des données sous forme normalisée et jointures entre les tables au besoin.</a:t>
            </a:r>
          </a:p>
          <a:p>
            <a:r>
              <a:rPr lang="fr-FR" dirty="0" err="1"/>
              <a:t>NoSQL</a:t>
            </a:r>
            <a:r>
              <a:rPr lang="fr-FR" dirty="0"/>
              <a:t> : </a:t>
            </a:r>
            <a:r>
              <a:rPr lang="fr-FR" dirty="0" err="1"/>
              <a:t>dénormalisation</a:t>
            </a:r>
            <a:r>
              <a:rPr lang="fr-FR" dirty="0"/>
              <a:t> des données</a:t>
            </a:r>
          </a:p>
          <a:p>
            <a:pPr lvl="1"/>
            <a:r>
              <a:rPr lang="fr-FR" dirty="0"/>
              <a:t>Dans certains cas, les données seront embarquées dans la donnée parente. C’est notamment le cas lorsque le volume de la donnée est faible et que celle-­ci est peu mise à jour. + : rapidité de lecture, - : mises à jour.</a:t>
            </a:r>
          </a:p>
          <a:p>
            <a:pPr lvl="1"/>
            <a:endParaRPr lang="fr-FR" dirty="0"/>
          </a:p>
          <a:p>
            <a:pPr lvl="1"/>
            <a:r>
              <a:rPr lang="fr-FR" dirty="0"/>
              <a:t>Dans les autres cas, on stockera simplement les identifiants permettant d’accéder aux données comme on le ferait dans le modèle relationnel. La différence réside dans le fait que c’est le plus souvent à l’application cliente de procéder par la suite aux jointures. + : rapidité de mise à jour , - : lecture moins rapide.</a:t>
            </a:r>
          </a:p>
          <a:p>
            <a:endParaRPr lang="fr-FR" dirty="0"/>
          </a:p>
        </p:txBody>
      </p:sp>
      <p:sp>
        <p:nvSpPr>
          <p:cNvPr id="4" name="Espace réservé du numéro de diapositive 3">
            <a:extLst>
              <a:ext uri="{FF2B5EF4-FFF2-40B4-BE49-F238E27FC236}">
                <a16:creationId xmlns:a16="http://schemas.microsoft.com/office/drawing/2014/main" id="{4106B14E-3613-2548-9CD8-1D9685BBBD8F}"/>
              </a:ext>
            </a:extLst>
          </p:cNvPr>
          <p:cNvSpPr>
            <a:spLocks noGrp="1"/>
          </p:cNvSpPr>
          <p:nvPr>
            <p:ph type="sldNum" sz="quarter" idx="12"/>
          </p:nvPr>
        </p:nvSpPr>
        <p:spPr/>
        <p:txBody>
          <a:bodyPr/>
          <a:lstStyle/>
          <a:p>
            <a:fld id="{0CFEC368-1D7A-4F81-ABF6-AE0E36BAF64C}" type="slidenum">
              <a:rPr lang="en-US" smtClean="0"/>
              <a:pPr/>
              <a:t>26</a:t>
            </a:fld>
            <a:endParaRPr lang="en-US"/>
          </a:p>
        </p:txBody>
      </p:sp>
      <p:pic>
        <p:nvPicPr>
          <p:cNvPr id="5" name="Image 3" descr="1.tiff">
            <a:extLst>
              <a:ext uri="{FF2B5EF4-FFF2-40B4-BE49-F238E27FC236}">
                <a16:creationId xmlns:a16="http://schemas.microsoft.com/office/drawing/2014/main" id="{1D6FFD66-7AAE-3F4A-98BD-B4B4A876623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62612" y="2023918"/>
            <a:ext cx="3481387" cy="2085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 4" descr="2.tiff">
            <a:extLst>
              <a:ext uri="{FF2B5EF4-FFF2-40B4-BE49-F238E27FC236}">
                <a16:creationId xmlns:a16="http://schemas.microsoft.com/office/drawing/2014/main" id="{FA6F2EBE-5CB0-4244-AD3F-FB94510FD4A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662613" y="4574325"/>
            <a:ext cx="3481387" cy="1402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87824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F5516-E186-374F-A348-1052096DFD90}"/>
              </a:ext>
            </a:extLst>
          </p:cNvPr>
          <p:cNvSpPr>
            <a:spLocks noGrp="1"/>
          </p:cNvSpPr>
          <p:nvPr>
            <p:ph type="title"/>
          </p:nvPr>
        </p:nvSpPr>
        <p:spPr/>
        <p:txBody>
          <a:bodyPr/>
          <a:lstStyle/>
          <a:p>
            <a:r>
              <a:rPr lang="fr-FR" altLang="fr-FR" dirty="0">
                <a:ea typeface="ＭＳ Ｐゴシック" panose="020B0600070205080204" pitchFamily="34" charset="-128"/>
              </a:rPr>
              <a:t>Quelle sélection ?</a:t>
            </a:r>
            <a:endParaRPr lang="fr-FR" dirty="0"/>
          </a:p>
        </p:txBody>
      </p:sp>
      <p:sp>
        <p:nvSpPr>
          <p:cNvPr id="3" name="Espace réservé du contenu 2">
            <a:extLst>
              <a:ext uri="{FF2B5EF4-FFF2-40B4-BE49-F238E27FC236}">
                <a16:creationId xmlns:a16="http://schemas.microsoft.com/office/drawing/2014/main" id="{408355C9-D2BB-7842-88BF-BF7EFDAFF959}"/>
              </a:ext>
            </a:extLst>
          </p:cNvPr>
          <p:cNvSpPr>
            <a:spLocks noGrp="1"/>
          </p:cNvSpPr>
          <p:nvPr>
            <p:ph idx="1"/>
          </p:nvPr>
        </p:nvSpPr>
        <p:spPr/>
        <p:txBody>
          <a:bodyPr>
            <a:normAutofit fontScale="85000" lnSpcReduction="20000"/>
          </a:bodyPr>
          <a:lstStyle/>
          <a:p>
            <a:r>
              <a:rPr lang="fr-FR" dirty="0"/>
              <a:t>Meilleures solutions :</a:t>
            </a:r>
          </a:p>
          <a:p>
            <a:pPr lvl="1"/>
            <a:r>
              <a:rPr lang="fr-FR" dirty="0"/>
              <a:t>Base clé/valeur : Redis, </a:t>
            </a:r>
            <a:r>
              <a:rPr lang="fr-FR" dirty="0" err="1"/>
              <a:t>Riak</a:t>
            </a:r>
            <a:endParaRPr lang="fr-FR" dirty="0"/>
          </a:p>
          <a:p>
            <a:pPr lvl="1"/>
            <a:r>
              <a:rPr lang="fr-FR" dirty="0"/>
              <a:t>Documentaires : </a:t>
            </a:r>
            <a:r>
              <a:rPr lang="fr-FR" dirty="0" err="1"/>
              <a:t>MongoDB</a:t>
            </a:r>
            <a:r>
              <a:rPr lang="fr-FR" dirty="0"/>
              <a:t>, </a:t>
            </a:r>
            <a:r>
              <a:rPr lang="fr-FR" dirty="0" err="1"/>
              <a:t>Couchbase</a:t>
            </a:r>
            <a:r>
              <a:rPr lang="fr-FR" dirty="0"/>
              <a:t> / </a:t>
            </a:r>
            <a:r>
              <a:rPr lang="fr-FR" dirty="0" err="1"/>
              <a:t>CouchDB</a:t>
            </a:r>
            <a:r>
              <a:rPr lang="fr-FR" dirty="0"/>
              <a:t> (</a:t>
            </a:r>
            <a:r>
              <a:rPr lang="fr-FR" dirty="0">
                <a:hlinkClick r:id="rId2"/>
              </a:rPr>
              <a:t>http://www.couchbase.com/couchbase-vs-couchdb</a:t>
            </a:r>
            <a:r>
              <a:rPr lang="fr-FR" dirty="0"/>
              <a:t>)</a:t>
            </a:r>
          </a:p>
          <a:p>
            <a:pPr lvl="1"/>
            <a:r>
              <a:rPr lang="fr-FR" dirty="0"/>
              <a:t>Orientés colonnes : </a:t>
            </a:r>
            <a:r>
              <a:rPr lang="fr-FR" dirty="0" err="1"/>
              <a:t>HBase</a:t>
            </a:r>
            <a:endParaRPr lang="fr-FR" dirty="0"/>
          </a:p>
          <a:p>
            <a:pPr lvl="1"/>
            <a:r>
              <a:rPr lang="fr-FR" dirty="0"/>
              <a:t>Graphes : Neo4J</a:t>
            </a:r>
          </a:p>
          <a:p>
            <a:pPr lvl="1"/>
            <a:r>
              <a:rPr lang="fr-FR" dirty="0"/>
              <a:t>Multi-model : Azure Cosmos DB (gère les 4 types !!), Amazon </a:t>
            </a:r>
            <a:r>
              <a:rPr lang="fr-FR" dirty="0" err="1"/>
              <a:t>DynamoDB</a:t>
            </a:r>
            <a:endParaRPr lang="fr-FR" dirty="0"/>
          </a:p>
          <a:p>
            <a:pPr lvl="1"/>
            <a:r>
              <a:rPr lang="fr-FR" dirty="0" err="1"/>
              <a:t>Search</a:t>
            </a:r>
            <a:r>
              <a:rPr lang="fr-FR" dirty="0"/>
              <a:t> </a:t>
            </a:r>
            <a:r>
              <a:rPr lang="fr-FR" dirty="0" err="1"/>
              <a:t>engines</a:t>
            </a:r>
            <a:r>
              <a:rPr lang="fr-FR" dirty="0"/>
              <a:t> : </a:t>
            </a:r>
            <a:r>
              <a:rPr lang="fr-FR" dirty="0" err="1"/>
              <a:t>Elasticsearch</a:t>
            </a:r>
            <a:r>
              <a:rPr lang="fr-FR" dirty="0"/>
              <a:t>, </a:t>
            </a:r>
            <a:r>
              <a:rPr lang="fr-FR" dirty="0" err="1"/>
              <a:t>Splunk</a:t>
            </a:r>
            <a:endParaRPr lang="fr-FR" dirty="0"/>
          </a:p>
          <a:p>
            <a:pPr lvl="1"/>
            <a:r>
              <a:rPr lang="fr-FR" dirty="0"/>
              <a:t>Times </a:t>
            </a:r>
            <a:r>
              <a:rPr lang="fr-FR" dirty="0" err="1"/>
              <a:t>series</a:t>
            </a:r>
            <a:r>
              <a:rPr lang="fr-FR" dirty="0"/>
              <a:t> DB : </a:t>
            </a:r>
            <a:r>
              <a:rPr lang="fr-FR" dirty="0" err="1"/>
              <a:t>InfluxDB</a:t>
            </a:r>
            <a:endParaRPr lang="fr-FR" dirty="0"/>
          </a:p>
          <a:p>
            <a:r>
              <a:rPr lang="fr-FR" dirty="0"/>
              <a:t>Critères :</a:t>
            </a:r>
          </a:p>
          <a:p>
            <a:pPr lvl="1"/>
            <a:r>
              <a:rPr lang="fr-FR" dirty="0"/>
              <a:t>Maturité la plus grande,</a:t>
            </a:r>
          </a:p>
          <a:p>
            <a:pPr lvl="1"/>
            <a:r>
              <a:rPr lang="fr-FR" dirty="0"/>
              <a:t>Potentiel le plus important</a:t>
            </a:r>
          </a:p>
          <a:p>
            <a:pPr lvl="1"/>
            <a:r>
              <a:rPr lang="fr-FR" dirty="0"/>
              <a:t>Meilleure intégration aux outils de développement actuels.</a:t>
            </a:r>
          </a:p>
          <a:p>
            <a:r>
              <a:rPr lang="fr-FR" dirty="0"/>
              <a:t>Sources :</a:t>
            </a:r>
          </a:p>
          <a:p>
            <a:pPr lvl="1"/>
            <a:r>
              <a:rPr lang="fr-FR" dirty="0"/>
              <a:t>« Les bases de données </a:t>
            </a:r>
            <a:r>
              <a:rPr lang="fr-FR" dirty="0" err="1"/>
              <a:t>NoSQL</a:t>
            </a:r>
            <a:r>
              <a:rPr lang="fr-FR" dirty="0"/>
              <a:t>: Comprendre et mettre en œuvre » 3</a:t>
            </a:r>
            <a:r>
              <a:rPr lang="fr-FR" baseline="30000" dirty="0"/>
              <a:t>ème</a:t>
            </a:r>
            <a:r>
              <a:rPr lang="fr-FR" dirty="0"/>
              <a:t>  édition, Rudi </a:t>
            </a:r>
            <a:r>
              <a:rPr lang="fr-FR" dirty="0" err="1"/>
              <a:t>Bruchez</a:t>
            </a:r>
            <a:r>
              <a:rPr lang="fr-FR" dirty="0"/>
              <a:t>, Editions Eyrolles, 2021.</a:t>
            </a:r>
          </a:p>
          <a:p>
            <a:pPr lvl="1"/>
            <a:r>
              <a:rPr lang="fr-FR" dirty="0">
                <a:hlinkClick r:id="rId3"/>
              </a:rPr>
              <a:t>https://www.researchgate.net/publication/326006960_Testing_the_performance_of_NoSQL_databases_via_the_database_benchmark_tool</a:t>
            </a:r>
            <a:endParaRPr lang="fr-FR" dirty="0"/>
          </a:p>
          <a:p>
            <a:pPr lvl="1"/>
            <a:r>
              <a:rPr lang="fr-FR" dirty="0">
                <a:hlinkClick r:id="rId4"/>
              </a:rPr>
              <a:t>http://blog.3pillarglobal.com/selection-criteria-nosql-database</a:t>
            </a:r>
            <a:endParaRPr lang="fr-FR" dirty="0"/>
          </a:p>
        </p:txBody>
      </p:sp>
      <p:sp>
        <p:nvSpPr>
          <p:cNvPr id="4" name="Espace réservé du numéro de diapositive 3">
            <a:extLst>
              <a:ext uri="{FF2B5EF4-FFF2-40B4-BE49-F238E27FC236}">
                <a16:creationId xmlns:a16="http://schemas.microsoft.com/office/drawing/2014/main" id="{4106B14E-3613-2548-9CD8-1D9685BBBD8F}"/>
              </a:ext>
            </a:extLst>
          </p:cNvPr>
          <p:cNvSpPr>
            <a:spLocks noGrp="1"/>
          </p:cNvSpPr>
          <p:nvPr>
            <p:ph type="sldNum" sz="quarter" idx="12"/>
          </p:nvPr>
        </p:nvSpPr>
        <p:spPr/>
        <p:txBody>
          <a:bodyPr/>
          <a:lstStyle/>
          <a:p>
            <a:fld id="{0CFEC368-1D7A-4F81-ABF6-AE0E36BAF64C}" type="slidenum">
              <a:rPr lang="en-US" smtClean="0"/>
              <a:pPr/>
              <a:t>27</a:t>
            </a:fld>
            <a:endParaRPr lang="en-US"/>
          </a:p>
        </p:txBody>
      </p:sp>
    </p:spTree>
    <p:extLst>
      <p:ext uri="{BB962C8B-B14F-4D97-AF65-F5344CB8AC3E}">
        <p14:creationId xmlns:p14="http://schemas.microsoft.com/office/powerpoint/2010/main" val="18920231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F5516-E186-374F-A348-1052096DFD90}"/>
              </a:ext>
            </a:extLst>
          </p:cNvPr>
          <p:cNvSpPr>
            <a:spLocks noGrp="1"/>
          </p:cNvSpPr>
          <p:nvPr>
            <p:ph type="title"/>
          </p:nvPr>
        </p:nvSpPr>
        <p:spPr/>
        <p:txBody>
          <a:bodyPr/>
          <a:lstStyle/>
          <a:p>
            <a:r>
              <a:rPr lang="fr-FR" altLang="fr-FR" dirty="0">
                <a:ea typeface="ＭＳ Ｐゴシック" panose="020B0600070205080204" pitchFamily="34" charset="-128"/>
              </a:rPr>
              <a:t>Bilan (d’après Oracle)</a:t>
            </a:r>
            <a:endParaRPr lang="fr-FR" dirty="0"/>
          </a:p>
        </p:txBody>
      </p:sp>
      <p:sp>
        <p:nvSpPr>
          <p:cNvPr id="3" name="Espace réservé du contenu 2">
            <a:extLst>
              <a:ext uri="{FF2B5EF4-FFF2-40B4-BE49-F238E27FC236}">
                <a16:creationId xmlns:a16="http://schemas.microsoft.com/office/drawing/2014/main" id="{408355C9-D2BB-7842-88BF-BF7EFDAFF959}"/>
              </a:ext>
            </a:extLst>
          </p:cNvPr>
          <p:cNvSpPr>
            <a:spLocks noGrp="1"/>
          </p:cNvSpPr>
          <p:nvPr>
            <p:ph idx="1"/>
          </p:nvPr>
        </p:nvSpPr>
        <p:spPr>
          <a:xfrm>
            <a:off x="457200" y="1387234"/>
            <a:ext cx="8229600" cy="5452478"/>
          </a:xfrm>
        </p:spPr>
        <p:txBody>
          <a:bodyPr>
            <a:normAutofit fontScale="85000" lnSpcReduction="20000"/>
          </a:bodyPr>
          <a:lstStyle/>
          <a:p>
            <a:r>
              <a:rPr lang="fr-FR" dirty="0"/>
              <a:t>Quand les utiliser ?</a:t>
            </a:r>
          </a:p>
          <a:p>
            <a:pPr lvl="1"/>
            <a:r>
              <a:rPr lang="fr-FR" dirty="0"/>
              <a:t>Data Capture : capturer et interroger les données entrantes provenant d’une multitude de points de données, tels que la surveillance du réseau, les réseaux de capteurs dans une usine automatisée.</a:t>
            </a:r>
          </a:p>
          <a:p>
            <a:pPr lvl="1"/>
            <a:r>
              <a:rPr lang="fr-FR" dirty="0"/>
              <a:t>Data Service : des services orientés Web, de haute-performance et axés sur le client tels qu’Amazon, LinkedIn ou Facebook.</a:t>
            </a:r>
          </a:p>
          <a:p>
            <a:r>
              <a:rPr lang="fr-FR" dirty="0"/>
              <a:t>Avantages :</a:t>
            </a:r>
          </a:p>
          <a:p>
            <a:pPr lvl="1"/>
            <a:r>
              <a:rPr lang="fr-FR" dirty="0"/>
              <a:t>Facilité pour augmenter la capacité de calcul et de stockage en ajoutant de nouveaux serveurs,</a:t>
            </a:r>
          </a:p>
          <a:p>
            <a:pPr lvl="1"/>
            <a:r>
              <a:rPr lang="fr-FR" dirty="0"/>
              <a:t>Requêtes simples et rapides</a:t>
            </a:r>
          </a:p>
          <a:p>
            <a:pPr lvl="1"/>
            <a:r>
              <a:rPr lang="fr-FR" dirty="0"/>
              <a:t>Approche flexible et aisée pour gérer le schéma.</a:t>
            </a:r>
          </a:p>
          <a:p>
            <a:r>
              <a:rPr lang="fr-FR" dirty="0"/>
              <a:t>Inconvénients :</a:t>
            </a:r>
          </a:p>
          <a:p>
            <a:pPr lvl="1"/>
            <a:r>
              <a:rPr lang="fr-FR" dirty="0"/>
              <a:t>En n'utilisant pas SQL, les systèmes de base de données </a:t>
            </a:r>
            <a:r>
              <a:rPr lang="fr-FR" dirty="0" err="1"/>
              <a:t>NoSQL</a:t>
            </a:r>
            <a:r>
              <a:rPr lang="fr-FR" dirty="0"/>
              <a:t> perdent la capacité de faire des requêtes très structurées avec une certitude mathématique.</a:t>
            </a:r>
          </a:p>
          <a:p>
            <a:pPr lvl="1"/>
            <a:r>
              <a:rPr lang="fr-FR" dirty="0"/>
              <a:t>Incapacité d’exécuter des requêtes complexes</a:t>
            </a:r>
          </a:p>
          <a:p>
            <a:pPr lvl="1"/>
            <a:r>
              <a:rPr lang="fr-FR" dirty="0"/>
              <a:t>Incapacité à effectuer des jointures multi-tables, </a:t>
            </a:r>
          </a:p>
          <a:p>
            <a:pPr lvl="1"/>
            <a:r>
              <a:rPr lang="fr-FR" dirty="0"/>
              <a:t>Support transactionnel limité</a:t>
            </a:r>
          </a:p>
          <a:p>
            <a:pPr lvl="1"/>
            <a:r>
              <a:rPr lang="fr-FR" dirty="0"/>
              <a:t>Nécessité d’apprendre une nouvelle approche de technologie de base de données</a:t>
            </a:r>
          </a:p>
        </p:txBody>
      </p:sp>
      <p:sp>
        <p:nvSpPr>
          <p:cNvPr id="4" name="Espace réservé du numéro de diapositive 3">
            <a:extLst>
              <a:ext uri="{FF2B5EF4-FFF2-40B4-BE49-F238E27FC236}">
                <a16:creationId xmlns:a16="http://schemas.microsoft.com/office/drawing/2014/main" id="{4106B14E-3613-2548-9CD8-1D9685BBBD8F}"/>
              </a:ext>
            </a:extLst>
          </p:cNvPr>
          <p:cNvSpPr>
            <a:spLocks noGrp="1"/>
          </p:cNvSpPr>
          <p:nvPr>
            <p:ph type="sldNum" sz="quarter" idx="12"/>
          </p:nvPr>
        </p:nvSpPr>
        <p:spPr/>
        <p:txBody>
          <a:bodyPr/>
          <a:lstStyle/>
          <a:p>
            <a:fld id="{0CFEC368-1D7A-4F81-ABF6-AE0E36BAF64C}" type="slidenum">
              <a:rPr lang="en-US" smtClean="0"/>
              <a:pPr/>
              <a:t>28</a:t>
            </a:fld>
            <a:endParaRPr lang="en-US"/>
          </a:p>
        </p:txBody>
      </p:sp>
    </p:spTree>
    <p:extLst>
      <p:ext uri="{BB962C8B-B14F-4D97-AF65-F5344CB8AC3E}">
        <p14:creationId xmlns:p14="http://schemas.microsoft.com/office/powerpoint/2010/main" val="42663766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F5516-E186-374F-A348-1052096DFD90}"/>
              </a:ext>
            </a:extLst>
          </p:cNvPr>
          <p:cNvSpPr>
            <a:spLocks noGrp="1"/>
          </p:cNvSpPr>
          <p:nvPr>
            <p:ph type="title"/>
          </p:nvPr>
        </p:nvSpPr>
        <p:spPr/>
        <p:txBody>
          <a:bodyPr/>
          <a:lstStyle/>
          <a:p>
            <a:r>
              <a:rPr lang="fr-FR" dirty="0"/>
              <a:t>Bilan (d’après moi)</a:t>
            </a:r>
          </a:p>
        </p:txBody>
      </p:sp>
      <p:sp>
        <p:nvSpPr>
          <p:cNvPr id="3" name="Espace réservé du contenu 2">
            <a:extLst>
              <a:ext uri="{FF2B5EF4-FFF2-40B4-BE49-F238E27FC236}">
                <a16:creationId xmlns:a16="http://schemas.microsoft.com/office/drawing/2014/main" id="{408355C9-D2BB-7842-88BF-BF7EFDAFF959}"/>
              </a:ext>
            </a:extLst>
          </p:cNvPr>
          <p:cNvSpPr>
            <a:spLocks noGrp="1"/>
          </p:cNvSpPr>
          <p:nvPr>
            <p:ph idx="1"/>
          </p:nvPr>
        </p:nvSpPr>
        <p:spPr/>
        <p:txBody>
          <a:bodyPr>
            <a:normAutofit lnSpcReduction="10000"/>
          </a:bodyPr>
          <a:lstStyle/>
          <a:p>
            <a:r>
              <a:rPr lang="fr-FR" dirty="0"/>
              <a:t>Ne remplacera (sans doute) jamais les SGBD relationnels.</a:t>
            </a:r>
          </a:p>
          <a:p>
            <a:r>
              <a:rPr lang="fr-FR" dirty="0"/>
              <a:t>Impossible à utiliser pour des applications de gestion (ERP, progiciels comptables, de paye, etc.).</a:t>
            </a:r>
          </a:p>
          <a:p>
            <a:r>
              <a:rPr lang="fr-FR" dirty="0"/>
              <a:t>Tendance : ajouter des fonctionnalités NoSQL aux SGBD relationnels</a:t>
            </a:r>
          </a:p>
          <a:p>
            <a:r>
              <a:rPr lang="fr-FR" dirty="0"/>
              <a:t>Orienté-colonnes ou Documents :</a:t>
            </a:r>
          </a:p>
          <a:p>
            <a:pPr lvl="1"/>
            <a:r>
              <a:rPr lang="fr-FR" dirty="0"/>
              <a:t>Très intéressant pour stocker des lignes de données avec valeurs nulles nombreuses</a:t>
            </a:r>
          </a:p>
          <a:p>
            <a:r>
              <a:rPr lang="fr-FR" dirty="0"/>
              <a:t>Graphes :</a:t>
            </a:r>
          </a:p>
          <a:p>
            <a:pPr lvl="1"/>
            <a:r>
              <a:rPr lang="fr-FR" dirty="0"/>
              <a:t>Très intéressant pour stocker des graphes de données, par exemple des graphes de concepts (ontologies) et le poids des relations entre concepts  : outils d’enrichissement de résultats de requêtes, etc.</a:t>
            </a:r>
          </a:p>
        </p:txBody>
      </p:sp>
      <p:sp>
        <p:nvSpPr>
          <p:cNvPr id="4" name="Espace réservé du numéro de diapositive 3">
            <a:extLst>
              <a:ext uri="{FF2B5EF4-FFF2-40B4-BE49-F238E27FC236}">
                <a16:creationId xmlns:a16="http://schemas.microsoft.com/office/drawing/2014/main" id="{4106B14E-3613-2548-9CD8-1D9685BBBD8F}"/>
              </a:ext>
            </a:extLst>
          </p:cNvPr>
          <p:cNvSpPr>
            <a:spLocks noGrp="1"/>
          </p:cNvSpPr>
          <p:nvPr>
            <p:ph type="sldNum" sz="quarter" idx="12"/>
          </p:nvPr>
        </p:nvSpPr>
        <p:spPr/>
        <p:txBody>
          <a:bodyPr/>
          <a:lstStyle/>
          <a:p>
            <a:fld id="{0CFEC368-1D7A-4F81-ABF6-AE0E36BAF64C}" type="slidenum">
              <a:rPr lang="en-US" smtClean="0"/>
              <a:pPr/>
              <a:t>29</a:t>
            </a:fld>
            <a:endParaRPr lang="en-US"/>
          </a:p>
        </p:txBody>
      </p:sp>
    </p:spTree>
    <p:extLst>
      <p:ext uri="{BB962C8B-B14F-4D97-AF65-F5344CB8AC3E}">
        <p14:creationId xmlns:p14="http://schemas.microsoft.com/office/powerpoint/2010/main" val="29529369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EB5001F5-9A10-628D-BCB3-3E32E7ECE7D9}"/>
              </a:ext>
            </a:extLst>
          </p:cNvPr>
          <p:cNvPicPr>
            <a:picLocks noChangeAspect="1"/>
          </p:cNvPicPr>
          <p:nvPr/>
        </p:nvPicPr>
        <p:blipFill>
          <a:blip r:embed="rId2"/>
          <a:stretch>
            <a:fillRect/>
          </a:stretch>
        </p:blipFill>
        <p:spPr>
          <a:xfrm>
            <a:off x="2239518" y="1055914"/>
            <a:ext cx="6746880" cy="2006614"/>
          </a:xfrm>
          <a:prstGeom prst="rect">
            <a:avLst/>
          </a:prstGeom>
        </p:spPr>
      </p:pic>
      <p:sp>
        <p:nvSpPr>
          <p:cNvPr id="2" name="Titre 1">
            <a:extLst>
              <a:ext uri="{FF2B5EF4-FFF2-40B4-BE49-F238E27FC236}">
                <a16:creationId xmlns:a16="http://schemas.microsoft.com/office/drawing/2014/main" id="{519F5516-E186-374F-A348-1052096DFD90}"/>
              </a:ext>
            </a:extLst>
          </p:cNvPr>
          <p:cNvSpPr>
            <a:spLocks noGrp="1"/>
          </p:cNvSpPr>
          <p:nvPr>
            <p:ph type="title"/>
          </p:nvPr>
        </p:nvSpPr>
        <p:spPr/>
        <p:txBody>
          <a:bodyPr/>
          <a:lstStyle/>
          <a:p>
            <a:r>
              <a:rPr lang="fr-FR" dirty="0"/>
              <a:t>Tendances</a:t>
            </a:r>
          </a:p>
        </p:txBody>
      </p:sp>
      <p:sp>
        <p:nvSpPr>
          <p:cNvPr id="4" name="Espace réservé du numéro de diapositive 3">
            <a:extLst>
              <a:ext uri="{FF2B5EF4-FFF2-40B4-BE49-F238E27FC236}">
                <a16:creationId xmlns:a16="http://schemas.microsoft.com/office/drawing/2014/main" id="{4106B14E-3613-2548-9CD8-1D9685BBBD8F}"/>
              </a:ext>
            </a:extLst>
          </p:cNvPr>
          <p:cNvSpPr>
            <a:spLocks noGrp="1"/>
          </p:cNvSpPr>
          <p:nvPr>
            <p:ph type="sldNum" sz="quarter" idx="12"/>
          </p:nvPr>
        </p:nvSpPr>
        <p:spPr/>
        <p:txBody>
          <a:bodyPr/>
          <a:lstStyle/>
          <a:p>
            <a:fld id="{0CFEC368-1D7A-4F81-ABF6-AE0E36BAF64C}" type="slidenum">
              <a:rPr lang="en-US" smtClean="0"/>
              <a:pPr/>
              <a:t>30</a:t>
            </a:fld>
            <a:endParaRPr lang="en-US"/>
          </a:p>
        </p:txBody>
      </p:sp>
      <p:sp>
        <p:nvSpPr>
          <p:cNvPr id="9" name="ZoneTexte 8">
            <a:extLst>
              <a:ext uri="{FF2B5EF4-FFF2-40B4-BE49-F238E27FC236}">
                <a16:creationId xmlns:a16="http://schemas.microsoft.com/office/drawing/2014/main" id="{F4B3C719-78C2-C047-B217-078B8C885017}"/>
              </a:ext>
            </a:extLst>
          </p:cNvPr>
          <p:cNvSpPr txBox="1"/>
          <p:nvPr/>
        </p:nvSpPr>
        <p:spPr>
          <a:xfrm>
            <a:off x="0" y="6334780"/>
            <a:ext cx="6856228" cy="523220"/>
          </a:xfrm>
          <a:prstGeom prst="rect">
            <a:avLst/>
          </a:prstGeom>
          <a:noFill/>
        </p:spPr>
        <p:txBody>
          <a:bodyPr wrap="square">
            <a:spAutoFit/>
          </a:bodyPr>
          <a:lstStyle/>
          <a:p>
            <a:r>
              <a:rPr lang="fr-FR" sz="1400" i="1" dirty="0">
                <a:hlinkClick r:id="rId3"/>
              </a:rPr>
              <a:t>https://db-engines.com/en/ranking_categories</a:t>
            </a:r>
            <a:endParaRPr lang="fr-FR" sz="1400" i="1" dirty="0"/>
          </a:p>
          <a:p>
            <a:r>
              <a:rPr lang="fr-FR" sz="1400" i="1" dirty="0">
                <a:hlinkClick r:id="rId4"/>
              </a:rPr>
              <a:t>https://www.techrepublic.com/article/non-relationals-quiet-revolution-in-databases/</a:t>
            </a:r>
            <a:endParaRPr lang="fr-FR" sz="1400" i="1" dirty="0"/>
          </a:p>
        </p:txBody>
      </p:sp>
      <p:sp>
        <p:nvSpPr>
          <p:cNvPr id="8" name="ZoneTexte 7">
            <a:extLst>
              <a:ext uri="{FF2B5EF4-FFF2-40B4-BE49-F238E27FC236}">
                <a16:creationId xmlns:a16="http://schemas.microsoft.com/office/drawing/2014/main" id="{E9F80D07-3FD8-C56B-2932-6B453794EC3F}"/>
              </a:ext>
            </a:extLst>
          </p:cNvPr>
          <p:cNvSpPr txBox="1"/>
          <p:nvPr/>
        </p:nvSpPr>
        <p:spPr>
          <a:xfrm>
            <a:off x="6593302" y="2651968"/>
            <a:ext cx="2550698" cy="338554"/>
          </a:xfrm>
          <a:prstGeom prst="rect">
            <a:avLst/>
          </a:prstGeom>
          <a:noFill/>
        </p:spPr>
        <p:txBody>
          <a:bodyPr wrap="square" rtlCol="0">
            <a:spAutoFit/>
          </a:bodyPr>
          <a:lstStyle/>
          <a:p>
            <a:r>
              <a:rPr lang="fr-FR" sz="1600" i="1" dirty="0">
                <a:solidFill>
                  <a:srgbClr val="FF0000"/>
                </a:solidFill>
              </a:rPr>
              <a:t>Popularité != Utilisation</a:t>
            </a:r>
          </a:p>
        </p:txBody>
      </p:sp>
      <p:sp>
        <p:nvSpPr>
          <p:cNvPr id="13" name="ZoneTexte 12">
            <a:extLst>
              <a:ext uri="{FF2B5EF4-FFF2-40B4-BE49-F238E27FC236}">
                <a16:creationId xmlns:a16="http://schemas.microsoft.com/office/drawing/2014/main" id="{5F21484E-C571-459D-DA24-4FB453B25524}"/>
              </a:ext>
            </a:extLst>
          </p:cNvPr>
          <p:cNvSpPr txBox="1"/>
          <p:nvPr/>
        </p:nvSpPr>
        <p:spPr>
          <a:xfrm>
            <a:off x="157602" y="1674466"/>
            <a:ext cx="2065357" cy="3600986"/>
          </a:xfrm>
          <a:prstGeom prst="rect">
            <a:avLst/>
          </a:prstGeom>
          <a:noFill/>
        </p:spPr>
        <p:txBody>
          <a:bodyPr wrap="square">
            <a:spAutoFit/>
          </a:bodyPr>
          <a:lstStyle/>
          <a:p>
            <a:r>
              <a:rPr lang="fr-FR" sz="1200" i="1" dirty="0"/>
              <a:t>Les systèmes de gestion de bases de données vectorielles sont des systèmes optimisés pour le stockage, l'indexation et l'interrogation efficaces de données vectorielles à haute dimension. Ils utilisent des algorithmes et des structures de données spécialisés pour prendre en charge la recherche de similarités, souvent utilisée dans l'apprentissage automatique ou l'exploration de données, en mettant l'accent sur la performance, l'évolutivité et la flexibilité. </a:t>
            </a:r>
          </a:p>
        </p:txBody>
      </p:sp>
      <p:pic>
        <p:nvPicPr>
          <p:cNvPr id="7" name="Image 6">
            <a:extLst>
              <a:ext uri="{FF2B5EF4-FFF2-40B4-BE49-F238E27FC236}">
                <a16:creationId xmlns:a16="http://schemas.microsoft.com/office/drawing/2014/main" id="{F27C6F20-6D9B-1DD8-1A0E-31525E220B28}"/>
              </a:ext>
            </a:extLst>
          </p:cNvPr>
          <p:cNvPicPr>
            <a:picLocks noChangeAspect="1"/>
          </p:cNvPicPr>
          <p:nvPr/>
        </p:nvPicPr>
        <p:blipFill>
          <a:blip r:embed="rId5"/>
          <a:stretch>
            <a:fillRect/>
          </a:stretch>
        </p:blipFill>
        <p:spPr>
          <a:xfrm>
            <a:off x="2801116" y="3259660"/>
            <a:ext cx="5776830" cy="3051142"/>
          </a:xfrm>
          <a:prstGeom prst="rect">
            <a:avLst/>
          </a:prstGeom>
        </p:spPr>
      </p:pic>
    </p:spTree>
    <p:extLst>
      <p:ext uri="{BB962C8B-B14F-4D97-AF65-F5344CB8AC3E}">
        <p14:creationId xmlns:p14="http://schemas.microsoft.com/office/powerpoint/2010/main" val="25718587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F5516-E186-374F-A348-1052096DFD90}"/>
              </a:ext>
            </a:extLst>
          </p:cNvPr>
          <p:cNvSpPr>
            <a:spLocks noGrp="1"/>
          </p:cNvSpPr>
          <p:nvPr>
            <p:ph type="title"/>
          </p:nvPr>
        </p:nvSpPr>
        <p:spPr/>
        <p:txBody>
          <a:bodyPr/>
          <a:lstStyle/>
          <a:p>
            <a:r>
              <a:rPr lang="fr-FR" dirty="0"/>
              <a:t>Tendances</a:t>
            </a:r>
          </a:p>
        </p:txBody>
      </p:sp>
      <p:sp>
        <p:nvSpPr>
          <p:cNvPr id="4" name="Espace réservé du numéro de diapositive 3">
            <a:extLst>
              <a:ext uri="{FF2B5EF4-FFF2-40B4-BE49-F238E27FC236}">
                <a16:creationId xmlns:a16="http://schemas.microsoft.com/office/drawing/2014/main" id="{4106B14E-3613-2548-9CD8-1D9685BBBD8F}"/>
              </a:ext>
            </a:extLst>
          </p:cNvPr>
          <p:cNvSpPr>
            <a:spLocks noGrp="1"/>
          </p:cNvSpPr>
          <p:nvPr>
            <p:ph type="sldNum" sz="quarter" idx="12"/>
          </p:nvPr>
        </p:nvSpPr>
        <p:spPr/>
        <p:txBody>
          <a:bodyPr/>
          <a:lstStyle/>
          <a:p>
            <a:fld id="{0CFEC368-1D7A-4F81-ABF6-AE0E36BAF64C}" type="slidenum">
              <a:rPr lang="en-US" smtClean="0"/>
              <a:pPr/>
              <a:t>31</a:t>
            </a:fld>
            <a:endParaRPr lang="en-US"/>
          </a:p>
        </p:txBody>
      </p:sp>
      <p:sp>
        <p:nvSpPr>
          <p:cNvPr id="6" name="Rectangle 5">
            <a:extLst>
              <a:ext uri="{FF2B5EF4-FFF2-40B4-BE49-F238E27FC236}">
                <a16:creationId xmlns:a16="http://schemas.microsoft.com/office/drawing/2014/main" id="{ED5D5D00-05B6-BB4B-8390-EC9A781E3EFF}"/>
              </a:ext>
            </a:extLst>
          </p:cNvPr>
          <p:cNvSpPr/>
          <p:nvPr/>
        </p:nvSpPr>
        <p:spPr>
          <a:xfrm>
            <a:off x="-54003" y="5012755"/>
            <a:ext cx="2238249" cy="738664"/>
          </a:xfrm>
          <a:prstGeom prst="rect">
            <a:avLst/>
          </a:prstGeom>
        </p:spPr>
        <p:txBody>
          <a:bodyPr wrap="square">
            <a:spAutoFit/>
          </a:bodyPr>
          <a:lstStyle/>
          <a:p>
            <a:r>
              <a:rPr lang="fr-FR" sz="1400" i="1" dirty="0">
                <a:hlinkClick r:id="rId2"/>
              </a:rPr>
              <a:t>https://db-engines.com/en/ranking</a:t>
            </a:r>
            <a:endParaRPr lang="fr-FR" sz="1400" i="1" dirty="0"/>
          </a:p>
          <a:p>
            <a:endParaRPr lang="fr-FR" sz="1400" i="1" dirty="0"/>
          </a:p>
        </p:txBody>
      </p:sp>
      <p:pic>
        <p:nvPicPr>
          <p:cNvPr id="5" name="Image 4">
            <a:extLst>
              <a:ext uri="{FF2B5EF4-FFF2-40B4-BE49-F238E27FC236}">
                <a16:creationId xmlns:a16="http://schemas.microsoft.com/office/drawing/2014/main" id="{AC04E9FD-5CF7-D47B-5AEF-8D513F4C60E1}"/>
              </a:ext>
            </a:extLst>
          </p:cNvPr>
          <p:cNvPicPr>
            <a:picLocks noChangeAspect="1"/>
          </p:cNvPicPr>
          <p:nvPr/>
        </p:nvPicPr>
        <p:blipFill>
          <a:blip r:embed="rId3"/>
          <a:stretch>
            <a:fillRect/>
          </a:stretch>
        </p:blipFill>
        <p:spPr>
          <a:xfrm>
            <a:off x="2906485" y="872771"/>
            <a:ext cx="6204857" cy="5966941"/>
          </a:xfrm>
          <a:prstGeom prst="rect">
            <a:avLst/>
          </a:prstGeom>
        </p:spPr>
      </p:pic>
    </p:spTree>
    <p:extLst>
      <p:ext uri="{BB962C8B-B14F-4D97-AF65-F5344CB8AC3E}">
        <p14:creationId xmlns:p14="http://schemas.microsoft.com/office/powerpoint/2010/main" val="9795239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F5516-E186-374F-A348-1052096DFD90}"/>
              </a:ext>
            </a:extLst>
          </p:cNvPr>
          <p:cNvSpPr>
            <a:spLocks noGrp="1"/>
          </p:cNvSpPr>
          <p:nvPr>
            <p:ph type="title"/>
          </p:nvPr>
        </p:nvSpPr>
        <p:spPr/>
        <p:txBody>
          <a:bodyPr/>
          <a:lstStyle/>
          <a:p>
            <a:r>
              <a:rPr lang="fr-FR" dirty="0"/>
              <a:t>Evolution</a:t>
            </a:r>
          </a:p>
        </p:txBody>
      </p:sp>
      <p:sp>
        <p:nvSpPr>
          <p:cNvPr id="3" name="Espace réservé du contenu 2">
            <a:extLst>
              <a:ext uri="{FF2B5EF4-FFF2-40B4-BE49-F238E27FC236}">
                <a16:creationId xmlns:a16="http://schemas.microsoft.com/office/drawing/2014/main" id="{408355C9-D2BB-7842-88BF-BF7EFDAFF959}"/>
              </a:ext>
            </a:extLst>
          </p:cNvPr>
          <p:cNvSpPr>
            <a:spLocks noGrp="1"/>
          </p:cNvSpPr>
          <p:nvPr>
            <p:ph idx="1"/>
          </p:nvPr>
        </p:nvSpPr>
        <p:spPr>
          <a:xfrm>
            <a:off x="457200" y="1387233"/>
            <a:ext cx="8229600" cy="5304511"/>
          </a:xfrm>
        </p:spPr>
        <p:txBody>
          <a:bodyPr>
            <a:normAutofit fontScale="85000" lnSpcReduction="10000"/>
          </a:bodyPr>
          <a:lstStyle/>
          <a:p>
            <a:r>
              <a:rPr lang="fr-FR" dirty="0" err="1"/>
              <a:t>NewSQL</a:t>
            </a:r>
            <a:r>
              <a:rPr lang="fr-FR" dirty="0"/>
              <a:t> :</a:t>
            </a:r>
          </a:p>
          <a:p>
            <a:pPr lvl="1"/>
            <a:r>
              <a:rPr lang="fr-FR" dirty="0"/>
              <a:t>= « catégorie de SGBD relationnelles modernes qui cherchent à fournir la même puissance évolutive que les systèmes </a:t>
            </a:r>
            <a:r>
              <a:rPr lang="fr-FR" dirty="0" err="1"/>
              <a:t>NoSQL</a:t>
            </a:r>
            <a:r>
              <a:rPr lang="fr-FR" dirty="0"/>
              <a:t> pour le traitement transactionnel en ligne (lecture-écriture), tout en maintenant les propriétés ACID d'un système de base de données traditionnel. »</a:t>
            </a:r>
          </a:p>
          <a:p>
            <a:pPr lvl="1"/>
            <a:r>
              <a:rPr lang="fr-FR" dirty="0"/>
              <a:t>=&gt; Combiner le meilleur de SQL et </a:t>
            </a:r>
            <a:r>
              <a:rPr lang="fr-FR" dirty="0" err="1"/>
              <a:t>NoSQL</a:t>
            </a:r>
            <a:endParaRPr lang="fr-FR" dirty="0"/>
          </a:p>
          <a:p>
            <a:pPr lvl="1"/>
            <a:r>
              <a:rPr lang="fr-FR" dirty="0"/>
              <a:t>« </a:t>
            </a:r>
            <a:r>
              <a:rPr lang="fr-FR" dirty="0" err="1"/>
              <a:t>NoSQL</a:t>
            </a:r>
            <a:r>
              <a:rPr lang="fr-FR" dirty="0"/>
              <a:t> Is Out And </a:t>
            </a:r>
            <a:r>
              <a:rPr lang="fr-FR" dirty="0" err="1"/>
              <a:t>NewSQL</a:t>
            </a:r>
            <a:r>
              <a:rPr lang="fr-FR" dirty="0"/>
              <a:t> Is In » Google, 2012</a:t>
            </a:r>
          </a:p>
          <a:p>
            <a:pPr marL="274320" lvl="1" indent="0">
              <a:buNone/>
            </a:pPr>
            <a:r>
              <a:rPr lang="fr-FR" sz="1500" dirty="0">
                <a:hlinkClick r:id="rId2"/>
              </a:rPr>
              <a:t>http://highscalability.com/blog/2012/9/24/google-spanners-most-surprising-revelation-nosql-is-out-and.html</a:t>
            </a:r>
            <a:endParaRPr lang="fr-FR" sz="1500" dirty="0"/>
          </a:p>
          <a:p>
            <a:pPr lvl="1"/>
            <a:r>
              <a:rPr lang="fr-FR" dirty="0"/>
              <a:t>Exemples :</a:t>
            </a:r>
          </a:p>
          <a:p>
            <a:pPr lvl="2"/>
            <a:r>
              <a:rPr lang="fr-FR" b="1" dirty="0" err="1"/>
              <a:t>Databricks</a:t>
            </a:r>
            <a:r>
              <a:rPr lang="fr-FR" b="1" dirty="0"/>
              <a:t> </a:t>
            </a:r>
            <a:r>
              <a:rPr lang="fr-FR" dirty="0"/>
              <a:t>(9</a:t>
            </a:r>
            <a:r>
              <a:rPr lang="fr-FR" baseline="30000" dirty="0"/>
              <a:t>ème</a:t>
            </a:r>
            <a:r>
              <a:rPr lang="fr-FR" dirty="0"/>
              <a:t> sur </a:t>
            </a:r>
            <a:r>
              <a:rPr lang="fr-FR" dirty="0" err="1"/>
              <a:t>db</a:t>
            </a:r>
            <a:r>
              <a:rPr lang="fr-FR" dirty="0"/>
              <a:t>-engines) </a:t>
            </a:r>
            <a:endParaRPr lang="fr-FR" b="1" dirty="0"/>
          </a:p>
          <a:p>
            <a:pPr lvl="2"/>
            <a:r>
              <a:rPr lang="fr-FR" b="1" dirty="0"/>
              <a:t>Google Cloud </a:t>
            </a:r>
            <a:r>
              <a:rPr lang="fr-FR" b="1" dirty="0" err="1"/>
              <a:t>Spanner</a:t>
            </a:r>
            <a:r>
              <a:rPr lang="fr-FR" b="1" dirty="0"/>
              <a:t> </a:t>
            </a:r>
            <a:r>
              <a:rPr lang="fr-FR" dirty="0"/>
              <a:t>(89</a:t>
            </a:r>
            <a:r>
              <a:rPr lang="fr-FR" baseline="30000" dirty="0"/>
              <a:t>ème</a:t>
            </a:r>
            <a:r>
              <a:rPr lang="fr-FR" dirty="0"/>
              <a:t> sur </a:t>
            </a:r>
            <a:r>
              <a:rPr lang="fr-FR" dirty="0" err="1"/>
              <a:t>db</a:t>
            </a:r>
            <a:r>
              <a:rPr lang="fr-FR" dirty="0"/>
              <a:t>-engines, successeur de </a:t>
            </a:r>
            <a:r>
              <a:rPr lang="fr-FR" dirty="0" err="1"/>
              <a:t>BigTable</a:t>
            </a:r>
            <a:r>
              <a:rPr lang="fr-FR" dirty="0"/>
              <a:t>) : </a:t>
            </a:r>
            <a:r>
              <a:rPr lang="fr-FR" sz="1500" dirty="0">
                <a:hlinkClick r:id="rId3"/>
              </a:rPr>
              <a:t>http://en.wikipedia.org/wiki/Spanner_%28database%29</a:t>
            </a:r>
            <a:endParaRPr lang="fr-FR" sz="1500" dirty="0"/>
          </a:p>
          <a:p>
            <a:pPr lvl="2"/>
            <a:r>
              <a:rPr lang="fr-FR" b="1" dirty="0" err="1"/>
              <a:t>CockroachDB</a:t>
            </a:r>
            <a:r>
              <a:rPr lang="fr-FR" dirty="0"/>
              <a:t> (65</a:t>
            </a:r>
            <a:r>
              <a:rPr lang="fr-FR" baseline="30000" dirty="0"/>
              <a:t>ème</a:t>
            </a:r>
            <a:r>
              <a:rPr lang="fr-FR" dirty="0"/>
              <a:t> sur </a:t>
            </a:r>
            <a:r>
              <a:rPr lang="fr-FR" dirty="0" err="1"/>
              <a:t>db</a:t>
            </a:r>
            <a:r>
              <a:rPr lang="fr-FR" dirty="0"/>
              <a:t>-engines, "copie" de Google </a:t>
            </a:r>
            <a:r>
              <a:rPr lang="fr-FR" dirty="0" err="1"/>
              <a:t>Spanner</a:t>
            </a:r>
            <a:r>
              <a:rPr lang="fr-FR" dirty="0"/>
              <a:t>)</a:t>
            </a:r>
          </a:p>
          <a:p>
            <a:pPr marL="548640" lvl="2" indent="0">
              <a:buNone/>
            </a:pPr>
            <a:r>
              <a:rPr lang="fr-FR" dirty="0"/>
              <a:t>   </a:t>
            </a:r>
            <a:r>
              <a:rPr lang="fr-FR" sz="1500" dirty="0">
                <a:hlinkClick r:id="rId4"/>
              </a:rPr>
              <a:t>https://www.cockroachlabs.com/docs/stable/sql-feature-support.html#</a:t>
            </a:r>
            <a:endParaRPr lang="fr-FR" sz="1500" dirty="0"/>
          </a:p>
          <a:p>
            <a:pPr lvl="2"/>
            <a:r>
              <a:rPr lang="fr-FR" dirty="0"/>
              <a:t>SAP Hana (24</a:t>
            </a:r>
            <a:r>
              <a:rPr lang="fr-FR" baseline="30000" dirty="0"/>
              <a:t>ème</a:t>
            </a:r>
            <a:r>
              <a:rPr lang="fr-FR" dirty="0"/>
              <a:t>)</a:t>
            </a:r>
          </a:p>
          <a:p>
            <a:pPr lvl="2"/>
            <a:r>
              <a:rPr lang="fr-FR" dirty="0" err="1"/>
              <a:t>VoltDB</a:t>
            </a:r>
            <a:r>
              <a:rPr lang="fr-FR" dirty="0"/>
              <a:t> (165</a:t>
            </a:r>
            <a:r>
              <a:rPr lang="fr-FR" baseline="30000" dirty="0"/>
              <a:t>ème</a:t>
            </a:r>
            <a:r>
              <a:rPr lang="fr-FR" dirty="0"/>
              <a:t>, SGBD NoSQL créé par M. </a:t>
            </a:r>
            <a:r>
              <a:rPr lang="fr-FR" dirty="0" err="1"/>
              <a:t>Stonebreaker</a:t>
            </a:r>
            <a:r>
              <a:rPr lang="fr-FR" dirty="0"/>
              <a:t>, le créateur de PostgreSQL)</a:t>
            </a:r>
          </a:p>
          <a:p>
            <a:pPr lvl="2"/>
            <a:r>
              <a:rPr lang="fr-FR" dirty="0"/>
              <a:t>Microsoft SQL Server</a:t>
            </a:r>
          </a:p>
          <a:p>
            <a:pPr lvl="2"/>
            <a:r>
              <a:rPr lang="fr-FR" dirty="0"/>
              <a:t>(</a:t>
            </a:r>
            <a:r>
              <a:rPr lang="fr-FR" dirty="0" err="1"/>
              <a:t>PostqreSQL</a:t>
            </a:r>
            <a:r>
              <a:rPr lang="fr-FR" dirty="0"/>
              <a:t>, </a:t>
            </a:r>
            <a:r>
              <a:rPr lang="fr-FR" dirty="0" err="1"/>
              <a:t>MariaDB</a:t>
            </a:r>
            <a:r>
              <a:rPr lang="fr-FR" dirty="0"/>
              <a:t>, Oracle)</a:t>
            </a:r>
          </a:p>
          <a:p>
            <a:pPr lvl="2"/>
            <a:r>
              <a:rPr lang="fr-FR" dirty="0"/>
              <a:t>Etc.</a:t>
            </a:r>
          </a:p>
          <a:p>
            <a:pPr lvl="2"/>
            <a:r>
              <a:rPr lang="fr-FR" dirty="0"/>
              <a:t>Plus de détails : </a:t>
            </a:r>
            <a:r>
              <a:rPr lang="fr-FR" sz="1500" dirty="0">
                <a:hlinkClick r:id="rId5"/>
              </a:rPr>
              <a:t>https://www.predictiveanalyticstoday.com/newsql-databases</a:t>
            </a:r>
            <a:endParaRPr lang="fr-FR" sz="1500" dirty="0"/>
          </a:p>
        </p:txBody>
      </p:sp>
      <p:sp>
        <p:nvSpPr>
          <p:cNvPr id="4" name="Espace réservé du numéro de diapositive 3">
            <a:extLst>
              <a:ext uri="{FF2B5EF4-FFF2-40B4-BE49-F238E27FC236}">
                <a16:creationId xmlns:a16="http://schemas.microsoft.com/office/drawing/2014/main" id="{4106B14E-3613-2548-9CD8-1D9685BBBD8F}"/>
              </a:ext>
            </a:extLst>
          </p:cNvPr>
          <p:cNvSpPr>
            <a:spLocks noGrp="1"/>
          </p:cNvSpPr>
          <p:nvPr>
            <p:ph type="sldNum" sz="quarter" idx="12"/>
          </p:nvPr>
        </p:nvSpPr>
        <p:spPr/>
        <p:txBody>
          <a:bodyPr/>
          <a:lstStyle/>
          <a:p>
            <a:fld id="{0CFEC368-1D7A-4F81-ABF6-AE0E36BAF64C}" type="slidenum">
              <a:rPr lang="en-US" smtClean="0"/>
              <a:pPr/>
              <a:t>32</a:t>
            </a:fld>
            <a:endParaRPr lang="en-US"/>
          </a:p>
        </p:txBody>
      </p:sp>
    </p:spTree>
    <p:extLst>
      <p:ext uri="{BB962C8B-B14F-4D97-AF65-F5344CB8AC3E}">
        <p14:creationId xmlns:p14="http://schemas.microsoft.com/office/powerpoint/2010/main" val="12658593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ctrTitle"/>
          </p:nvPr>
        </p:nvSpPr>
        <p:spPr/>
        <p:txBody>
          <a:bodyPr/>
          <a:lstStyle/>
          <a:p>
            <a:pPr algn="ctr" eaLnBrk="1" hangingPunct="1"/>
            <a:r>
              <a:rPr lang="fr-FR" altLang="x-none" sz="4000" dirty="0" err="1">
                <a:ea typeface="ＭＳ Ｐゴシック" charset="-128"/>
              </a:rPr>
              <a:t>MongoDB</a:t>
            </a:r>
            <a:endParaRPr lang="fr-FR" altLang="x-none" sz="4000" dirty="0">
              <a:ea typeface="ＭＳ Ｐゴシック" charset="-128"/>
            </a:endParaRPr>
          </a:p>
        </p:txBody>
      </p:sp>
      <p:sp>
        <p:nvSpPr>
          <p:cNvPr id="2" name="Espace réservé du numéro de diapositive 1"/>
          <p:cNvSpPr>
            <a:spLocks noGrp="1"/>
          </p:cNvSpPr>
          <p:nvPr>
            <p:ph type="sldNum" sz="quarter" idx="12"/>
          </p:nvPr>
        </p:nvSpPr>
        <p:spPr/>
        <p:txBody>
          <a:bodyPr/>
          <a:lstStyle/>
          <a:p>
            <a:fld id="{0CFEC368-1D7A-4F81-ABF6-AE0E36BAF64C}" type="slidenum">
              <a:rPr lang="en-US" smtClean="0"/>
              <a:pPr/>
              <a:t>33</a:t>
            </a:fld>
            <a:endParaRPr lang="en-US"/>
          </a:p>
        </p:txBody>
      </p:sp>
    </p:spTree>
    <p:extLst>
      <p:ext uri="{BB962C8B-B14F-4D97-AF65-F5344CB8AC3E}">
        <p14:creationId xmlns:p14="http://schemas.microsoft.com/office/powerpoint/2010/main" val="282629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F5516-E186-374F-A348-1052096DFD90}"/>
              </a:ext>
            </a:extLst>
          </p:cNvPr>
          <p:cNvSpPr>
            <a:spLocks noGrp="1"/>
          </p:cNvSpPr>
          <p:nvPr>
            <p:ph type="title"/>
          </p:nvPr>
        </p:nvSpPr>
        <p:spPr/>
        <p:txBody>
          <a:bodyPr/>
          <a:lstStyle/>
          <a:p>
            <a:r>
              <a:rPr lang="fr-FR" dirty="0"/>
              <a:t>Présentation</a:t>
            </a:r>
          </a:p>
        </p:txBody>
      </p:sp>
      <p:sp>
        <p:nvSpPr>
          <p:cNvPr id="3" name="Espace réservé du contenu 2">
            <a:extLst>
              <a:ext uri="{FF2B5EF4-FFF2-40B4-BE49-F238E27FC236}">
                <a16:creationId xmlns:a16="http://schemas.microsoft.com/office/drawing/2014/main" id="{408355C9-D2BB-7842-88BF-BF7EFDAFF959}"/>
              </a:ext>
            </a:extLst>
          </p:cNvPr>
          <p:cNvSpPr>
            <a:spLocks noGrp="1"/>
          </p:cNvSpPr>
          <p:nvPr>
            <p:ph idx="1"/>
          </p:nvPr>
        </p:nvSpPr>
        <p:spPr/>
        <p:txBody>
          <a:bodyPr>
            <a:normAutofit lnSpcReduction="10000"/>
          </a:bodyPr>
          <a:lstStyle/>
          <a:p>
            <a:r>
              <a:rPr lang="fr-FR" dirty="0"/>
              <a:t>Base </a:t>
            </a:r>
            <a:r>
              <a:rPr lang="fr-FR" b="1" dirty="0"/>
              <a:t>NoSQL Orientée documents </a:t>
            </a:r>
            <a:r>
              <a:rPr lang="fr-FR" dirty="0"/>
              <a:t>+ Time </a:t>
            </a:r>
            <a:r>
              <a:rPr lang="fr-FR" dirty="0" err="1"/>
              <a:t>series</a:t>
            </a:r>
            <a:r>
              <a:rPr lang="fr-FR" dirty="0"/>
              <a:t> depuis la V5</a:t>
            </a:r>
          </a:p>
          <a:p>
            <a:r>
              <a:rPr lang="fr-FR" dirty="0"/>
              <a:t>Licence MongoDB Inc. Server </a:t>
            </a:r>
            <a:r>
              <a:rPr lang="fr-FR" dirty="0" err="1"/>
              <a:t>Side</a:t>
            </a:r>
            <a:r>
              <a:rPr lang="fr-FR" dirty="0"/>
              <a:t> Public Licence (licence propriétaire !).</a:t>
            </a:r>
          </a:p>
          <a:p>
            <a:r>
              <a:rPr lang="fr-FR" dirty="0"/>
              <a:t>Développée en C++</a:t>
            </a:r>
          </a:p>
          <a:p>
            <a:r>
              <a:rPr lang="fr-FR" dirty="0"/>
              <a:t>Classée 5</a:t>
            </a:r>
            <a:r>
              <a:rPr lang="fr-FR" baseline="30000" dirty="0"/>
              <a:t>ème</a:t>
            </a:r>
            <a:r>
              <a:rPr lang="fr-FR" dirty="0"/>
              <a:t> dans le classement des SGBD les plus populaires tous types confondus et 1ère pour les SGBD NoSQL (source : </a:t>
            </a:r>
            <a:r>
              <a:rPr lang="fr-FR" dirty="0" err="1"/>
              <a:t>developpez.com</a:t>
            </a:r>
            <a:r>
              <a:rPr lang="fr-FR" dirty="0"/>
              <a:t>, </a:t>
            </a:r>
            <a:r>
              <a:rPr lang="fr-FR" dirty="0" err="1"/>
              <a:t>db-engines.com</a:t>
            </a:r>
            <a:r>
              <a:rPr lang="fr-FR" dirty="0"/>
              <a:t>)</a:t>
            </a:r>
          </a:p>
          <a:p>
            <a:r>
              <a:rPr lang="fr-FR" dirty="0"/>
              <a:t>De nombreux </a:t>
            </a:r>
            <a:r>
              <a:rPr lang="fr-FR" dirty="0" err="1"/>
              <a:t>frameworks</a:t>
            </a:r>
            <a:r>
              <a:rPr lang="fr-FR" dirty="0"/>
              <a:t> implémentent un support de MongoDB sous forme de plugins : </a:t>
            </a:r>
            <a:r>
              <a:rPr lang="fr-FR" dirty="0" err="1"/>
              <a:t>CakePHP</a:t>
            </a:r>
            <a:r>
              <a:rPr lang="fr-FR" dirty="0"/>
              <a:t>, Zend, Doctrine (Object Document Mapper), Eloquent, Rails (</a:t>
            </a:r>
            <a:r>
              <a:rPr lang="fr-FR" dirty="0" err="1"/>
              <a:t>MongoMapper</a:t>
            </a:r>
            <a:r>
              <a:rPr lang="fr-FR" dirty="0"/>
              <a:t>), Spring (Spring MongoDB), etc.</a:t>
            </a:r>
          </a:p>
          <a:p>
            <a:r>
              <a:rPr lang="fr-FR" dirty="0"/>
              <a:t>Utilisée par beaucoup d’organisations comme eBay, Disney, </a:t>
            </a:r>
            <a:r>
              <a:rPr lang="fr-FR" dirty="0" err="1"/>
              <a:t>SourceForge</a:t>
            </a:r>
            <a:r>
              <a:rPr lang="fr-FR" dirty="0"/>
              <a:t>, </a:t>
            </a:r>
            <a:r>
              <a:rPr lang="fr-FR" dirty="0" err="1"/>
              <a:t>Foursquare</a:t>
            </a:r>
            <a:r>
              <a:rPr lang="fr-FR" dirty="0"/>
              <a:t>, </a:t>
            </a:r>
            <a:r>
              <a:rPr lang="fr-FR" dirty="0" err="1"/>
              <a:t>pagesjaunes</a:t>
            </a:r>
            <a:r>
              <a:rPr lang="fr-FR" dirty="0"/>
              <a:t>, etc.</a:t>
            </a:r>
          </a:p>
          <a:p>
            <a:pPr marL="0" indent="0">
              <a:buNone/>
            </a:pPr>
            <a:endParaRPr lang="fr-FR" dirty="0"/>
          </a:p>
        </p:txBody>
      </p:sp>
      <p:sp>
        <p:nvSpPr>
          <p:cNvPr id="4" name="Espace réservé du numéro de diapositive 3">
            <a:extLst>
              <a:ext uri="{FF2B5EF4-FFF2-40B4-BE49-F238E27FC236}">
                <a16:creationId xmlns:a16="http://schemas.microsoft.com/office/drawing/2014/main" id="{4106B14E-3613-2548-9CD8-1D9685BBBD8F}"/>
              </a:ext>
            </a:extLst>
          </p:cNvPr>
          <p:cNvSpPr>
            <a:spLocks noGrp="1"/>
          </p:cNvSpPr>
          <p:nvPr>
            <p:ph type="sldNum" sz="quarter" idx="12"/>
          </p:nvPr>
        </p:nvSpPr>
        <p:spPr/>
        <p:txBody>
          <a:bodyPr/>
          <a:lstStyle/>
          <a:p>
            <a:fld id="{0CFEC368-1D7A-4F81-ABF6-AE0E36BAF64C}" type="slidenum">
              <a:rPr lang="en-US" smtClean="0"/>
              <a:pPr/>
              <a:t>34</a:t>
            </a:fld>
            <a:endParaRPr lang="en-US"/>
          </a:p>
        </p:txBody>
      </p:sp>
    </p:spTree>
    <p:extLst>
      <p:ext uri="{BB962C8B-B14F-4D97-AF65-F5344CB8AC3E}">
        <p14:creationId xmlns:p14="http://schemas.microsoft.com/office/powerpoint/2010/main" val="5957218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F5516-E186-374F-A348-1052096DFD90}"/>
              </a:ext>
            </a:extLst>
          </p:cNvPr>
          <p:cNvSpPr>
            <a:spLocks noGrp="1"/>
          </p:cNvSpPr>
          <p:nvPr>
            <p:ph type="title"/>
          </p:nvPr>
        </p:nvSpPr>
        <p:spPr/>
        <p:txBody>
          <a:bodyPr/>
          <a:lstStyle/>
          <a:p>
            <a:r>
              <a:rPr lang="fr-FR" dirty="0"/>
              <a:t>Documents</a:t>
            </a:r>
          </a:p>
        </p:txBody>
      </p:sp>
      <p:sp>
        <p:nvSpPr>
          <p:cNvPr id="3" name="Espace réservé du contenu 2">
            <a:extLst>
              <a:ext uri="{FF2B5EF4-FFF2-40B4-BE49-F238E27FC236}">
                <a16:creationId xmlns:a16="http://schemas.microsoft.com/office/drawing/2014/main" id="{408355C9-D2BB-7842-88BF-BF7EFDAFF959}"/>
              </a:ext>
            </a:extLst>
          </p:cNvPr>
          <p:cNvSpPr>
            <a:spLocks noGrp="1"/>
          </p:cNvSpPr>
          <p:nvPr>
            <p:ph idx="1"/>
          </p:nvPr>
        </p:nvSpPr>
        <p:spPr>
          <a:xfrm>
            <a:off x="457200" y="1387234"/>
            <a:ext cx="8229600" cy="2127491"/>
          </a:xfrm>
        </p:spPr>
        <p:txBody>
          <a:bodyPr>
            <a:normAutofit fontScale="92500" lnSpcReduction="10000"/>
          </a:bodyPr>
          <a:lstStyle/>
          <a:p>
            <a:r>
              <a:rPr lang="fr-FR" altLang="fr-FR" dirty="0">
                <a:ea typeface="ＭＳ Ｐゴシック" panose="020B0600070205080204" pitchFamily="34" charset="-128"/>
              </a:rPr>
              <a:t>Les documents sont regroupés sous forme de collections</a:t>
            </a:r>
          </a:p>
          <a:p>
            <a:r>
              <a:rPr lang="fr-FR" altLang="fr-FR" dirty="0">
                <a:ea typeface="ＭＳ Ｐゴシック" panose="020B0600070205080204" pitchFamily="34" charset="-128"/>
              </a:rPr>
              <a:t>1 collection = 1 table relationnelle</a:t>
            </a:r>
          </a:p>
          <a:p>
            <a:r>
              <a:rPr lang="fr-FR" altLang="fr-FR" dirty="0">
                <a:ea typeface="ＭＳ Ｐゴシック" panose="020B0600070205080204" pitchFamily="34" charset="-128"/>
              </a:rPr>
              <a:t>Chaque document est stocké au format BSON (JSON binaire), plus compacte que le format JSON </a:t>
            </a:r>
          </a:p>
          <a:p>
            <a:r>
              <a:rPr lang="fr-FR" altLang="fr-FR" dirty="0">
                <a:ea typeface="ＭＳ Ｐゴシック" panose="020B0600070205080204" pitchFamily="34" charset="-128"/>
              </a:rPr>
              <a:t>Chaque document dispose d’une clé (key) unique permettant de l’identifier dans la collection</a:t>
            </a:r>
          </a:p>
        </p:txBody>
      </p:sp>
      <p:sp>
        <p:nvSpPr>
          <p:cNvPr id="4" name="Espace réservé du numéro de diapositive 3">
            <a:extLst>
              <a:ext uri="{FF2B5EF4-FFF2-40B4-BE49-F238E27FC236}">
                <a16:creationId xmlns:a16="http://schemas.microsoft.com/office/drawing/2014/main" id="{4106B14E-3613-2548-9CD8-1D9685BBBD8F}"/>
              </a:ext>
            </a:extLst>
          </p:cNvPr>
          <p:cNvSpPr>
            <a:spLocks noGrp="1"/>
          </p:cNvSpPr>
          <p:nvPr>
            <p:ph type="sldNum" sz="quarter" idx="12"/>
          </p:nvPr>
        </p:nvSpPr>
        <p:spPr/>
        <p:txBody>
          <a:bodyPr/>
          <a:lstStyle/>
          <a:p>
            <a:fld id="{0CFEC368-1D7A-4F81-ABF6-AE0E36BAF64C}" type="slidenum">
              <a:rPr lang="en-US" smtClean="0"/>
              <a:pPr/>
              <a:t>35</a:t>
            </a:fld>
            <a:endParaRPr lang="en-US"/>
          </a:p>
        </p:txBody>
      </p:sp>
      <p:graphicFrame>
        <p:nvGraphicFramePr>
          <p:cNvPr id="5" name="Tableau 4">
            <a:extLst>
              <a:ext uri="{FF2B5EF4-FFF2-40B4-BE49-F238E27FC236}">
                <a16:creationId xmlns:a16="http://schemas.microsoft.com/office/drawing/2014/main" id="{4BC79A80-A1A1-4E48-86CC-F59470313C1E}"/>
              </a:ext>
            </a:extLst>
          </p:cNvPr>
          <p:cNvGraphicFramePr>
            <a:graphicFrameLocks noGrp="1"/>
          </p:cNvGraphicFramePr>
          <p:nvPr/>
        </p:nvGraphicFramePr>
        <p:xfrm>
          <a:off x="1644650" y="4221163"/>
          <a:ext cx="7248525" cy="371475"/>
        </p:xfrm>
        <a:graphic>
          <a:graphicData uri="http://schemas.openxmlformats.org/drawingml/2006/table">
            <a:tbl>
              <a:tblPr/>
              <a:tblGrid>
                <a:gridCol w="911225">
                  <a:extLst>
                    <a:ext uri="{9D8B030D-6E8A-4147-A177-3AD203B41FA5}">
                      <a16:colId xmlns:a16="http://schemas.microsoft.com/office/drawing/2014/main" val="20000"/>
                    </a:ext>
                  </a:extLst>
                </a:gridCol>
                <a:gridCol w="2713038">
                  <a:extLst>
                    <a:ext uri="{9D8B030D-6E8A-4147-A177-3AD203B41FA5}">
                      <a16:colId xmlns:a16="http://schemas.microsoft.com/office/drawing/2014/main" val="20001"/>
                    </a:ext>
                  </a:extLst>
                </a:gridCol>
                <a:gridCol w="2471737">
                  <a:extLst>
                    <a:ext uri="{9D8B030D-6E8A-4147-A177-3AD203B41FA5}">
                      <a16:colId xmlns:a16="http://schemas.microsoft.com/office/drawing/2014/main" val="20002"/>
                    </a:ext>
                  </a:extLst>
                </a:gridCol>
                <a:gridCol w="1152525">
                  <a:extLst>
                    <a:ext uri="{9D8B030D-6E8A-4147-A177-3AD203B41FA5}">
                      <a16:colId xmlns:a16="http://schemas.microsoft.com/office/drawing/2014/main" val="20003"/>
                    </a:ext>
                  </a:extLst>
                </a:gridCol>
              </a:tblGrid>
              <a:tr h="371475">
                <a:tc>
                  <a:txBody>
                    <a:bodyPr/>
                    <a:lstStyle>
                      <a:lvl1pPr defTabSz="457200" eaLnBrk="0" hangingPunct="0">
                        <a:spcBef>
                          <a:spcPct val="20000"/>
                        </a:spcBef>
                        <a:buClr>
                          <a:schemeClr val="folHlink"/>
                        </a:buClr>
                        <a:buSzPct val="60000"/>
                        <a:buFont typeface="Wingdings" charset="2"/>
                        <a:defRPr sz="2800">
                          <a:solidFill>
                            <a:schemeClr val="tx1"/>
                          </a:solidFill>
                          <a:latin typeface="Tahoma" charset="0"/>
                          <a:ea typeface="ＭＳ Ｐゴシック" charset="-128"/>
                        </a:defRPr>
                      </a:lvl1pPr>
                      <a:lvl2pPr marL="742950" indent="-285750" defTabSz="457200" eaLnBrk="0" hangingPunct="0">
                        <a:spcBef>
                          <a:spcPct val="20000"/>
                        </a:spcBef>
                        <a:buClr>
                          <a:schemeClr val="hlink"/>
                        </a:buClr>
                        <a:buSzPct val="55000"/>
                        <a:buFont typeface="Wingdings" charset="2"/>
                        <a:defRPr sz="2400">
                          <a:solidFill>
                            <a:schemeClr val="tx1"/>
                          </a:solidFill>
                          <a:latin typeface="Tahoma" charset="0"/>
                          <a:ea typeface="ＭＳ Ｐゴシック" charset="-128"/>
                        </a:defRPr>
                      </a:lvl2pPr>
                      <a:lvl3pPr marL="1143000" indent="-228600" defTabSz="457200" eaLnBrk="0" hangingPunct="0">
                        <a:spcBef>
                          <a:spcPct val="20000"/>
                        </a:spcBef>
                        <a:buClr>
                          <a:schemeClr val="folHlink"/>
                        </a:buClr>
                        <a:buSzPct val="50000"/>
                        <a:buFont typeface="Wingdings" charset="2"/>
                        <a:defRPr sz="2000">
                          <a:solidFill>
                            <a:schemeClr val="tx1"/>
                          </a:solidFill>
                          <a:latin typeface="Tahoma" charset="0"/>
                          <a:ea typeface="ＭＳ Ｐゴシック" charset="-128"/>
                        </a:defRPr>
                      </a:lvl3pPr>
                      <a:lvl4pPr marL="1600200" indent="-228600" defTabSz="457200" eaLnBrk="0" hangingPunct="0">
                        <a:spcBef>
                          <a:spcPct val="20000"/>
                        </a:spcBef>
                        <a:buClr>
                          <a:schemeClr val="accent2"/>
                        </a:buClr>
                        <a:buSzPct val="55000"/>
                        <a:buFont typeface="Wingdings" charset="2"/>
                        <a:defRPr>
                          <a:solidFill>
                            <a:schemeClr val="tx1"/>
                          </a:solidFill>
                          <a:latin typeface="Tahoma" charset="0"/>
                          <a:ea typeface="ＭＳ Ｐゴシック" charset="-128"/>
                        </a:defRPr>
                      </a:lvl4pPr>
                      <a:lvl5pPr marL="2057400" indent="-228600" defTabSz="457200" eaLnBrk="0" hangingPunct="0">
                        <a:spcBef>
                          <a:spcPct val="20000"/>
                        </a:spcBef>
                        <a:buClr>
                          <a:schemeClr val="accent1"/>
                        </a:buClr>
                        <a:buSzPct val="50000"/>
                        <a:buFont typeface="Wingdings" charset="2"/>
                        <a:defRPr>
                          <a:solidFill>
                            <a:schemeClr val="tx1"/>
                          </a:solidFill>
                          <a:latin typeface="Tahoma" charset="0"/>
                          <a:ea typeface="ＭＳ Ｐゴシック" charset="-128"/>
                        </a:defRPr>
                      </a:lvl5pPr>
                      <a:lvl6pPr marL="2514600" indent="-228600" defTabSz="457200" eaLnBrk="0" fontAlgn="base" hangingPunct="0">
                        <a:spcBef>
                          <a:spcPct val="20000"/>
                        </a:spcBef>
                        <a:spcAft>
                          <a:spcPct val="0"/>
                        </a:spcAft>
                        <a:buClr>
                          <a:schemeClr val="accent1"/>
                        </a:buClr>
                        <a:buSzPct val="50000"/>
                        <a:buFont typeface="Wingdings" charset="2"/>
                        <a:defRPr>
                          <a:solidFill>
                            <a:schemeClr val="tx1"/>
                          </a:solidFill>
                          <a:latin typeface="Tahoma" charset="0"/>
                          <a:ea typeface="ＭＳ Ｐゴシック" charset="-128"/>
                        </a:defRPr>
                      </a:lvl6pPr>
                      <a:lvl7pPr marL="2971800" indent="-228600" defTabSz="457200" eaLnBrk="0" fontAlgn="base" hangingPunct="0">
                        <a:spcBef>
                          <a:spcPct val="20000"/>
                        </a:spcBef>
                        <a:spcAft>
                          <a:spcPct val="0"/>
                        </a:spcAft>
                        <a:buClr>
                          <a:schemeClr val="accent1"/>
                        </a:buClr>
                        <a:buSzPct val="50000"/>
                        <a:buFont typeface="Wingdings" charset="2"/>
                        <a:defRPr>
                          <a:solidFill>
                            <a:schemeClr val="tx1"/>
                          </a:solidFill>
                          <a:latin typeface="Tahoma" charset="0"/>
                          <a:ea typeface="ＭＳ Ｐゴシック" charset="-128"/>
                        </a:defRPr>
                      </a:lvl7pPr>
                      <a:lvl8pPr marL="3429000" indent="-228600" defTabSz="457200" eaLnBrk="0" fontAlgn="base" hangingPunct="0">
                        <a:spcBef>
                          <a:spcPct val="20000"/>
                        </a:spcBef>
                        <a:spcAft>
                          <a:spcPct val="0"/>
                        </a:spcAft>
                        <a:buClr>
                          <a:schemeClr val="accent1"/>
                        </a:buClr>
                        <a:buSzPct val="50000"/>
                        <a:buFont typeface="Wingdings" charset="2"/>
                        <a:defRPr>
                          <a:solidFill>
                            <a:schemeClr val="tx1"/>
                          </a:solidFill>
                          <a:latin typeface="Tahoma" charset="0"/>
                          <a:ea typeface="ＭＳ Ｐゴシック" charset="-128"/>
                        </a:defRPr>
                      </a:lvl8pPr>
                      <a:lvl9pPr marL="3886200" indent="-228600" defTabSz="457200" eaLnBrk="0" fontAlgn="base" hangingPunct="0">
                        <a:spcBef>
                          <a:spcPct val="20000"/>
                        </a:spcBef>
                        <a:spcAft>
                          <a:spcPct val="0"/>
                        </a:spcAft>
                        <a:buClr>
                          <a:schemeClr val="accent1"/>
                        </a:buClr>
                        <a:buSzPct val="50000"/>
                        <a:buFont typeface="Wingdings" charset="2"/>
                        <a:defRPr>
                          <a:solidFill>
                            <a:schemeClr val="tx1"/>
                          </a:solidFill>
                          <a:latin typeface="Tahom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800" b="1" i="0" u="none" strike="noStrike" cap="none" normalizeH="0" baseline="0">
                          <a:ln>
                            <a:noFill/>
                          </a:ln>
                          <a:solidFill>
                            <a:srgbClr val="FFFFFF"/>
                          </a:solidFill>
                          <a:effectLst/>
                          <a:latin typeface="Tahoma" charset="0"/>
                          <a:ea typeface="ＭＳ Ｐゴシック" charset="-128"/>
                        </a:rPr>
                        <a:t>…</a:t>
                      </a:r>
                    </a:p>
                  </a:txBody>
                  <a:tcPr marL="91445" marR="91445" marT="45798" marB="4579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3366FF"/>
                    </a:solidFill>
                  </a:tcPr>
                </a:tc>
                <a:tc>
                  <a:txBody>
                    <a:bodyPr/>
                    <a:lstStyle>
                      <a:lvl1pPr defTabSz="457200" eaLnBrk="0" hangingPunct="0">
                        <a:spcBef>
                          <a:spcPct val="20000"/>
                        </a:spcBef>
                        <a:buClr>
                          <a:schemeClr val="folHlink"/>
                        </a:buClr>
                        <a:buSzPct val="60000"/>
                        <a:buFont typeface="Wingdings" charset="2"/>
                        <a:defRPr sz="2800">
                          <a:solidFill>
                            <a:schemeClr val="tx1"/>
                          </a:solidFill>
                          <a:latin typeface="Tahoma" charset="0"/>
                          <a:ea typeface="ＭＳ Ｐゴシック" charset="-128"/>
                        </a:defRPr>
                      </a:lvl1pPr>
                      <a:lvl2pPr marL="742950" indent="-285750" defTabSz="457200" eaLnBrk="0" hangingPunct="0">
                        <a:spcBef>
                          <a:spcPct val="20000"/>
                        </a:spcBef>
                        <a:buClr>
                          <a:schemeClr val="hlink"/>
                        </a:buClr>
                        <a:buSzPct val="55000"/>
                        <a:buFont typeface="Wingdings" charset="2"/>
                        <a:defRPr sz="2400">
                          <a:solidFill>
                            <a:schemeClr val="tx1"/>
                          </a:solidFill>
                          <a:latin typeface="Tahoma" charset="0"/>
                          <a:ea typeface="ＭＳ Ｐゴシック" charset="-128"/>
                        </a:defRPr>
                      </a:lvl2pPr>
                      <a:lvl3pPr marL="1143000" indent="-228600" defTabSz="457200" eaLnBrk="0" hangingPunct="0">
                        <a:spcBef>
                          <a:spcPct val="20000"/>
                        </a:spcBef>
                        <a:buClr>
                          <a:schemeClr val="folHlink"/>
                        </a:buClr>
                        <a:buSzPct val="50000"/>
                        <a:buFont typeface="Wingdings" charset="2"/>
                        <a:defRPr sz="2000">
                          <a:solidFill>
                            <a:schemeClr val="tx1"/>
                          </a:solidFill>
                          <a:latin typeface="Tahoma" charset="0"/>
                          <a:ea typeface="ＭＳ Ｐゴシック" charset="-128"/>
                        </a:defRPr>
                      </a:lvl3pPr>
                      <a:lvl4pPr marL="1600200" indent="-228600" defTabSz="457200" eaLnBrk="0" hangingPunct="0">
                        <a:spcBef>
                          <a:spcPct val="20000"/>
                        </a:spcBef>
                        <a:buClr>
                          <a:schemeClr val="accent2"/>
                        </a:buClr>
                        <a:buSzPct val="55000"/>
                        <a:buFont typeface="Wingdings" charset="2"/>
                        <a:defRPr>
                          <a:solidFill>
                            <a:schemeClr val="tx1"/>
                          </a:solidFill>
                          <a:latin typeface="Tahoma" charset="0"/>
                          <a:ea typeface="ＭＳ Ｐゴシック" charset="-128"/>
                        </a:defRPr>
                      </a:lvl4pPr>
                      <a:lvl5pPr marL="2057400" indent="-228600" defTabSz="457200" eaLnBrk="0" hangingPunct="0">
                        <a:spcBef>
                          <a:spcPct val="20000"/>
                        </a:spcBef>
                        <a:buClr>
                          <a:schemeClr val="accent1"/>
                        </a:buClr>
                        <a:buSzPct val="50000"/>
                        <a:buFont typeface="Wingdings" charset="2"/>
                        <a:defRPr>
                          <a:solidFill>
                            <a:schemeClr val="tx1"/>
                          </a:solidFill>
                          <a:latin typeface="Tahoma" charset="0"/>
                          <a:ea typeface="ＭＳ Ｐゴシック" charset="-128"/>
                        </a:defRPr>
                      </a:lvl5pPr>
                      <a:lvl6pPr marL="2514600" indent="-228600" defTabSz="457200" eaLnBrk="0" fontAlgn="base" hangingPunct="0">
                        <a:spcBef>
                          <a:spcPct val="20000"/>
                        </a:spcBef>
                        <a:spcAft>
                          <a:spcPct val="0"/>
                        </a:spcAft>
                        <a:buClr>
                          <a:schemeClr val="accent1"/>
                        </a:buClr>
                        <a:buSzPct val="50000"/>
                        <a:buFont typeface="Wingdings" charset="2"/>
                        <a:defRPr>
                          <a:solidFill>
                            <a:schemeClr val="tx1"/>
                          </a:solidFill>
                          <a:latin typeface="Tahoma" charset="0"/>
                          <a:ea typeface="ＭＳ Ｐゴシック" charset="-128"/>
                        </a:defRPr>
                      </a:lvl6pPr>
                      <a:lvl7pPr marL="2971800" indent="-228600" defTabSz="457200" eaLnBrk="0" fontAlgn="base" hangingPunct="0">
                        <a:spcBef>
                          <a:spcPct val="20000"/>
                        </a:spcBef>
                        <a:spcAft>
                          <a:spcPct val="0"/>
                        </a:spcAft>
                        <a:buClr>
                          <a:schemeClr val="accent1"/>
                        </a:buClr>
                        <a:buSzPct val="50000"/>
                        <a:buFont typeface="Wingdings" charset="2"/>
                        <a:defRPr>
                          <a:solidFill>
                            <a:schemeClr val="tx1"/>
                          </a:solidFill>
                          <a:latin typeface="Tahoma" charset="0"/>
                          <a:ea typeface="ＭＳ Ｐゴシック" charset="-128"/>
                        </a:defRPr>
                      </a:lvl7pPr>
                      <a:lvl8pPr marL="3429000" indent="-228600" defTabSz="457200" eaLnBrk="0" fontAlgn="base" hangingPunct="0">
                        <a:spcBef>
                          <a:spcPct val="20000"/>
                        </a:spcBef>
                        <a:spcAft>
                          <a:spcPct val="0"/>
                        </a:spcAft>
                        <a:buClr>
                          <a:schemeClr val="accent1"/>
                        </a:buClr>
                        <a:buSzPct val="50000"/>
                        <a:buFont typeface="Wingdings" charset="2"/>
                        <a:defRPr>
                          <a:solidFill>
                            <a:schemeClr val="tx1"/>
                          </a:solidFill>
                          <a:latin typeface="Tahoma" charset="0"/>
                          <a:ea typeface="ＭＳ Ｐゴシック" charset="-128"/>
                        </a:defRPr>
                      </a:lvl8pPr>
                      <a:lvl9pPr marL="3886200" indent="-228600" defTabSz="457200" eaLnBrk="0" fontAlgn="base" hangingPunct="0">
                        <a:spcBef>
                          <a:spcPct val="20000"/>
                        </a:spcBef>
                        <a:spcAft>
                          <a:spcPct val="0"/>
                        </a:spcAft>
                        <a:buClr>
                          <a:schemeClr val="accent1"/>
                        </a:buClr>
                        <a:buSzPct val="50000"/>
                        <a:buFont typeface="Wingdings" charset="2"/>
                        <a:defRPr>
                          <a:solidFill>
                            <a:schemeClr val="tx1"/>
                          </a:solidFill>
                          <a:latin typeface="Tahom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800" b="1" i="0" u="none" strike="noStrike" cap="none" normalizeH="0" baseline="0">
                          <a:ln>
                            <a:noFill/>
                          </a:ln>
                          <a:solidFill>
                            <a:srgbClr val="FFFFFF"/>
                          </a:solidFill>
                          <a:effectLst/>
                          <a:latin typeface="Tahoma" charset="0"/>
                          <a:ea typeface="ＭＳ Ｐゴシック" charset="-128"/>
                        </a:rPr>
                        <a:t>1234567</a:t>
                      </a:r>
                    </a:p>
                  </a:txBody>
                  <a:tcPr marL="91445" marR="91445" marT="45798" marB="4579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3366FF"/>
                    </a:solidFill>
                  </a:tcPr>
                </a:tc>
                <a:tc>
                  <a:txBody>
                    <a:bodyPr/>
                    <a:lstStyle>
                      <a:lvl1pPr defTabSz="457200" eaLnBrk="0" hangingPunct="0">
                        <a:spcBef>
                          <a:spcPct val="20000"/>
                        </a:spcBef>
                        <a:buClr>
                          <a:schemeClr val="folHlink"/>
                        </a:buClr>
                        <a:buSzPct val="60000"/>
                        <a:buFont typeface="Wingdings" charset="2"/>
                        <a:defRPr sz="2800">
                          <a:solidFill>
                            <a:schemeClr val="tx1"/>
                          </a:solidFill>
                          <a:latin typeface="Tahoma" charset="0"/>
                          <a:ea typeface="ＭＳ Ｐゴシック" charset="-128"/>
                        </a:defRPr>
                      </a:lvl1pPr>
                      <a:lvl2pPr marL="742950" indent="-285750" defTabSz="457200" eaLnBrk="0" hangingPunct="0">
                        <a:spcBef>
                          <a:spcPct val="20000"/>
                        </a:spcBef>
                        <a:buClr>
                          <a:schemeClr val="hlink"/>
                        </a:buClr>
                        <a:buSzPct val="55000"/>
                        <a:buFont typeface="Wingdings" charset="2"/>
                        <a:defRPr sz="2400">
                          <a:solidFill>
                            <a:schemeClr val="tx1"/>
                          </a:solidFill>
                          <a:latin typeface="Tahoma" charset="0"/>
                          <a:ea typeface="ＭＳ Ｐゴシック" charset="-128"/>
                        </a:defRPr>
                      </a:lvl2pPr>
                      <a:lvl3pPr marL="1143000" indent="-228600" defTabSz="457200" eaLnBrk="0" hangingPunct="0">
                        <a:spcBef>
                          <a:spcPct val="20000"/>
                        </a:spcBef>
                        <a:buClr>
                          <a:schemeClr val="folHlink"/>
                        </a:buClr>
                        <a:buSzPct val="50000"/>
                        <a:buFont typeface="Wingdings" charset="2"/>
                        <a:defRPr sz="2000">
                          <a:solidFill>
                            <a:schemeClr val="tx1"/>
                          </a:solidFill>
                          <a:latin typeface="Tahoma" charset="0"/>
                          <a:ea typeface="ＭＳ Ｐゴシック" charset="-128"/>
                        </a:defRPr>
                      </a:lvl3pPr>
                      <a:lvl4pPr marL="1600200" indent="-228600" defTabSz="457200" eaLnBrk="0" hangingPunct="0">
                        <a:spcBef>
                          <a:spcPct val="20000"/>
                        </a:spcBef>
                        <a:buClr>
                          <a:schemeClr val="accent2"/>
                        </a:buClr>
                        <a:buSzPct val="55000"/>
                        <a:buFont typeface="Wingdings" charset="2"/>
                        <a:defRPr>
                          <a:solidFill>
                            <a:schemeClr val="tx1"/>
                          </a:solidFill>
                          <a:latin typeface="Tahoma" charset="0"/>
                          <a:ea typeface="ＭＳ Ｐゴシック" charset="-128"/>
                        </a:defRPr>
                      </a:lvl4pPr>
                      <a:lvl5pPr marL="2057400" indent="-228600" defTabSz="457200" eaLnBrk="0" hangingPunct="0">
                        <a:spcBef>
                          <a:spcPct val="20000"/>
                        </a:spcBef>
                        <a:buClr>
                          <a:schemeClr val="accent1"/>
                        </a:buClr>
                        <a:buSzPct val="50000"/>
                        <a:buFont typeface="Wingdings" charset="2"/>
                        <a:defRPr>
                          <a:solidFill>
                            <a:schemeClr val="tx1"/>
                          </a:solidFill>
                          <a:latin typeface="Tahoma" charset="0"/>
                          <a:ea typeface="ＭＳ Ｐゴシック" charset="-128"/>
                        </a:defRPr>
                      </a:lvl5pPr>
                      <a:lvl6pPr marL="2514600" indent="-228600" defTabSz="457200" eaLnBrk="0" fontAlgn="base" hangingPunct="0">
                        <a:spcBef>
                          <a:spcPct val="20000"/>
                        </a:spcBef>
                        <a:spcAft>
                          <a:spcPct val="0"/>
                        </a:spcAft>
                        <a:buClr>
                          <a:schemeClr val="accent1"/>
                        </a:buClr>
                        <a:buSzPct val="50000"/>
                        <a:buFont typeface="Wingdings" charset="2"/>
                        <a:defRPr>
                          <a:solidFill>
                            <a:schemeClr val="tx1"/>
                          </a:solidFill>
                          <a:latin typeface="Tahoma" charset="0"/>
                          <a:ea typeface="ＭＳ Ｐゴシック" charset="-128"/>
                        </a:defRPr>
                      </a:lvl6pPr>
                      <a:lvl7pPr marL="2971800" indent="-228600" defTabSz="457200" eaLnBrk="0" fontAlgn="base" hangingPunct="0">
                        <a:spcBef>
                          <a:spcPct val="20000"/>
                        </a:spcBef>
                        <a:spcAft>
                          <a:spcPct val="0"/>
                        </a:spcAft>
                        <a:buClr>
                          <a:schemeClr val="accent1"/>
                        </a:buClr>
                        <a:buSzPct val="50000"/>
                        <a:buFont typeface="Wingdings" charset="2"/>
                        <a:defRPr>
                          <a:solidFill>
                            <a:schemeClr val="tx1"/>
                          </a:solidFill>
                          <a:latin typeface="Tahoma" charset="0"/>
                          <a:ea typeface="ＭＳ Ｐゴシック" charset="-128"/>
                        </a:defRPr>
                      </a:lvl7pPr>
                      <a:lvl8pPr marL="3429000" indent="-228600" defTabSz="457200" eaLnBrk="0" fontAlgn="base" hangingPunct="0">
                        <a:spcBef>
                          <a:spcPct val="20000"/>
                        </a:spcBef>
                        <a:spcAft>
                          <a:spcPct val="0"/>
                        </a:spcAft>
                        <a:buClr>
                          <a:schemeClr val="accent1"/>
                        </a:buClr>
                        <a:buSzPct val="50000"/>
                        <a:buFont typeface="Wingdings" charset="2"/>
                        <a:defRPr>
                          <a:solidFill>
                            <a:schemeClr val="tx1"/>
                          </a:solidFill>
                          <a:latin typeface="Tahoma" charset="0"/>
                          <a:ea typeface="ＭＳ Ｐゴシック" charset="-128"/>
                        </a:defRPr>
                      </a:lvl8pPr>
                      <a:lvl9pPr marL="3886200" indent="-228600" defTabSz="457200" eaLnBrk="0" fontAlgn="base" hangingPunct="0">
                        <a:spcBef>
                          <a:spcPct val="20000"/>
                        </a:spcBef>
                        <a:spcAft>
                          <a:spcPct val="0"/>
                        </a:spcAft>
                        <a:buClr>
                          <a:schemeClr val="accent1"/>
                        </a:buClr>
                        <a:buSzPct val="50000"/>
                        <a:buFont typeface="Wingdings" charset="2"/>
                        <a:defRPr>
                          <a:solidFill>
                            <a:schemeClr val="tx1"/>
                          </a:solidFill>
                          <a:latin typeface="Tahom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800" b="1" i="0" u="none" strike="noStrike" cap="none" normalizeH="0" baseline="0">
                          <a:ln>
                            <a:noFill/>
                          </a:ln>
                          <a:solidFill>
                            <a:srgbClr val="FFFFFF"/>
                          </a:solidFill>
                          <a:effectLst/>
                          <a:latin typeface="Tahoma" charset="0"/>
                          <a:ea typeface="ＭＳ Ｐゴシック" charset="-128"/>
                        </a:rPr>
                        <a:t>1234568</a:t>
                      </a:r>
                    </a:p>
                  </a:txBody>
                  <a:tcPr marL="91445" marR="91445" marT="45798" marB="4579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3366FF"/>
                    </a:solidFill>
                  </a:tcPr>
                </a:tc>
                <a:tc>
                  <a:txBody>
                    <a:bodyPr/>
                    <a:lstStyle>
                      <a:lvl1pPr defTabSz="457200" eaLnBrk="0" hangingPunct="0">
                        <a:spcBef>
                          <a:spcPct val="20000"/>
                        </a:spcBef>
                        <a:buClr>
                          <a:schemeClr val="folHlink"/>
                        </a:buClr>
                        <a:buSzPct val="60000"/>
                        <a:buFont typeface="Wingdings" charset="2"/>
                        <a:defRPr sz="2800">
                          <a:solidFill>
                            <a:schemeClr val="tx1"/>
                          </a:solidFill>
                          <a:latin typeface="Tahoma" charset="0"/>
                          <a:ea typeface="ＭＳ Ｐゴシック" charset="-128"/>
                        </a:defRPr>
                      </a:lvl1pPr>
                      <a:lvl2pPr marL="742950" indent="-285750" defTabSz="457200" eaLnBrk="0" hangingPunct="0">
                        <a:spcBef>
                          <a:spcPct val="20000"/>
                        </a:spcBef>
                        <a:buClr>
                          <a:schemeClr val="hlink"/>
                        </a:buClr>
                        <a:buSzPct val="55000"/>
                        <a:buFont typeface="Wingdings" charset="2"/>
                        <a:defRPr sz="2400">
                          <a:solidFill>
                            <a:schemeClr val="tx1"/>
                          </a:solidFill>
                          <a:latin typeface="Tahoma" charset="0"/>
                          <a:ea typeface="ＭＳ Ｐゴシック" charset="-128"/>
                        </a:defRPr>
                      </a:lvl2pPr>
                      <a:lvl3pPr marL="1143000" indent="-228600" defTabSz="457200" eaLnBrk="0" hangingPunct="0">
                        <a:spcBef>
                          <a:spcPct val="20000"/>
                        </a:spcBef>
                        <a:buClr>
                          <a:schemeClr val="folHlink"/>
                        </a:buClr>
                        <a:buSzPct val="50000"/>
                        <a:buFont typeface="Wingdings" charset="2"/>
                        <a:defRPr sz="2000">
                          <a:solidFill>
                            <a:schemeClr val="tx1"/>
                          </a:solidFill>
                          <a:latin typeface="Tahoma" charset="0"/>
                          <a:ea typeface="ＭＳ Ｐゴシック" charset="-128"/>
                        </a:defRPr>
                      </a:lvl3pPr>
                      <a:lvl4pPr marL="1600200" indent="-228600" defTabSz="457200" eaLnBrk="0" hangingPunct="0">
                        <a:spcBef>
                          <a:spcPct val="20000"/>
                        </a:spcBef>
                        <a:buClr>
                          <a:schemeClr val="accent2"/>
                        </a:buClr>
                        <a:buSzPct val="55000"/>
                        <a:buFont typeface="Wingdings" charset="2"/>
                        <a:defRPr>
                          <a:solidFill>
                            <a:schemeClr val="tx1"/>
                          </a:solidFill>
                          <a:latin typeface="Tahoma" charset="0"/>
                          <a:ea typeface="ＭＳ Ｐゴシック" charset="-128"/>
                        </a:defRPr>
                      </a:lvl4pPr>
                      <a:lvl5pPr marL="2057400" indent="-228600" defTabSz="457200" eaLnBrk="0" hangingPunct="0">
                        <a:spcBef>
                          <a:spcPct val="20000"/>
                        </a:spcBef>
                        <a:buClr>
                          <a:schemeClr val="accent1"/>
                        </a:buClr>
                        <a:buSzPct val="50000"/>
                        <a:buFont typeface="Wingdings" charset="2"/>
                        <a:defRPr>
                          <a:solidFill>
                            <a:schemeClr val="tx1"/>
                          </a:solidFill>
                          <a:latin typeface="Tahoma" charset="0"/>
                          <a:ea typeface="ＭＳ Ｐゴシック" charset="-128"/>
                        </a:defRPr>
                      </a:lvl5pPr>
                      <a:lvl6pPr marL="2514600" indent="-228600" defTabSz="457200" eaLnBrk="0" fontAlgn="base" hangingPunct="0">
                        <a:spcBef>
                          <a:spcPct val="20000"/>
                        </a:spcBef>
                        <a:spcAft>
                          <a:spcPct val="0"/>
                        </a:spcAft>
                        <a:buClr>
                          <a:schemeClr val="accent1"/>
                        </a:buClr>
                        <a:buSzPct val="50000"/>
                        <a:buFont typeface="Wingdings" charset="2"/>
                        <a:defRPr>
                          <a:solidFill>
                            <a:schemeClr val="tx1"/>
                          </a:solidFill>
                          <a:latin typeface="Tahoma" charset="0"/>
                          <a:ea typeface="ＭＳ Ｐゴシック" charset="-128"/>
                        </a:defRPr>
                      </a:lvl6pPr>
                      <a:lvl7pPr marL="2971800" indent="-228600" defTabSz="457200" eaLnBrk="0" fontAlgn="base" hangingPunct="0">
                        <a:spcBef>
                          <a:spcPct val="20000"/>
                        </a:spcBef>
                        <a:spcAft>
                          <a:spcPct val="0"/>
                        </a:spcAft>
                        <a:buClr>
                          <a:schemeClr val="accent1"/>
                        </a:buClr>
                        <a:buSzPct val="50000"/>
                        <a:buFont typeface="Wingdings" charset="2"/>
                        <a:defRPr>
                          <a:solidFill>
                            <a:schemeClr val="tx1"/>
                          </a:solidFill>
                          <a:latin typeface="Tahoma" charset="0"/>
                          <a:ea typeface="ＭＳ Ｐゴシック" charset="-128"/>
                        </a:defRPr>
                      </a:lvl7pPr>
                      <a:lvl8pPr marL="3429000" indent="-228600" defTabSz="457200" eaLnBrk="0" fontAlgn="base" hangingPunct="0">
                        <a:spcBef>
                          <a:spcPct val="20000"/>
                        </a:spcBef>
                        <a:spcAft>
                          <a:spcPct val="0"/>
                        </a:spcAft>
                        <a:buClr>
                          <a:schemeClr val="accent1"/>
                        </a:buClr>
                        <a:buSzPct val="50000"/>
                        <a:buFont typeface="Wingdings" charset="2"/>
                        <a:defRPr>
                          <a:solidFill>
                            <a:schemeClr val="tx1"/>
                          </a:solidFill>
                          <a:latin typeface="Tahoma" charset="0"/>
                          <a:ea typeface="ＭＳ Ｐゴシック" charset="-128"/>
                        </a:defRPr>
                      </a:lvl8pPr>
                      <a:lvl9pPr marL="3886200" indent="-228600" defTabSz="457200" eaLnBrk="0" fontAlgn="base" hangingPunct="0">
                        <a:spcBef>
                          <a:spcPct val="20000"/>
                        </a:spcBef>
                        <a:spcAft>
                          <a:spcPct val="0"/>
                        </a:spcAft>
                        <a:buClr>
                          <a:schemeClr val="accent1"/>
                        </a:buClr>
                        <a:buSzPct val="50000"/>
                        <a:buFont typeface="Wingdings" charset="2"/>
                        <a:defRPr>
                          <a:solidFill>
                            <a:schemeClr val="tx1"/>
                          </a:solidFill>
                          <a:latin typeface="Tahoma"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800" b="1" i="0" u="none" strike="noStrike" cap="none" normalizeH="0" baseline="0">
                          <a:ln>
                            <a:noFill/>
                          </a:ln>
                          <a:solidFill>
                            <a:srgbClr val="FFFFFF"/>
                          </a:solidFill>
                          <a:effectLst/>
                          <a:latin typeface="Tahoma" charset="0"/>
                          <a:ea typeface="ＭＳ Ｐゴシック" charset="-128"/>
                        </a:rPr>
                        <a:t>…</a:t>
                      </a:r>
                    </a:p>
                  </a:txBody>
                  <a:tcPr marL="91445" marR="91445" marT="45798" marB="4579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3366FF"/>
                    </a:solidFill>
                  </a:tcPr>
                </a:tc>
                <a:extLst>
                  <a:ext uri="{0D108BD9-81ED-4DB2-BD59-A6C34878D82A}">
                    <a16:rowId xmlns:a16="http://schemas.microsoft.com/office/drawing/2014/main" val="10000"/>
                  </a:ext>
                </a:extLst>
              </a:tr>
            </a:tbl>
          </a:graphicData>
        </a:graphic>
      </p:graphicFrame>
      <p:sp>
        <p:nvSpPr>
          <p:cNvPr id="6" name="ZoneTexte 2">
            <a:extLst>
              <a:ext uri="{FF2B5EF4-FFF2-40B4-BE49-F238E27FC236}">
                <a16:creationId xmlns:a16="http://schemas.microsoft.com/office/drawing/2014/main" id="{04A95FBB-DBBA-9A40-9BD2-DDB1926AEB35}"/>
              </a:ext>
            </a:extLst>
          </p:cNvPr>
          <p:cNvSpPr txBox="1">
            <a:spLocks noChangeArrowheads="1"/>
          </p:cNvSpPr>
          <p:nvPr/>
        </p:nvSpPr>
        <p:spPr bwMode="auto">
          <a:xfrm>
            <a:off x="323850" y="3716338"/>
            <a:ext cx="21764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fr-FR" altLang="fr-FR" sz="1800" b="1" dirty="0"/>
              <a:t>Collection</a:t>
            </a:r>
            <a:r>
              <a:rPr lang="fr-FR" altLang="fr-FR" sz="1800" dirty="0"/>
              <a:t> : </a:t>
            </a:r>
            <a:r>
              <a:rPr lang="fr-FR" altLang="fr-FR" sz="1800" b="0" dirty="0" err="1"/>
              <a:t>users</a:t>
            </a:r>
            <a:endParaRPr lang="fr-FR" altLang="fr-FR" sz="1800" b="0" dirty="0"/>
          </a:p>
        </p:txBody>
      </p:sp>
      <p:sp>
        <p:nvSpPr>
          <p:cNvPr id="7" name="ZoneTexte 7">
            <a:extLst>
              <a:ext uri="{FF2B5EF4-FFF2-40B4-BE49-F238E27FC236}">
                <a16:creationId xmlns:a16="http://schemas.microsoft.com/office/drawing/2014/main" id="{4025198D-7D8D-BA40-8D43-5CE613F0E057}"/>
              </a:ext>
            </a:extLst>
          </p:cNvPr>
          <p:cNvSpPr txBox="1">
            <a:spLocks noChangeArrowheads="1"/>
          </p:cNvSpPr>
          <p:nvPr/>
        </p:nvSpPr>
        <p:spPr bwMode="auto">
          <a:xfrm>
            <a:off x="323850" y="4211638"/>
            <a:ext cx="8159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fr-FR" altLang="fr-FR" sz="1800" b="1" dirty="0"/>
              <a:t>Clés</a:t>
            </a:r>
            <a:r>
              <a:rPr lang="fr-FR" altLang="fr-FR" sz="1800" dirty="0"/>
              <a:t> :</a:t>
            </a:r>
          </a:p>
        </p:txBody>
      </p:sp>
      <p:sp>
        <p:nvSpPr>
          <p:cNvPr id="8" name="ZoneTexte 8">
            <a:extLst>
              <a:ext uri="{FF2B5EF4-FFF2-40B4-BE49-F238E27FC236}">
                <a16:creationId xmlns:a16="http://schemas.microsoft.com/office/drawing/2014/main" id="{EECFC6A5-B76B-5745-A1A9-F8ECDE9B6F4B}"/>
              </a:ext>
            </a:extLst>
          </p:cNvPr>
          <p:cNvSpPr txBox="1">
            <a:spLocks noChangeArrowheads="1"/>
          </p:cNvSpPr>
          <p:nvPr/>
        </p:nvSpPr>
        <p:spPr bwMode="auto">
          <a:xfrm>
            <a:off x="323850" y="5003800"/>
            <a:ext cx="1203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fr-FR" altLang="fr-FR" sz="1800" b="1" dirty="0"/>
              <a:t>Valeurs</a:t>
            </a:r>
            <a:r>
              <a:rPr lang="fr-FR" altLang="fr-FR" sz="1800" dirty="0"/>
              <a:t> :</a:t>
            </a:r>
          </a:p>
        </p:txBody>
      </p:sp>
      <p:sp>
        <p:nvSpPr>
          <p:cNvPr id="9" name="Rectangle à coins arrondis 3">
            <a:extLst>
              <a:ext uri="{FF2B5EF4-FFF2-40B4-BE49-F238E27FC236}">
                <a16:creationId xmlns:a16="http://schemas.microsoft.com/office/drawing/2014/main" id="{7F80B945-290F-3F45-B6A9-049E7D5951B6}"/>
              </a:ext>
            </a:extLst>
          </p:cNvPr>
          <p:cNvSpPr>
            <a:spLocks noChangeArrowheads="1"/>
          </p:cNvSpPr>
          <p:nvPr/>
        </p:nvSpPr>
        <p:spPr bwMode="auto">
          <a:xfrm>
            <a:off x="2843213" y="4868863"/>
            <a:ext cx="2305050" cy="1800225"/>
          </a:xfrm>
          <a:prstGeom prst="roundRect">
            <a:avLst>
              <a:gd name="adj" fmla="val 16667"/>
            </a:avLst>
          </a:prstGeom>
          <a:solidFill>
            <a:srgbClr val="FF6600"/>
          </a:solidFill>
          <a:ln w="12700">
            <a:solidFill>
              <a:schemeClr val="tx1"/>
            </a:solidFill>
            <a:round/>
            <a:headEnd type="none" w="sm" len="sm"/>
            <a:tailEnd type="none" w="sm" len="sm"/>
          </a:ln>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fr-FR" altLang="fr-FR" sz="1800" b="0"/>
              <a:t>nom: "Dupont"</a:t>
            </a:r>
          </a:p>
          <a:p>
            <a:pPr eaLnBrk="1" hangingPunct="1">
              <a:spcBef>
                <a:spcPct val="0"/>
              </a:spcBef>
              <a:buClrTx/>
              <a:buSzTx/>
              <a:buFontTx/>
              <a:buNone/>
            </a:pPr>
            <a:r>
              <a:rPr lang="fr-FR" altLang="fr-FR" sz="1800" b="0"/>
              <a:t>prenom: "Paul"</a:t>
            </a:r>
          </a:p>
          <a:p>
            <a:pPr eaLnBrk="1" hangingPunct="1">
              <a:spcBef>
                <a:spcPct val="0"/>
              </a:spcBef>
              <a:buClrTx/>
              <a:buSzTx/>
              <a:buFontTx/>
              <a:buNone/>
            </a:pPr>
            <a:r>
              <a:rPr lang="fr-FR" altLang="fr-FR" sz="1800" b="0"/>
              <a:t>diplome:  "CPE"</a:t>
            </a:r>
          </a:p>
          <a:p>
            <a:pPr eaLnBrk="1" hangingPunct="1">
              <a:spcBef>
                <a:spcPct val="0"/>
              </a:spcBef>
              <a:buClrTx/>
              <a:buSzTx/>
              <a:buFontTx/>
              <a:buNone/>
            </a:pPr>
            <a:r>
              <a:rPr lang="fr-FR" altLang="fr-FR" sz="1800" b="0"/>
              <a:t>sexe: "M"</a:t>
            </a:r>
          </a:p>
          <a:p>
            <a:pPr eaLnBrk="1" hangingPunct="1">
              <a:spcBef>
                <a:spcPct val="0"/>
              </a:spcBef>
              <a:buClrTx/>
              <a:buSzTx/>
              <a:buFontTx/>
              <a:buNone/>
            </a:pPr>
            <a:r>
              <a:rPr lang="fr-FR" altLang="fr-FR" sz="1800" b="0"/>
              <a:t>friends: [1234568]</a:t>
            </a:r>
          </a:p>
          <a:p>
            <a:pPr eaLnBrk="1" hangingPunct="1">
              <a:spcBef>
                <a:spcPct val="0"/>
              </a:spcBef>
              <a:buClrTx/>
              <a:buSzTx/>
              <a:buFontTx/>
              <a:buNone/>
            </a:pPr>
            <a:endParaRPr lang="fr-FR" altLang="fr-FR" sz="1800" b="0"/>
          </a:p>
        </p:txBody>
      </p:sp>
      <p:sp>
        <p:nvSpPr>
          <p:cNvPr id="10" name="Rectangle à coins arrondis 10">
            <a:extLst>
              <a:ext uri="{FF2B5EF4-FFF2-40B4-BE49-F238E27FC236}">
                <a16:creationId xmlns:a16="http://schemas.microsoft.com/office/drawing/2014/main" id="{75725600-3413-4244-BB09-F1583736BACE}"/>
              </a:ext>
            </a:extLst>
          </p:cNvPr>
          <p:cNvSpPr>
            <a:spLocks noChangeArrowheads="1"/>
          </p:cNvSpPr>
          <p:nvPr/>
        </p:nvSpPr>
        <p:spPr bwMode="auto">
          <a:xfrm>
            <a:off x="5435600" y="4868863"/>
            <a:ext cx="2305050" cy="1800225"/>
          </a:xfrm>
          <a:prstGeom prst="roundRect">
            <a:avLst>
              <a:gd name="adj" fmla="val 16667"/>
            </a:avLst>
          </a:prstGeom>
          <a:solidFill>
            <a:srgbClr val="FF6600"/>
          </a:solidFill>
          <a:ln w="12700">
            <a:solidFill>
              <a:schemeClr val="tx1"/>
            </a:solidFill>
            <a:round/>
            <a:headEnd type="none" w="sm" len="sm"/>
            <a:tailEnd type="none" w="sm" len="sm"/>
          </a:ln>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fr-FR" altLang="fr-FR" sz="1800" b="0"/>
              <a:t>nom: "Durand"</a:t>
            </a:r>
          </a:p>
          <a:p>
            <a:pPr eaLnBrk="1" hangingPunct="1">
              <a:spcBef>
                <a:spcPct val="0"/>
              </a:spcBef>
              <a:buClrTx/>
              <a:buSzTx/>
              <a:buFontTx/>
              <a:buNone/>
            </a:pPr>
            <a:r>
              <a:rPr lang="fr-FR" altLang="fr-FR" sz="1800" b="0"/>
              <a:t>prenom: "Marc"</a:t>
            </a:r>
          </a:p>
          <a:p>
            <a:pPr eaLnBrk="1" hangingPunct="1">
              <a:spcBef>
                <a:spcPct val="0"/>
              </a:spcBef>
              <a:buClrTx/>
              <a:buSzTx/>
              <a:buFontTx/>
              <a:buNone/>
            </a:pPr>
            <a:r>
              <a:rPr lang="fr-FR" altLang="fr-FR" sz="1800" b="0"/>
              <a:t>diplome: "DUT"</a:t>
            </a:r>
          </a:p>
          <a:p>
            <a:pPr eaLnBrk="1" hangingPunct="1">
              <a:spcBef>
                <a:spcPct val="0"/>
              </a:spcBef>
              <a:buClrTx/>
              <a:buSzTx/>
              <a:buFontTx/>
              <a:buNone/>
            </a:pPr>
            <a:endParaRPr lang="fr-FR" altLang="fr-FR" sz="1800" b="0"/>
          </a:p>
        </p:txBody>
      </p:sp>
      <p:cxnSp>
        <p:nvCxnSpPr>
          <p:cNvPr id="11" name="Connecteur droit 6">
            <a:extLst>
              <a:ext uri="{FF2B5EF4-FFF2-40B4-BE49-F238E27FC236}">
                <a16:creationId xmlns:a16="http://schemas.microsoft.com/office/drawing/2014/main" id="{27B7CF90-1B7F-394B-92AE-936BB4F43B76}"/>
              </a:ext>
            </a:extLst>
          </p:cNvPr>
          <p:cNvCxnSpPr>
            <a:cxnSpLocks noChangeShapeType="1"/>
            <a:endCxn id="9" idx="0"/>
          </p:cNvCxnSpPr>
          <p:nvPr/>
        </p:nvCxnSpPr>
        <p:spPr bwMode="auto">
          <a:xfrm>
            <a:off x="3995738" y="4581525"/>
            <a:ext cx="0" cy="28733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12" name="Connecteur droit 16">
            <a:extLst>
              <a:ext uri="{FF2B5EF4-FFF2-40B4-BE49-F238E27FC236}">
                <a16:creationId xmlns:a16="http://schemas.microsoft.com/office/drawing/2014/main" id="{0961F71F-B26D-AF43-8CB2-8D0BE37C4B92}"/>
              </a:ext>
            </a:extLst>
          </p:cNvPr>
          <p:cNvCxnSpPr>
            <a:cxnSpLocks noChangeShapeType="1"/>
          </p:cNvCxnSpPr>
          <p:nvPr/>
        </p:nvCxnSpPr>
        <p:spPr bwMode="auto">
          <a:xfrm>
            <a:off x="6588125" y="4581525"/>
            <a:ext cx="0" cy="28733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8411094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BF8E84-FDA7-4F41-A76F-75D1F2547B06}"/>
              </a:ext>
            </a:extLst>
          </p:cNvPr>
          <p:cNvSpPr>
            <a:spLocks noGrp="1"/>
          </p:cNvSpPr>
          <p:nvPr>
            <p:ph type="title"/>
          </p:nvPr>
        </p:nvSpPr>
        <p:spPr/>
        <p:txBody>
          <a:bodyPr/>
          <a:lstStyle/>
          <a:p>
            <a:r>
              <a:rPr lang="fr-FR" dirty="0"/>
              <a:t>SQL -&gt; </a:t>
            </a:r>
            <a:r>
              <a:rPr lang="fr-FR" dirty="0" err="1"/>
              <a:t>MongoDB</a:t>
            </a:r>
            <a:endParaRPr lang="fr-FR" dirty="0"/>
          </a:p>
        </p:txBody>
      </p:sp>
      <p:sp>
        <p:nvSpPr>
          <p:cNvPr id="4" name="Espace réservé du numéro de diapositive 3">
            <a:extLst>
              <a:ext uri="{FF2B5EF4-FFF2-40B4-BE49-F238E27FC236}">
                <a16:creationId xmlns:a16="http://schemas.microsoft.com/office/drawing/2014/main" id="{46F938A8-7F9D-5749-92DF-2F6C9ED72BE5}"/>
              </a:ext>
            </a:extLst>
          </p:cNvPr>
          <p:cNvSpPr>
            <a:spLocks noGrp="1"/>
          </p:cNvSpPr>
          <p:nvPr>
            <p:ph type="sldNum" sz="quarter" idx="12"/>
          </p:nvPr>
        </p:nvSpPr>
        <p:spPr/>
        <p:txBody>
          <a:bodyPr/>
          <a:lstStyle/>
          <a:p>
            <a:fld id="{0CFEC368-1D7A-4F81-ABF6-AE0E36BAF64C}" type="slidenum">
              <a:rPr lang="en-US" smtClean="0"/>
              <a:pPr/>
              <a:t>36</a:t>
            </a:fld>
            <a:endParaRPr lang="en-US"/>
          </a:p>
        </p:txBody>
      </p:sp>
      <p:sp>
        <p:nvSpPr>
          <p:cNvPr id="7" name="ZoneTexte 6">
            <a:extLst>
              <a:ext uri="{FF2B5EF4-FFF2-40B4-BE49-F238E27FC236}">
                <a16:creationId xmlns:a16="http://schemas.microsoft.com/office/drawing/2014/main" id="{A042A08F-678B-2645-9F5B-59AFD00838FA}"/>
              </a:ext>
            </a:extLst>
          </p:cNvPr>
          <p:cNvSpPr txBox="1"/>
          <p:nvPr/>
        </p:nvSpPr>
        <p:spPr>
          <a:xfrm>
            <a:off x="277586" y="3105834"/>
            <a:ext cx="3793671" cy="523220"/>
          </a:xfrm>
          <a:prstGeom prst="rect">
            <a:avLst/>
          </a:prstGeom>
          <a:noFill/>
        </p:spPr>
        <p:txBody>
          <a:bodyPr wrap="square">
            <a:spAutoFit/>
          </a:bodyPr>
          <a:lstStyle/>
          <a:p>
            <a:r>
              <a:rPr lang="fr-FR" sz="1400" dirty="0">
                <a:hlinkClick r:id="rId2"/>
              </a:rPr>
              <a:t>https://docs.mongodb.com/manual/reference/sql-comparison/</a:t>
            </a:r>
            <a:endParaRPr lang="fr-FR" sz="1400" dirty="0"/>
          </a:p>
        </p:txBody>
      </p:sp>
      <p:pic>
        <p:nvPicPr>
          <p:cNvPr id="3" name="Image 2">
            <a:extLst>
              <a:ext uri="{FF2B5EF4-FFF2-40B4-BE49-F238E27FC236}">
                <a16:creationId xmlns:a16="http://schemas.microsoft.com/office/drawing/2014/main" id="{71DF9D40-C901-E10C-E216-C70B81C8109A}"/>
              </a:ext>
            </a:extLst>
          </p:cNvPr>
          <p:cNvPicPr>
            <a:picLocks noChangeAspect="1"/>
          </p:cNvPicPr>
          <p:nvPr/>
        </p:nvPicPr>
        <p:blipFill>
          <a:blip r:embed="rId3"/>
          <a:stretch>
            <a:fillRect/>
          </a:stretch>
        </p:blipFill>
        <p:spPr>
          <a:xfrm>
            <a:off x="4530455" y="805273"/>
            <a:ext cx="4580892" cy="6030959"/>
          </a:xfrm>
          <a:prstGeom prst="rect">
            <a:avLst/>
          </a:prstGeom>
        </p:spPr>
      </p:pic>
    </p:spTree>
    <p:extLst>
      <p:ext uri="{BB962C8B-B14F-4D97-AF65-F5344CB8AC3E}">
        <p14:creationId xmlns:p14="http://schemas.microsoft.com/office/powerpoint/2010/main" val="32765083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F5516-E186-374F-A348-1052096DFD90}"/>
              </a:ext>
            </a:extLst>
          </p:cNvPr>
          <p:cNvSpPr>
            <a:spLocks noGrp="1"/>
          </p:cNvSpPr>
          <p:nvPr>
            <p:ph type="title"/>
          </p:nvPr>
        </p:nvSpPr>
        <p:spPr/>
        <p:txBody>
          <a:bodyPr/>
          <a:lstStyle/>
          <a:p>
            <a:r>
              <a:rPr lang="fr-FR" dirty="0"/>
              <a:t>Architecture</a:t>
            </a:r>
          </a:p>
        </p:txBody>
      </p:sp>
      <p:sp>
        <p:nvSpPr>
          <p:cNvPr id="3" name="Espace réservé du contenu 2">
            <a:extLst>
              <a:ext uri="{FF2B5EF4-FFF2-40B4-BE49-F238E27FC236}">
                <a16:creationId xmlns:a16="http://schemas.microsoft.com/office/drawing/2014/main" id="{408355C9-D2BB-7842-88BF-BF7EFDAFF959}"/>
              </a:ext>
            </a:extLst>
          </p:cNvPr>
          <p:cNvSpPr>
            <a:spLocks noGrp="1"/>
          </p:cNvSpPr>
          <p:nvPr>
            <p:ph idx="1"/>
          </p:nvPr>
        </p:nvSpPr>
        <p:spPr/>
        <p:txBody>
          <a:bodyPr/>
          <a:lstStyle/>
          <a:p>
            <a:r>
              <a:rPr lang="fr-FR" dirty="0"/>
              <a:t>4 modes distincts de fonctionnement :</a:t>
            </a:r>
          </a:p>
          <a:p>
            <a:pPr lvl="1"/>
            <a:r>
              <a:rPr lang="fr-FR" dirty="0"/>
              <a:t>serveur seul</a:t>
            </a:r>
          </a:p>
          <a:p>
            <a:pPr lvl="1"/>
            <a:r>
              <a:rPr lang="fr-FR" dirty="0"/>
              <a:t>réplication maitre / esclave</a:t>
            </a:r>
          </a:p>
          <a:p>
            <a:pPr lvl="1"/>
            <a:r>
              <a:rPr lang="fr-FR" dirty="0"/>
              <a:t>réplication via </a:t>
            </a:r>
            <a:r>
              <a:rPr lang="fr-FR" dirty="0" err="1"/>
              <a:t>ReplicaSet</a:t>
            </a:r>
            <a:r>
              <a:rPr lang="fr-FR" dirty="0"/>
              <a:t> (ensemble de serveurs traitant les mêmes données)</a:t>
            </a:r>
          </a:p>
          <a:p>
            <a:pPr lvl="1"/>
            <a:r>
              <a:rPr lang="fr-FR" dirty="0"/>
              <a:t>partitionnement des données selon leur clé (key) via </a:t>
            </a:r>
            <a:r>
              <a:rPr lang="fr-FR" dirty="0" err="1"/>
              <a:t>sharding</a:t>
            </a:r>
            <a:r>
              <a:rPr lang="fr-FR" dirty="0"/>
              <a:t> (partitionnement des données sur plusieurs serveurs)</a:t>
            </a:r>
          </a:p>
        </p:txBody>
      </p:sp>
      <p:sp>
        <p:nvSpPr>
          <p:cNvPr id="4" name="Espace réservé du numéro de diapositive 3">
            <a:extLst>
              <a:ext uri="{FF2B5EF4-FFF2-40B4-BE49-F238E27FC236}">
                <a16:creationId xmlns:a16="http://schemas.microsoft.com/office/drawing/2014/main" id="{4106B14E-3613-2548-9CD8-1D9685BBBD8F}"/>
              </a:ext>
            </a:extLst>
          </p:cNvPr>
          <p:cNvSpPr>
            <a:spLocks noGrp="1"/>
          </p:cNvSpPr>
          <p:nvPr>
            <p:ph type="sldNum" sz="quarter" idx="12"/>
          </p:nvPr>
        </p:nvSpPr>
        <p:spPr/>
        <p:txBody>
          <a:bodyPr/>
          <a:lstStyle/>
          <a:p>
            <a:fld id="{0CFEC368-1D7A-4F81-ABF6-AE0E36BAF64C}" type="slidenum">
              <a:rPr lang="en-US" smtClean="0"/>
              <a:pPr/>
              <a:t>37</a:t>
            </a:fld>
            <a:endParaRPr lang="en-US"/>
          </a:p>
        </p:txBody>
      </p:sp>
    </p:spTree>
    <p:extLst>
      <p:ext uri="{BB962C8B-B14F-4D97-AF65-F5344CB8AC3E}">
        <p14:creationId xmlns:p14="http://schemas.microsoft.com/office/powerpoint/2010/main" val="26391352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F5516-E186-374F-A348-1052096DFD90}"/>
              </a:ext>
            </a:extLst>
          </p:cNvPr>
          <p:cNvSpPr>
            <a:spLocks noGrp="1"/>
          </p:cNvSpPr>
          <p:nvPr>
            <p:ph type="title"/>
          </p:nvPr>
        </p:nvSpPr>
        <p:spPr/>
        <p:txBody>
          <a:bodyPr/>
          <a:lstStyle/>
          <a:p>
            <a:r>
              <a:rPr lang="fr-FR" dirty="0"/>
              <a:t>Architecture</a:t>
            </a:r>
          </a:p>
        </p:txBody>
      </p:sp>
      <p:sp>
        <p:nvSpPr>
          <p:cNvPr id="3" name="Espace réservé du contenu 2">
            <a:extLst>
              <a:ext uri="{FF2B5EF4-FFF2-40B4-BE49-F238E27FC236}">
                <a16:creationId xmlns:a16="http://schemas.microsoft.com/office/drawing/2014/main" id="{408355C9-D2BB-7842-88BF-BF7EFDAFF959}"/>
              </a:ext>
            </a:extLst>
          </p:cNvPr>
          <p:cNvSpPr>
            <a:spLocks noGrp="1"/>
          </p:cNvSpPr>
          <p:nvPr>
            <p:ph idx="1"/>
          </p:nvPr>
        </p:nvSpPr>
        <p:spPr>
          <a:xfrm>
            <a:off x="457200" y="1387234"/>
            <a:ext cx="8229600" cy="1527416"/>
          </a:xfrm>
        </p:spPr>
        <p:txBody>
          <a:bodyPr/>
          <a:lstStyle/>
          <a:p>
            <a:r>
              <a:rPr lang="fr-FR" dirty="0"/>
              <a:t>Serveur seul :</a:t>
            </a:r>
          </a:p>
          <a:p>
            <a:pPr lvl="1"/>
            <a:r>
              <a:rPr lang="fr-FR" dirty="0"/>
              <a:t>un seul processus nommé </a:t>
            </a:r>
            <a:r>
              <a:rPr lang="fr-FR" dirty="0" err="1"/>
              <a:t>mongod</a:t>
            </a:r>
            <a:r>
              <a:rPr lang="fr-FR" dirty="0"/>
              <a:t> est utilisé et traite directement les données issues des requêtes du client.</a:t>
            </a:r>
          </a:p>
          <a:p>
            <a:endParaRPr lang="fr-FR" dirty="0"/>
          </a:p>
        </p:txBody>
      </p:sp>
      <p:sp>
        <p:nvSpPr>
          <p:cNvPr id="4" name="Espace réservé du numéro de diapositive 3">
            <a:extLst>
              <a:ext uri="{FF2B5EF4-FFF2-40B4-BE49-F238E27FC236}">
                <a16:creationId xmlns:a16="http://schemas.microsoft.com/office/drawing/2014/main" id="{4106B14E-3613-2548-9CD8-1D9685BBBD8F}"/>
              </a:ext>
            </a:extLst>
          </p:cNvPr>
          <p:cNvSpPr>
            <a:spLocks noGrp="1"/>
          </p:cNvSpPr>
          <p:nvPr>
            <p:ph type="sldNum" sz="quarter" idx="12"/>
          </p:nvPr>
        </p:nvSpPr>
        <p:spPr/>
        <p:txBody>
          <a:bodyPr/>
          <a:lstStyle/>
          <a:p>
            <a:fld id="{0CFEC368-1D7A-4F81-ABF6-AE0E36BAF64C}" type="slidenum">
              <a:rPr lang="en-US" smtClean="0"/>
              <a:pPr/>
              <a:t>38</a:t>
            </a:fld>
            <a:endParaRPr lang="en-US"/>
          </a:p>
        </p:txBody>
      </p:sp>
      <p:pic>
        <p:nvPicPr>
          <p:cNvPr id="5" name="Image 1" descr="s1.tiff">
            <a:extLst>
              <a:ext uri="{FF2B5EF4-FFF2-40B4-BE49-F238E27FC236}">
                <a16:creationId xmlns:a16="http://schemas.microsoft.com/office/drawing/2014/main" id="{79F637A3-CA94-2647-922D-3358305EF23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55762" y="2509837"/>
            <a:ext cx="5832475" cy="124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05203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F5516-E186-374F-A348-1052096DFD90}"/>
              </a:ext>
            </a:extLst>
          </p:cNvPr>
          <p:cNvSpPr>
            <a:spLocks noGrp="1"/>
          </p:cNvSpPr>
          <p:nvPr>
            <p:ph type="title"/>
          </p:nvPr>
        </p:nvSpPr>
        <p:spPr/>
        <p:txBody>
          <a:bodyPr/>
          <a:lstStyle/>
          <a:p>
            <a:r>
              <a:rPr lang="fr-FR" dirty="0"/>
              <a:t>Architecture</a:t>
            </a:r>
          </a:p>
        </p:txBody>
      </p:sp>
      <p:sp>
        <p:nvSpPr>
          <p:cNvPr id="3" name="Espace réservé du contenu 2">
            <a:extLst>
              <a:ext uri="{FF2B5EF4-FFF2-40B4-BE49-F238E27FC236}">
                <a16:creationId xmlns:a16="http://schemas.microsoft.com/office/drawing/2014/main" id="{408355C9-D2BB-7842-88BF-BF7EFDAFF959}"/>
              </a:ext>
            </a:extLst>
          </p:cNvPr>
          <p:cNvSpPr>
            <a:spLocks noGrp="1"/>
          </p:cNvSpPr>
          <p:nvPr>
            <p:ph idx="1"/>
          </p:nvPr>
        </p:nvSpPr>
        <p:spPr>
          <a:xfrm>
            <a:off x="457200" y="1387234"/>
            <a:ext cx="8229600" cy="1113079"/>
          </a:xfrm>
        </p:spPr>
        <p:txBody>
          <a:bodyPr/>
          <a:lstStyle/>
          <a:p>
            <a:r>
              <a:rPr lang="fr-FR" dirty="0"/>
              <a:t>Réplication maître/esclave</a:t>
            </a:r>
          </a:p>
          <a:p>
            <a:pPr lvl="1"/>
            <a:r>
              <a:rPr lang="fr-FR" dirty="0"/>
              <a:t>2 serveurs </a:t>
            </a:r>
            <a:r>
              <a:rPr lang="fr-FR" dirty="0" err="1"/>
              <a:t>mongod</a:t>
            </a:r>
            <a:r>
              <a:rPr lang="fr-FR" dirty="0"/>
              <a:t> : Maitre et Esclave</a:t>
            </a:r>
          </a:p>
        </p:txBody>
      </p:sp>
      <p:sp>
        <p:nvSpPr>
          <p:cNvPr id="4" name="Espace réservé du numéro de diapositive 3">
            <a:extLst>
              <a:ext uri="{FF2B5EF4-FFF2-40B4-BE49-F238E27FC236}">
                <a16:creationId xmlns:a16="http://schemas.microsoft.com/office/drawing/2014/main" id="{4106B14E-3613-2548-9CD8-1D9685BBBD8F}"/>
              </a:ext>
            </a:extLst>
          </p:cNvPr>
          <p:cNvSpPr>
            <a:spLocks noGrp="1"/>
          </p:cNvSpPr>
          <p:nvPr>
            <p:ph type="sldNum" sz="quarter" idx="12"/>
          </p:nvPr>
        </p:nvSpPr>
        <p:spPr/>
        <p:txBody>
          <a:bodyPr/>
          <a:lstStyle/>
          <a:p>
            <a:fld id="{0CFEC368-1D7A-4F81-ABF6-AE0E36BAF64C}" type="slidenum">
              <a:rPr lang="en-US" smtClean="0"/>
              <a:pPr/>
              <a:t>39</a:t>
            </a:fld>
            <a:endParaRPr lang="en-US"/>
          </a:p>
        </p:txBody>
      </p:sp>
      <p:pic>
        <p:nvPicPr>
          <p:cNvPr id="5" name="Image 2" descr="s2.tiff">
            <a:extLst>
              <a:ext uri="{FF2B5EF4-FFF2-40B4-BE49-F238E27FC236}">
                <a16:creationId xmlns:a16="http://schemas.microsoft.com/office/drawing/2014/main" id="{98136621-663C-DE49-831A-61EA8E35441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93847" y="2195512"/>
            <a:ext cx="6286500" cy="352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347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F5516-E186-374F-A348-1052096DFD90}"/>
              </a:ext>
            </a:extLst>
          </p:cNvPr>
          <p:cNvSpPr>
            <a:spLocks noGrp="1"/>
          </p:cNvSpPr>
          <p:nvPr>
            <p:ph type="title"/>
          </p:nvPr>
        </p:nvSpPr>
        <p:spPr/>
        <p:txBody>
          <a:bodyPr/>
          <a:lstStyle/>
          <a:p>
            <a:r>
              <a:rPr lang="fr-FR" altLang="fr-FR" dirty="0">
                <a:ea typeface="ＭＳ Ｐゴシック" panose="020B0600070205080204" pitchFamily="34" charset="-128"/>
              </a:rPr>
              <a:t>Architecture</a:t>
            </a:r>
            <a:endParaRPr lang="fr-FR" dirty="0"/>
          </a:p>
        </p:txBody>
      </p:sp>
      <p:sp>
        <p:nvSpPr>
          <p:cNvPr id="3" name="Espace réservé du contenu 2">
            <a:extLst>
              <a:ext uri="{FF2B5EF4-FFF2-40B4-BE49-F238E27FC236}">
                <a16:creationId xmlns:a16="http://schemas.microsoft.com/office/drawing/2014/main" id="{408355C9-D2BB-7842-88BF-BF7EFDAFF959}"/>
              </a:ext>
            </a:extLst>
          </p:cNvPr>
          <p:cNvSpPr>
            <a:spLocks noGrp="1"/>
          </p:cNvSpPr>
          <p:nvPr>
            <p:ph idx="1"/>
          </p:nvPr>
        </p:nvSpPr>
        <p:spPr/>
        <p:txBody>
          <a:bodyPr>
            <a:normAutofit lnSpcReduction="10000"/>
          </a:bodyPr>
          <a:lstStyle/>
          <a:p>
            <a:r>
              <a:rPr lang="fr-FR" dirty="0"/>
              <a:t>Réplication maître/esclave</a:t>
            </a:r>
          </a:p>
          <a:p>
            <a:pPr lvl="1"/>
            <a:r>
              <a:rPr lang="fr-FR" dirty="0"/>
              <a:t>Données écrites sur le maître uniquement. </a:t>
            </a:r>
          </a:p>
          <a:p>
            <a:pPr lvl="1"/>
            <a:r>
              <a:rPr lang="fr-FR" dirty="0"/>
              <a:t>Maître réplique l’ensemble des écritures, avec une certaine latence. </a:t>
            </a:r>
          </a:p>
          <a:p>
            <a:pPr lvl="1"/>
            <a:r>
              <a:rPr lang="fr-FR" dirty="0"/>
              <a:t>Le client peut choisir de lire soit sur l’esclave s’il accepte les erreurs liées à la latence de réplication, soit sur le maître dans le cas contraire.</a:t>
            </a:r>
          </a:p>
          <a:p>
            <a:pPr lvl="1"/>
            <a:r>
              <a:rPr lang="fr-FR" dirty="0"/>
              <a:t>- : faible tolérance à la panne, car en cas de panne du serveur maître, l’application cliente est incapable d’écrire sur la base (nécessaire de redémarrer le serveur esclave en mode maitre)</a:t>
            </a:r>
          </a:p>
          <a:p>
            <a:pPr lvl="1"/>
            <a:r>
              <a:rPr lang="fr-FR" dirty="0"/>
              <a:t>+ : mode intéressant car permet aux développeurs de tester les effets de bords liés à la réplication et donc d’assurer que l’application développée sera à même de fonctionner avec de telles contraintes. Cela est d’autant plus vrai que le délai de réplication minimale peut être fixé manuellement afin de simuler une latence réseau allant jusqu’à quelques secondes.</a:t>
            </a:r>
          </a:p>
        </p:txBody>
      </p:sp>
      <p:sp>
        <p:nvSpPr>
          <p:cNvPr id="4" name="Espace réservé du numéro de diapositive 3">
            <a:extLst>
              <a:ext uri="{FF2B5EF4-FFF2-40B4-BE49-F238E27FC236}">
                <a16:creationId xmlns:a16="http://schemas.microsoft.com/office/drawing/2014/main" id="{4106B14E-3613-2548-9CD8-1D9685BBBD8F}"/>
              </a:ext>
            </a:extLst>
          </p:cNvPr>
          <p:cNvSpPr>
            <a:spLocks noGrp="1"/>
          </p:cNvSpPr>
          <p:nvPr>
            <p:ph type="sldNum" sz="quarter" idx="12"/>
          </p:nvPr>
        </p:nvSpPr>
        <p:spPr/>
        <p:txBody>
          <a:bodyPr/>
          <a:lstStyle/>
          <a:p>
            <a:fld id="{0CFEC368-1D7A-4F81-ABF6-AE0E36BAF64C}" type="slidenum">
              <a:rPr lang="en-US" smtClean="0"/>
              <a:pPr/>
              <a:t>40</a:t>
            </a:fld>
            <a:endParaRPr lang="en-US"/>
          </a:p>
        </p:txBody>
      </p:sp>
    </p:spTree>
    <p:extLst>
      <p:ext uri="{BB962C8B-B14F-4D97-AF65-F5344CB8AC3E}">
        <p14:creationId xmlns:p14="http://schemas.microsoft.com/office/powerpoint/2010/main" val="20971128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F5516-E186-374F-A348-1052096DFD90}"/>
              </a:ext>
            </a:extLst>
          </p:cNvPr>
          <p:cNvSpPr>
            <a:spLocks noGrp="1"/>
          </p:cNvSpPr>
          <p:nvPr>
            <p:ph type="title"/>
          </p:nvPr>
        </p:nvSpPr>
        <p:spPr/>
        <p:txBody>
          <a:bodyPr/>
          <a:lstStyle/>
          <a:p>
            <a:r>
              <a:rPr lang="fr-FR" altLang="fr-FR" dirty="0">
                <a:ea typeface="ＭＳ Ｐゴシック" panose="020B0600070205080204" pitchFamily="34" charset="-128"/>
              </a:rPr>
              <a:t>Architecture</a:t>
            </a:r>
            <a:endParaRPr lang="fr-FR" dirty="0"/>
          </a:p>
        </p:txBody>
      </p:sp>
      <p:sp>
        <p:nvSpPr>
          <p:cNvPr id="3" name="Espace réservé du contenu 2">
            <a:extLst>
              <a:ext uri="{FF2B5EF4-FFF2-40B4-BE49-F238E27FC236}">
                <a16:creationId xmlns:a16="http://schemas.microsoft.com/office/drawing/2014/main" id="{408355C9-D2BB-7842-88BF-BF7EFDAFF959}"/>
              </a:ext>
            </a:extLst>
          </p:cNvPr>
          <p:cNvSpPr>
            <a:spLocks noGrp="1"/>
          </p:cNvSpPr>
          <p:nvPr>
            <p:ph idx="1"/>
          </p:nvPr>
        </p:nvSpPr>
        <p:spPr>
          <a:xfrm>
            <a:off x="457200" y="1387234"/>
            <a:ext cx="8229600" cy="713029"/>
          </a:xfrm>
        </p:spPr>
        <p:txBody>
          <a:bodyPr/>
          <a:lstStyle/>
          <a:p>
            <a:r>
              <a:rPr lang="fr-FR" altLang="fr-FR" dirty="0">
                <a:ea typeface="ＭＳ Ｐゴシック" panose="020B0600070205080204" pitchFamily="34" charset="-128"/>
              </a:rPr>
              <a:t>Réplication </a:t>
            </a:r>
            <a:r>
              <a:rPr lang="fr-FR" altLang="fr-FR" dirty="0" err="1">
                <a:ea typeface="ＭＳ Ｐゴシック" panose="020B0600070205080204" pitchFamily="34" charset="-128"/>
              </a:rPr>
              <a:t>Replica</a:t>
            </a:r>
            <a:r>
              <a:rPr lang="fr-FR" altLang="fr-FR" dirty="0">
                <a:ea typeface="ＭＳ Ｐゴシック" panose="020B0600070205080204" pitchFamily="34" charset="-128"/>
              </a:rPr>
              <a:t> Set</a:t>
            </a:r>
            <a:endParaRPr lang="fr-FR" altLang="fr-FR" sz="1800" dirty="0">
              <a:ea typeface="ＭＳ Ｐゴシック" panose="020B0600070205080204" pitchFamily="34" charset="-128"/>
            </a:endParaRPr>
          </a:p>
        </p:txBody>
      </p:sp>
      <p:sp>
        <p:nvSpPr>
          <p:cNvPr id="4" name="Espace réservé du numéro de diapositive 3">
            <a:extLst>
              <a:ext uri="{FF2B5EF4-FFF2-40B4-BE49-F238E27FC236}">
                <a16:creationId xmlns:a16="http://schemas.microsoft.com/office/drawing/2014/main" id="{4106B14E-3613-2548-9CD8-1D9685BBBD8F}"/>
              </a:ext>
            </a:extLst>
          </p:cNvPr>
          <p:cNvSpPr>
            <a:spLocks noGrp="1"/>
          </p:cNvSpPr>
          <p:nvPr>
            <p:ph type="sldNum" sz="quarter" idx="12"/>
          </p:nvPr>
        </p:nvSpPr>
        <p:spPr/>
        <p:txBody>
          <a:bodyPr/>
          <a:lstStyle/>
          <a:p>
            <a:fld id="{0CFEC368-1D7A-4F81-ABF6-AE0E36BAF64C}" type="slidenum">
              <a:rPr lang="en-US" smtClean="0"/>
              <a:pPr/>
              <a:t>41</a:t>
            </a:fld>
            <a:endParaRPr lang="en-US"/>
          </a:p>
        </p:txBody>
      </p:sp>
      <p:pic>
        <p:nvPicPr>
          <p:cNvPr id="5" name="Image 1" descr="s3.tiff">
            <a:extLst>
              <a:ext uri="{FF2B5EF4-FFF2-40B4-BE49-F238E27FC236}">
                <a16:creationId xmlns:a16="http://schemas.microsoft.com/office/drawing/2014/main" id="{9DBBE4B2-6246-6745-9367-87170E6FACE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13656" y="2100263"/>
            <a:ext cx="6516688" cy="342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040997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F622E-A35D-4E46-B9DD-7FF5925A7C92}"/>
              </a:ext>
            </a:extLst>
          </p:cNvPr>
          <p:cNvSpPr>
            <a:spLocks noGrp="1"/>
          </p:cNvSpPr>
          <p:nvPr>
            <p:ph type="title"/>
          </p:nvPr>
        </p:nvSpPr>
        <p:spPr/>
        <p:txBody>
          <a:bodyPr/>
          <a:lstStyle/>
          <a:p>
            <a:r>
              <a:rPr lang="fr-FR" altLang="fr-FR" dirty="0">
                <a:ea typeface="ＭＳ Ｐゴシック" panose="020B0600070205080204" pitchFamily="34" charset="-128"/>
              </a:rPr>
              <a:t>Architecture</a:t>
            </a:r>
            <a:endParaRPr lang="fr-FR" dirty="0"/>
          </a:p>
        </p:txBody>
      </p:sp>
      <p:sp>
        <p:nvSpPr>
          <p:cNvPr id="3" name="Espace réservé du contenu 2">
            <a:extLst>
              <a:ext uri="{FF2B5EF4-FFF2-40B4-BE49-F238E27FC236}">
                <a16:creationId xmlns:a16="http://schemas.microsoft.com/office/drawing/2014/main" id="{BB2F4558-3DE1-0C4D-874B-36B57D458011}"/>
              </a:ext>
            </a:extLst>
          </p:cNvPr>
          <p:cNvSpPr>
            <a:spLocks noGrp="1"/>
          </p:cNvSpPr>
          <p:nvPr>
            <p:ph idx="1"/>
          </p:nvPr>
        </p:nvSpPr>
        <p:spPr/>
        <p:txBody>
          <a:bodyPr>
            <a:normAutofit/>
          </a:bodyPr>
          <a:lstStyle/>
          <a:p>
            <a:r>
              <a:rPr lang="fr-FR" dirty="0"/>
              <a:t>Réplication </a:t>
            </a:r>
            <a:r>
              <a:rPr lang="fr-FR" dirty="0" err="1"/>
              <a:t>Replica</a:t>
            </a:r>
            <a:r>
              <a:rPr lang="fr-FR" dirty="0"/>
              <a:t> Set</a:t>
            </a:r>
          </a:p>
          <a:p>
            <a:pPr lvl="1"/>
            <a:r>
              <a:rPr lang="fr-FR" dirty="0"/>
              <a:t>Principe du maitre-esclave mais plus avancé.</a:t>
            </a:r>
          </a:p>
          <a:p>
            <a:pPr lvl="1"/>
            <a:r>
              <a:rPr lang="fr-FR" dirty="0"/>
              <a:t>Nécessite au moins trois machines physiques (ou virtuelles).</a:t>
            </a:r>
          </a:p>
          <a:p>
            <a:pPr lvl="1"/>
            <a:r>
              <a:rPr lang="fr-FR" dirty="0"/>
              <a:t>Permet d’éviter la présence d’un point de défaillance unique au sein de l’infrastructure :</a:t>
            </a:r>
          </a:p>
          <a:p>
            <a:pPr lvl="2"/>
            <a:r>
              <a:rPr lang="fr-FR" dirty="0"/>
              <a:t>On ajoute N serveurs au </a:t>
            </a:r>
            <a:r>
              <a:rPr lang="fr-FR" dirty="0" err="1"/>
              <a:t>Replica</a:t>
            </a:r>
            <a:r>
              <a:rPr lang="fr-FR" dirty="0"/>
              <a:t> Set. Chaque serveur dispose d’une priorité</a:t>
            </a:r>
          </a:p>
          <a:p>
            <a:pPr lvl="2"/>
            <a:r>
              <a:rPr lang="fr-FR" dirty="0"/>
              <a:t>Un des serveurs est considéré comme le nœud primaire. On peut voir le rôle de nœud primaire comme celui du serveur maître dans le modèle maître / esclave : il s’agit du nœud qui sera en charge des écritures et des réplications vers les autres serveurs.</a:t>
            </a:r>
          </a:p>
          <a:p>
            <a:pPr lvl="2"/>
            <a:r>
              <a:rPr lang="fr-FR" dirty="0"/>
              <a:t>En cas de défaillance du nœud primaire, un nouveau nœud au sein du </a:t>
            </a:r>
            <a:r>
              <a:rPr lang="fr-FR" dirty="0" err="1"/>
              <a:t>Replica</a:t>
            </a:r>
            <a:r>
              <a:rPr lang="fr-FR" dirty="0"/>
              <a:t> Set est choisi et devient nœud primaire. Dans le processus d’élection d’un nouveau nœud sa priorité est prise en compte. Cela permet de privilégier certains nœuds, typiquement les plus puissants.</a:t>
            </a:r>
          </a:p>
        </p:txBody>
      </p:sp>
      <p:sp>
        <p:nvSpPr>
          <p:cNvPr id="4" name="Espace réservé du numéro de diapositive 3">
            <a:extLst>
              <a:ext uri="{FF2B5EF4-FFF2-40B4-BE49-F238E27FC236}">
                <a16:creationId xmlns:a16="http://schemas.microsoft.com/office/drawing/2014/main" id="{0FA8C9AF-10EE-FC4C-83D4-6240194E5FDC}"/>
              </a:ext>
            </a:extLst>
          </p:cNvPr>
          <p:cNvSpPr>
            <a:spLocks noGrp="1"/>
          </p:cNvSpPr>
          <p:nvPr>
            <p:ph type="sldNum" sz="quarter" idx="12"/>
          </p:nvPr>
        </p:nvSpPr>
        <p:spPr/>
        <p:txBody>
          <a:bodyPr/>
          <a:lstStyle/>
          <a:p>
            <a:fld id="{0CFEC368-1D7A-4F81-ABF6-AE0E36BAF64C}" type="slidenum">
              <a:rPr lang="en-US" smtClean="0"/>
              <a:pPr/>
              <a:t>42</a:t>
            </a:fld>
            <a:endParaRPr lang="en-US"/>
          </a:p>
        </p:txBody>
      </p:sp>
    </p:spTree>
    <p:extLst>
      <p:ext uri="{BB962C8B-B14F-4D97-AF65-F5344CB8AC3E}">
        <p14:creationId xmlns:p14="http://schemas.microsoft.com/office/powerpoint/2010/main" val="36543745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F622E-A35D-4E46-B9DD-7FF5925A7C92}"/>
              </a:ext>
            </a:extLst>
          </p:cNvPr>
          <p:cNvSpPr>
            <a:spLocks noGrp="1"/>
          </p:cNvSpPr>
          <p:nvPr>
            <p:ph type="title"/>
          </p:nvPr>
        </p:nvSpPr>
        <p:spPr/>
        <p:txBody>
          <a:bodyPr/>
          <a:lstStyle/>
          <a:p>
            <a:r>
              <a:rPr lang="fr-FR" altLang="fr-FR" dirty="0">
                <a:ea typeface="ＭＳ Ｐゴシック" panose="020B0600070205080204" pitchFamily="34" charset="-128"/>
              </a:rPr>
              <a:t>Architecture</a:t>
            </a:r>
            <a:endParaRPr lang="fr-FR" dirty="0"/>
          </a:p>
        </p:txBody>
      </p:sp>
      <p:sp>
        <p:nvSpPr>
          <p:cNvPr id="3" name="Espace réservé du contenu 2">
            <a:extLst>
              <a:ext uri="{FF2B5EF4-FFF2-40B4-BE49-F238E27FC236}">
                <a16:creationId xmlns:a16="http://schemas.microsoft.com/office/drawing/2014/main" id="{BB2F4558-3DE1-0C4D-874B-36B57D458011}"/>
              </a:ext>
            </a:extLst>
          </p:cNvPr>
          <p:cNvSpPr>
            <a:spLocks noGrp="1"/>
          </p:cNvSpPr>
          <p:nvPr>
            <p:ph idx="1"/>
          </p:nvPr>
        </p:nvSpPr>
        <p:spPr>
          <a:xfrm>
            <a:off x="457200" y="1387234"/>
            <a:ext cx="8229600" cy="598729"/>
          </a:xfrm>
        </p:spPr>
        <p:txBody>
          <a:bodyPr/>
          <a:lstStyle/>
          <a:p>
            <a:r>
              <a:rPr lang="fr-FR" altLang="fr-FR" dirty="0">
                <a:ea typeface="ＭＳ Ｐゴシック" panose="020B0600070205080204" pitchFamily="34" charset="-128"/>
              </a:rPr>
              <a:t>Partitionnement via </a:t>
            </a:r>
            <a:r>
              <a:rPr lang="fr-FR" altLang="fr-FR" dirty="0" err="1">
                <a:ea typeface="ＭＳ Ｐゴシック" panose="020B0600070205080204" pitchFamily="34" charset="-128"/>
              </a:rPr>
              <a:t>Sharding</a:t>
            </a:r>
            <a:endParaRPr lang="fr-FR" altLang="fr-FR" sz="1800" dirty="0">
              <a:ea typeface="ＭＳ Ｐゴシック" panose="020B0600070205080204" pitchFamily="34" charset="-128"/>
            </a:endParaRPr>
          </a:p>
        </p:txBody>
      </p:sp>
      <p:sp>
        <p:nvSpPr>
          <p:cNvPr id="4" name="Espace réservé du numéro de diapositive 3">
            <a:extLst>
              <a:ext uri="{FF2B5EF4-FFF2-40B4-BE49-F238E27FC236}">
                <a16:creationId xmlns:a16="http://schemas.microsoft.com/office/drawing/2014/main" id="{0FA8C9AF-10EE-FC4C-83D4-6240194E5FDC}"/>
              </a:ext>
            </a:extLst>
          </p:cNvPr>
          <p:cNvSpPr>
            <a:spLocks noGrp="1"/>
          </p:cNvSpPr>
          <p:nvPr>
            <p:ph type="sldNum" sz="quarter" idx="12"/>
          </p:nvPr>
        </p:nvSpPr>
        <p:spPr/>
        <p:txBody>
          <a:bodyPr/>
          <a:lstStyle/>
          <a:p>
            <a:fld id="{0CFEC368-1D7A-4F81-ABF6-AE0E36BAF64C}" type="slidenum">
              <a:rPr lang="en-US" smtClean="0"/>
              <a:pPr/>
              <a:t>43</a:t>
            </a:fld>
            <a:endParaRPr lang="en-US"/>
          </a:p>
        </p:txBody>
      </p:sp>
      <p:pic>
        <p:nvPicPr>
          <p:cNvPr id="5" name="Image 2" descr="s4.tiff">
            <a:extLst>
              <a:ext uri="{FF2B5EF4-FFF2-40B4-BE49-F238E27FC236}">
                <a16:creationId xmlns:a16="http://schemas.microsoft.com/office/drawing/2014/main" id="{7A233640-CD39-824A-9CC0-B8532C5B28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44688" y="1985963"/>
            <a:ext cx="5694362" cy="437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26643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F622E-A35D-4E46-B9DD-7FF5925A7C92}"/>
              </a:ext>
            </a:extLst>
          </p:cNvPr>
          <p:cNvSpPr>
            <a:spLocks noGrp="1"/>
          </p:cNvSpPr>
          <p:nvPr>
            <p:ph type="title"/>
          </p:nvPr>
        </p:nvSpPr>
        <p:spPr/>
        <p:txBody>
          <a:bodyPr/>
          <a:lstStyle/>
          <a:p>
            <a:r>
              <a:rPr lang="fr-FR" dirty="0"/>
              <a:t>Architecture</a:t>
            </a:r>
          </a:p>
        </p:txBody>
      </p:sp>
      <p:sp>
        <p:nvSpPr>
          <p:cNvPr id="3" name="Espace réservé du contenu 2">
            <a:extLst>
              <a:ext uri="{FF2B5EF4-FFF2-40B4-BE49-F238E27FC236}">
                <a16:creationId xmlns:a16="http://schemas.microsoft.com/office/drawing/2014/main" id="{BB2F4558-3DE1-0C4D-874B-36B57D458011}"/>
              </a:ext>
            </a:extLst>
          </p:cNvPr>
          <p:cNvSpPr>
            <a:spLocks noGrp="1"/>
          </p:cNvSpPr>
          <p:nvPr>
            <p:ph idx="1"/>
          </p:nvPr>
        </p:nvSpPr>
        <p:spPr/>
        <p:txBody>
          <a:bodyPr>
            <a:normAutofit/>
          </a:bodyPr>
          <a:lstStyle/>
          <a:p>
            <a:r>
              <a:rPr lang="fr-FR" dirty="0"/>
              <a:t>Partitionnement via </a:t>
            </a:r>
            <a:r>
              <a:rPr lang="fr-FR" dirty="0" err="1"/>
              <a:t>Sharding</a:t>
            </a:r>
            <a:endParaRPr lang="fr-FR" dirty="0"/>
          </a:p>
          <a:p>
            <a:pPr lvl="1"/>
            <a:r>
              <a:rPr lang="fr-FR" dirty="0"/>
              <a:t>Dans les 2 systèmes précédents, la lecture repose sur plusieurs serveurs, mais l’écriture sur 1 seul</a:t>
            </a:r>
          </a:p>
          <a:p>
            <a:pPr lvl="1"/>
            <a:r>
              <a:rPr lang="fr-FR" dirty="0" err="1"/>
              <a:t>Sharding</a:t>
            </a:r>
            <a:r>
              <a:rPr lang="fr-FR" dirty="0"/>
              <a:t> :</a:t>
            </a:r>
          </a:p>
          <a:p>
            <a:pPr lvl="2"/>
            <a:r>
              <a:rPr lang="fr-FR" dirty="0"/>
              <a:t>Un </a:t>
            </a:r>
            <a:r>
              <a:rPr lang="fr-FR" dirty="0" err="1"/>
              <a:t>shard</a:t>
            </a:r>
            <a:r>
              <a:rPr lang="fr-FR" dirty="0"/>
              <a:t> contient un ou plusieurs serveurs : un serveur seul, un couple maitre/esclave ou un </a:t>
            </a:r>
            <a:r>
              <a:rPr lang="fr-FR" dirty="0" err="1"/>
              <a:t>replica</a:t>
            </a:r>
            <a:r>
              <a:rPr lang="fr-FR" dirty="0"/>
              <a:t> set. L’utilisation d’un </a:t>
            </a:r>
            <a:r>
              <a:rPr lang="fr-FR" dirty="0" err="1"/>
              <a:t>replica</a:t>
            </a:r>
            <a:r>
              <a:rPr lang="fr-FR" dirty="0"/>
              <a:t> set est conseillée en production pour une meilleure sécurité</a:t>
            </a:r>
          </a:p>
          <a:p>
            <a:pPr lvl="2"/>
            <a:r>
              <a:rPr lang="fr-FR" dirty="0"/>
              <a:t>Pour partitionner une collection sur plusieurs </a:t>
            </a:r>
            <a:r>
              <a:rPr lang="fr-FR" dirty="0" err="1"/>
              <a:t>shards</a:t>
            </a:r>
            <a:r>
              <a:rPr lang="fr-FR" dirty="0"/>
              <a:t> on définit sur celle-­ci une </a:t>
            </a:r>
            <a:r>
              <a:rPr lang="fr-FR" dirty="0" err="1"/>
              <a:t>shard</a:t>
            </a:r>
            <a:r>
              <a:rPr lang="fr-FR" dirty="0"/>
              <a:t> key. Il s’agit d’une liste de champs du document qui permettront au système de définir sur quel </a:t>
            </a:r>
            <a:r>
              <a:rPr lang="fr-FR" dirty="0" err="1"/>
              <a:t>shard</a:t>
            </a:r>
            <a:r>
              <a:rPr lang="fr-FR" dirty="0"/>
              <a:t> un document doit être stocké. Les données seront réparties automatiquement de manière la plus homogène possible entre les différents </a:t>
            </a:r>
            <a:r>
              <a:rPr lang="fr-FR" dirty="0" err="1"/>
              <a:t>shards</a:t>
            </a:r>
            <a:r>
              <a:rPr lang="fr-FR" dirty="0"/>
              <a:t>.</a:t>
            </a:r>
          </a:p>
        </p:txBody>
      </p:sp>
      <p:sp>
        <p:nvSpPr>
          <p:cNvPr id="4" name="Espace réservé du numéro de diapositive 3">
            <a:extLst>
              <a:ext uri="{FF2B5EF4-FFF2-40B4-BE49-F238E27FC236}">
                <a16:creationId xmlns:a16="http://schemas.microsoft.com/office/drawing/2014/main" id="{0FA8C9AF-10EE-FC4C-83D4-6240194E5FDC}"/>
              </a:ext>
            </a:extLst>
          </p:cNvPr>
          <p:cNvSpPr>
            <a:spLocks noGrp="1"/>
          </p:cNvSpPr>
          <p:nvPr>
            <p:ph type="sldNum" sz="quarter" idx="12"/>
          </p:nvPr>
        </p:nvSpPr>
        <p:spPr/>
        <p:txBody>
          <a:bodyPr/>
          <a:lstStyle/>
          <a:p>
            <a:fld id="{0CFEC368-1D7A-4F81-ABF6-AE0E36BAF64C}" type="slidenum">
              <a:rPr lang="en-US" smtClean="0"/>
              <a:pPr/>
              <a:t>44</a:t>
            </a:fld>
            <a:endParaRPr lang="en-US"/>
          </a:p>
        </p:txBody>
      </p:sp>
    </p:spTree>
    <p:extLst>
      <p:ext uri="{BB962C8B-B14F-4D97-AF65-F5344CB8AC3E}">
        <p14:creationId xmlns:p14="http://schemas.microsoft.com/office/powerpoint/2010/main" val="15719703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F622E-A35D-4E46-B9DD-7FF5925A7C92}"/>
              </a:ext>
            </a:extLst>
          </p:cNvPr>
          <p:cNvSpPr>
            <a:spLocks noGrp="1"/>
          </p:cNvSpPr>
          <p:nvPr>
            <p:ph type="title"/>
          </p:nvPr>
        </p:nvSpPr>
        <p:spPr/>
        <p:txBody>
          <a:bodyPr/>
          <a:lstStyle/>
          <a:p>
            <a:r>
              <a:rPr lang="fr-FR" altLang="fr-FR" dirty="0">
                <a:ea typeface="ＭＳ Ｐゴシック" panose="020B0600070205080204" pitchFamily="34" charset="-128"/>
              </a:rPr>
              <a:t>Architecture</a:t>
            </a:r>
            <a:endParaRPr lang="fr-FR" dirty="0"/>
          </a:p>
        </p:txBody>
      </p:sp>
      <p:sp>
        <p:nvSpPr>
          <p:cNvPr id="3" name="Espace réservé du contenu 2">
            <a:extLst>
              <a:ext uri="{FF2B5EF4-FFF2-40B4-BE49-F238E27FC236}">
                <a16:creationId xmlns:a16="http://schemas.microsoft.com/office/drawing/2014/main" id="{BB2F4558-3DE1-0C4D-874B-36B57D458011}"/>
              </a:ext>
            </a:extLst>
          </p:cNvPr>
          <p:cNvSpPr>
            <a:spLocks noGrp="1"/>
          </p:cNvSpPr>
          <p:nvPr>
            <p:ph idx="1"/>
          </p:nvPr>
        </p:nvSpPr>
        <p:spPr/>
        <p:txBody>
          <a:bodyPr>
            <a:normAutofit/>
          </a:bodyPr>
          <a:lstStyle/>
          <a:p>
            <a:r>
              <a:rPr lang="fr-FR" dirty="0"/>
              <a:t>Partitionnement via </a:t>
            </a:r>
            <a:r>
              <a:rPr lang="fr-FR" dirty="0" err="1"/>
              <a:t>Sharding</a:t>
            </a:r>
            <a:endParaRPr lang="fr-FR" dirty="0"/>
          </a:p>
          <a:p>
            <a:pPr lvl="1"/>
            <a:r>
              <a:rPr lang="fr-FR" dirty="0"/>
              <a:t>2 éléments sont ajoutés :</a:t>
            </a:r>
          </a:p>
          <a:p>
            <a:pPr lvl="2"/>
            <a:r>
              <a:rPr lang="fr-FR" dirty="0"/>
              <a:t>Serveur </a:t>
            </a:r>
            <a:r>
              <a:rPr lang="fr-FR" b="1" dirty="0"/>
              <a:t>mongos</a:t>
            </a:r>
            <a:r>
              <a:rPr lang="fr-FR" dirty="0"/>
              <a:t> :</a:t>
            </a:r>
          </a:p>
          <a:p>
            <a:pPr lvl="3"/>
            <a:r>
              <a:rPr lang="fr-FR" dirty="0"/>
              <a:t>Un ou de plusieurs serveurs dont le rôle et de router les requêtes du client vers le </a:t>
            </a:r>
            <a:r>
              <a:rPr lang="fr-FR" dirty="0" err="1"/>
              <a:t>shard</a:t>
            </a:r>
            <a:r>
              <a:rPr lang="fr-FR" dirty="0"/>
              <a:t> approprié. Conseillé de disposer d’au moins 2 serveurs pour éviter que ce serveur soit un point de défaillance unique. </a:t>
            </a:r>
          </a:p>
          <a:p>
            <a:pPr lvl="3"/>
            <a:r>
              <a:rPr lang="fr-FR" dirty="0"/>
              <a:t>Par ailleurs, ces serveurs sont susceptibles de recevoir une charge significative. En effet, lors de requêtes faisant intervenir plusieurs </a:t>
            </a:r>
            <a:r>
              <a:rPr lang="fr-FR" dirty="0" err="1"/>
              <a:t>shards</a:t>
            </a:r>
            <a:r>
              <a:rPr lang="fr-FR" dirty="0"/>
              <a:t>, ils sont responsables entre autres de l’agrégation des résultats.</a:t>
            </a:r>
          </a:p>
          <a:p>
            <a:pPr lvl="2"/>
            <a:r>
              <a:rPr lang="fr-FR" dirty="0"/>
              <a:t>Configuration </a:t>
            </a:r>
            <a:r>
              <a:rPr lang="fr-FR" b="1" dirty="0" err="1"/>
              <a:t>mongod</a:t>
            </a:r>
            <a:r>
              <a:rPr lang="fr-FR" dirty="0"/>
              <a:t> : </a:t>
            </a:r>
          </a:p>
          <a:p>
            <a:pPr lvl="3"/>
            <a:r>
              <a:rPr lang="fr-FR" dirty="0"/>
              <a:t>Serveurs stockant la configuration du </a:t>
            </a:r>
            <a:r>
              <a:rPr lang="fr-FR" dirty="0" err="1"/>
              <a:t>sharding</a:t>
            </a:r>
            <a:r>
              <a:rPr lang="fr-FR" dirty="0"/>
              <a:t>, utilisés par les autres instances afin d’être en mesure de déterminer sur quel </a:t>
            </a:r>
            <a:r>
              <a:rPr lang="fr-FR" dirty="0" err="1"/>
              <a:t>shard</a:t>
            </a:r>
            <a:r>
              <a:rPr lang="fr-FR" dirty="0"/>
              <a:t> les opérations doivent être effectuées. </a:t>
            </a:r>
          </a:p>
          <a:p>
            <a:pPr lvl="3"/>
            <a:r>
              <a:rPr lang="fr-FR" dirty="0"/>
              <a:t>Conseillé d’utiliser plusieurs serveurs afin d’éviter l’apparition d’un point de défaillance unique.</a:t>
            </a:r>
          </a:p>
        </p:txBody>
      </p:sp>
      <p:sp>
        <p:nvSpPr>
          <p:cNvPr id="4" name="Espace réservé du numéro de diapositive 3">
            <a:extLst>
              <a:ext uri="{FF2B5EF4-FFF2-40B4-BE49-F238E27FC236}">
                <a16:creationId xmlns:a16="http://schemas.microsoft.com/office/drawing/2014/main" id="{0FA8C9AF-10EE-FC4C-83D4-6240194E5FDC}"/>
              </a:ext>
            </a:extLst>
          </p:cNvPr>
          <p:cNvSpPr>
            <a:spLocks noGrp="1"/>
          </p:cNvSpPr>
          <p:nvPr>
            <p:ph type="sldNum" sz="quarter" idx="12"/>
          </p:nvPr>
        </p:nvSpPr>
        <p:spPr/>
        <p:txBody>
          <a:bodyPr/>
          <a:lstStyle/>
          <a:p>
            <a:fld id="{0CFEC368-1D7A-4F81-ABF6-AE0E36BAF64C}" type="slidenum">
              <a:rPr lang="en-US" smtClean="0"/>
              <a:pPr/>
              <a:t>45</a:t>
            </a:fld>
            <a:endParaRPr lang="en-US"/>
          </a:p>
        </p:txBody>
      </p:sp>
    </p:spTree>
    <p:extLst>
      <p:ext uri="{BB962C8B-B14F-4D97-AF65-F5344CB8AC3E}">
        <p14:creationId xmlns:p14="http://schemas.microsoft.com/office/powerpoint/2010/main" val="22400304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F622E-A35D-4E46-B9DD-7FF5925A7C92}"/>
              </a:ext>
            </a:extLst>
          </p:cNvPr>
          <p:cNvSpPr>
            <a:spLocks noGrp="1"/>
          </p:cNvSpPr>
          <p:nvPr>
            <p:ph type="title"/>
          </p:nvPr>
        </p:nvSpPr>
        <p:spPr/>
        <p:txBody>
          <a:bodyPr/>
          <a:lstStyle/>
          <a:p>
            <a:r>
              <a:rPr lang="fr-FR" altLang="fr-FR" dirty="0">
                <a:ea typeface="ＭＳ Ｐゴシック" panose="020B0600070205080204" pitchFamily="34" charset="-128"/>
              </a:rPr>
              <a:t>Qualité de service</a:t>
            </a:r>
            <a:endParaRPr lang="fr-FR" dirty="0"/>
          </a:p>
        </p:txBody>
      </p:sp>
      <p:sp>
        <p:nvSpPr>
          <p:cNvPr id="3" name="Espace réservé du contenu 2">
            <a:extLst>
              <a:ext uri="{FF2B5EF4-FFF2-40B4-BE49-F238E27FC236}">
                <a16:creationId xmlns:a16="http://schemas.microsoft.com/office/drawing/2014/main" id="{BB2F4558-3DE1-0C4D-874B-36B57D458011}"/>
              </a:ext>
            </a:extLst>
          </p:cNvPr>
          <p:cNvSpPr>
            <a:spLocks noGrp="1"/>
          </p:cNvSpPr>
          <p:nvPr>
            <p:ph idx="1"/>
          </p:nvPr>
        </p:nvSpPr>
        <p:spPr/>
        <p:txBody>
          <a:bodyPr>
            <a:normAutofit fontScale="92500"/>
          </a:bodyPr>
          <a:lstStyle/>
          <a:p>
            <a:r>
              <a:rPr lang="fr-FR" dirty="0"/>
              <a:t>Cohérence des données (système CP) :</a:t>
            </a:r>
          </a:p>
          <a:p>
            <a:pPr lvl="1"/>
            <a:r>
              <a:rPr lang="fr-FR" dirty="0"/>
              <a:t>Ecritures sont toujours cohérentes car effectuées sur le même serveur</a:t>
            </a:r>
          </a:p>
          <a:p>
            <a:pPr lvl="1"/>
            <a:r>
              <a:rPr lang="fr-FR" dirty="0"/>
              <a:t>Cohérence des données en lecture : doit être assurée par le développeur qui peut choisir de lire sur un serveur esclave quitte à ce que celui-ci n’ait pas pu répliquer toutes les données écrites depuis le serveur maitre</a:t>
            </a:r>
          </a:p>
          <a:p>
            <a:r>
              <a:rPr lang="fr-FR" dirty="0"/>
              <a:t>Transactions :</a:t>
            </a:r>
          </a:p>
          <a:p>
            <a:pPr lvl="1"/>
            <a:r>
              <a:rPr lang="fr-FR" dirty="0"/>
              <a:t>Mécanisme transactionnel depuis la version 4.0, réellement utilisable depuis la 4.2, mais influe grandement sur les performances</a:t>
            </a:r>
          </a:p>
          <a:p>
            <a:r>
              <a:rPr lang="fr-FR" dirty="0"/>
              <a:t>Tolérance à la panne :</a:t>
            </a:r>
          </a:p>
          <a:p>
            <a:pPr lvl="1"/>
            <a:r>
              <a:rPr lang="fr-FR" dirty="0" err="1"/>
              <a:t>Replica</a:t>
            </a:r>
            <a:r>
              <a:rPr lang="fr-FR" dirty="0"/>
              <a:t> Set : permettent au système de résister face à la disparition de l’un de ses nœuds de stockage.</a:t>
            </a:r>
          </a:p>
          <a:p>
            <a:pPr lvl="1"/>
            <a:r>
              <a:rPr lang="fr-FR" dirty="0"/>
              <a:t>Système légèrement plus centralisé que certains autres systèmes </a:t>
            </a:r>
            <a:r>
              <a:rPr lang="fr-FR" dirty="0" err="1"/>
              <a:t>NoSQL</a:t>
            </a:r>
            <a:r>
              <a:rPr lang="fr-FR" dirty="0"/>
              <a:t> lorsqu’on utilise le </a:t>
            </a:r>
            <a:r>
              <a:rPr lang="fr-FR" dirty="0" err="1"/>
              <a:t>sharding</a:t>
            </a:r>
            <a:r>
              <a:rPr lang="fr-FR" dirty="0"/>
              <a:t> (présence des nœuds de routage) mais ceux­-ci peuvent être dupliqués sans problème.</a:t>
            </a:r>
          </a:p>
        </p:txBody>
      </p:sp>
      <p:sp>
        <p:nvSpPr>
          <p:cNvPr id="4" name="Espace réservé du numéro de diapositive 3">
            <a:extLst>
              <a:ext uri="{FF2B5EF4-FFF2-40B4-BE49-F238E27FC236}">
                <a16:creationId xmlns:a16="http://schemas.microsoft.com/office/drawing/2014/main" id="{0FA8C9AF-10EE-FC4C-83D4-6240194E5FDC}"/>
              </a:ext>
            </a:extLst>
          </p:cNvPr>
          <p:cNvSpPr>
            <a:spLocks noGrp="1"/>
          </p:cNvSpPr>
          <p:nvPr>
            <p:ph type="sldNum" sz="quarter" idx="12"/>
          </p:nvPr>
        </p:nvSpPr>
        <p:spPr/>
        <p:txBody>
          <a:bodyPr/>
          <a:lstStyle/>
          <a:p>
            <a:fld id="{0CFEC368-1D7A-4F81-ABF6-AE0E36BAF64C}" type="slidenum">
              <a:rPr lang="en-US" smtClean="0"/>
              <a:pPr/>
              <a:t>46</a:t>
            </a:fld>
            <a:endParaRPr lang="en-US"/>
          </a:p>
        </p:txBody>
      </p:sp>
    </p:spTree>
    <p:extLst>
      <p:ext uri="{BB962C8B-B14F-4D97-AF65-F5344CB8AC3E}">
        <p14:creationId xmlns:p14="http://schemas.microsoft.com/office/powerpoint/2010/main" val="39204084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F622E-A35D-4E46-B9DD-7FF5925A7C92}"/>
              </a:ext>
            </a:extLst>
          </p:cNvPr>
          <p:cNvSpPr>
            <a:spLocks noGrp="1"/>
          </p:cNvSpPr>
          <p:nvPr>
            <p:ph type="title"/>
          </p:nvPr>
        </p:nvSpPr>
        <p:spPr/>
        <p:txBody>
          <a:bodyPr/>
          <a:lstStyle/>
          <a:p>
            <a:r>
              <a:rPr lang="fr-FR" altLang="fr-FR" dirty="0">
                <a:ea typeface="ＭＳ Ｐゴシック" panose="020B0600070205080204" pitchFamily="34" charset="-128"/>
              </a:rPr>
              <a:t>Qualité de service</a:t>
            </a:r>
            <a:endParaRPr lang="fr-FR" dirty="0"/>
          </a:p>
        </p:txBody>
      </p:sp>
      <p:sp>
        <p:nvSpPr>
          <p:cNvPr id="3" name="Espace réservé du contenu 2">
            <a:extLst>
              <a:ext uri="{FF2B5EF4-FFF2-40B4-BE49-F238E27FC236}">
                <a16:creationId xmlns:a16="http://schemas.microsoft.com/office/drawing/2014/main" id="{BB2F4558-3DE1-0C4D-874B-36B57D458011}"/>
              </a:ext>
            </a:extLst>
          </p:cNvPr>
          <p:cNvSpPr>
            <a:spLocks noGrp="1"/>
          </p:cNvSpPr>
          <p:nvPr>
            <p:ph idx="1"/>
          </p:nvPr>
        </p:nvSpPr>
        <p:spPr/>
        <p:txBody>
          <a:bodyPr/>
          <a:lstStyle/>
          <a:p>
            <a:r>
              <a:rPr lang="fr-FR" dirty="0"/>
              <a:t>Sauvegardes :</a:t>
            </a:r>
          </a:p>
          <a:p>
            <a:pPr lvl="1"/>
            <a:r>
              <a:rPr lang="fr-FR" dirty="0"/>
              <a:t>Via </a:t>
            </a:r>
            <a:r>
              <a:rPr lang="fr-FR" b="1" dirty="0" err="1"/>
              <a:t>mongodump</a:t>
            </a:r>
            <a:r>
              <a:rPr lang="fr-FR" dirty="0"/>
              <a:t> (export de la base de données)</a:t>
            </a:r>
          </a:p>
          <a:p>
            <a:pPr lvl="1"/>
            <a:r>
              <a:rPr lang="fr-FR" dirty="0"/>
              <a:t>Restauration via </a:t>
            </a:r>
            <a:r>
              <a:rPr lang="fr-FR" b="1" dirty="0" err="1"/>
              <a:t>mongorestore</a:t>
            </a:r>
            <a:endParaRPr lang="fr-FR" b="1" dirty="0"/>
          </a:p>
          <a:p>
            <a:pPr marL="0" indent="0">
              <a:buNone/>
            </a:pPr>
            <a:endParaRPr lang="fr-FR" dirty="0"/>
          </a:p>
        </p:txBody>
      </p:sp>
      <p:sp>
        <p:nvSpPr>
          <p:cNvPr id="4" name="Espace réservé du numéro de diapositive 3">
            <a:extLst>
              <a:ext uri="{FF2B5EF4-FFF2-40B4-BE49-F238E27FC236}">
                <a16:creationId xmlns:a16="http://schemas.microsoft.com/office/drawing/2014/main" id="{0FA8C9AF-10EE-FC4C-83D4-6240194E5FDC}"/>
              </a:ext>
            </a:extLst>
          </p:cNvPr>
          <p:cNvSpPr>
            <a:spLocks noGrp="1"/>
          </p:cNvSpPr>
          <p:nvPr>
            <p:ph type="sldNum" sz="quarter" idx="12"/>
          </p:nvPr>
        </p:nvSpPr>
        <p:spPr/>
        <p:txBody>
          <a:bodyPr/>
          <a:lstStyle/>
          <a:p>
            <a:fld id="{0CFEC368-1D7A-4F81-ABF6-AE0E36BAF64C}" type="slidenum">
              <a:rPr lang="en-US" smtClean="0"/>
              <a:pPr/>
              <a:t>47</a:t>
            </a:fld>
            <a:endParaRPr lang="en-US"/>
          </a:p>
        </p:txBody>
      </p:sp>
    </p:spTree>
    <p:extLst>
      <p:ext uri="{BB962C8B-B14F-4D97-AF65-F5344CB8AC3E}">
        <p14:creationId xmlns:p14="http://schemas.microsoft.com/office/powerpoint/2010/main" val="31618956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F622E-A35D-4E46-B9DD-7FF5925A7C92}"/>
              </a:ext>
            </a:extLst>
          </p:cNvPr>
          <p:cNvSpPr>
            <a:spLocks noGrp="1"/>
          </p:cNvSpPr>
          <p:nvPr>
            <p:ph type="title"/>
          </p:nvPr>
        </p:nvSpPr>
        <p:spPr/>
        <p:txBody>
          <a:bodyPr/>
          <a:lstStyle/>
          <a:p>
            <a:r>
              <a:rPr lang="fr-FR" altLang="fr-FR" dirty="0">
                <a:ea typeface="ＭＳ Ｐゴシック" panose="020B0600070205080204" pitchFamily="34" charset="-128"/>
              </a:rPr>
              <a:t>Développement / API</a:t>
            </a:r>
            <a:endParaRPr lang="fr-FR" dirty="0"/>
          </a:p>
        </p:txBody>
      </p:sp>
      <p:sp>
        <p:nvSpPr>
          <p:cNvPr id="3" name="Espace réservé du contenu 2">
            <a:extLst>
              <a:ext uri="{FF2B5EF4-FFF2-40B4-BE49-F238E27FC236}">
                <a16:creationId xmlns:a16="http://schemas.microsoft.com/office/drawing/2014/main" id="{BB2F4558-3DE1-0C4D-874B-36B57D458011}"/>
              </a:ext>
            </a:extLst>
          </p:cNvPr>
          <p:cNvSpPr>
            <a:spLocks noGrp="1"/>
          </p:cNvSpPr>
          <p:nvPr>
            <p:ph idx="1"/>
          </p:nvPr>
        </p:nvSpPr>
        <p:spPr/>
        <p:txBody>
          <a:bodyPr/>
          <a:lstStyle/>
          <a:p>
            <a:r>
              <a:rPr lang="fr-FR" dirty="0"/>
              <a:t>Outil mature. </a:t>
            </a:r>
          </a:p>
          <a:p>
            <a:r>
              <a:rPr lang="fr-FR" dirty="0"/>
              <a:t>Mode d’accès :</a:t>
            </a:r>
          </a:p>
          <a:p>
            <a:pPr lvl="1"/>
            <a:r>
              <a:rPr lang="fr-FR" dirty="0"/>
              <a:t>Driver spécifique au langage de programmation permettant une communication directement en BSON</a:t>
            </a:r>
          </a:p>
          <a:p>
            <a:pPr lvl="1"/>
            <a:r>
              <a:rPr lang="fr-FR" dirty="0"/>
              <a:t>OU API REST spécifique au langage de programmation</a:t>
            </a:r>
          </a:p>
          <a:p>
            <a:r>
              <a:rPr lang="fr-FR" dirty="0"/>
              <a:t>Langages supportés :</a:t>
            </a:r>
          </a:p>
          <a:p>
            <a:pPr lvl="1"/>
            <a:r>
              <a:rPr lang="fr-FR" dirty="0"/>
              <a:t>Nombreux au travers de drivers : Java, Python, PHP, Ruby, C++, C#/.NET, JavaScript, Rust,…</a:t>
            </a:r>
          </a:p>
        </p:txBody>
      </p:sp>
      <p:sp>
        <p:nvSpPr>
          <p:cNvPr id="4" name="Espace réservé du numéro de diapositive 3">
            <a:extLst>
              <a:ext uri="{FF2B5EF4-FFF2-40B4-BE49-F238E27FC236}">
                <a16:creationId xmlns:a16="http://schemas.microsoft.com/office/drawing/2014/main" id="{0FA8C9AF-10EE-FC4C-83D4-6240194E5FDC}"/>
              </a:ext>
            </a:extLst>
          </p:cNvPr>
          <p:cNvSpPr>
            <a:spLocks noGrp="1"/>
          </p:cNvSpPr>
          <p:nvPr>
            <p:ph type="sldNum" sz="quarter" idx="12"/>
          </p:nvPr>
        </p:nvSpPr>
        <p:spPr/>
        <p:txBody>
          <a:bodyPr/>
          <a:lstStyle/>
          <a:p>
            <a:fld id="{0CFEC368-1D7A-4F81-ABF6-AE0E36BAF64C}" type="slidenum">
              <a:rPr lang="en-US" smtClean="0"/>
              <a:pPr/>
              <a:t>48</a:t>
            </a:fld>
            <a:endParaRPr lang="en-US"/>
          </a:p>
        </p:txBody>
      </p:sp>
    </p:spTree>
    <p:extLst>
      <p:ext uri="{BB962C8B-B14F-4D97-AF65-F5344CB8AC3E}">
        <p14:creationId xmlns:p14="http://schemas.microsoft.com/office/powerpoint/2010/main" val="7690630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F622E-A35D-4E46-B9DD-7FF5925A7C92}"/>
              </a:ext>
            </a:extLst>
          </p:cNvPr>
          <p:cNvSpPr>
            <a:spLocks noGrp="1"/>
          </p:cNvSpPr>
          <p:nvPr>
            <p:ph type="title"/>
          </p:nvPr>
        </p:nvSpPr>
        <p:spPr/>
        <p:txBody>
          <a:bodyPr/>
          <a:lstStyle/>
          <a:p>
            <a:r>
              <a:rPr lang="fr-FR" dirty="0"/>
              <a:t>Avantages / inconvénients</a:t>
            </a:r>
          </a:p>
        </p:txBody>
      </p:sp>
      <p:sp>
        <p:nvSpPr>
          <p:cNvPr id="3" name="Espace réservé du contenu 2">
            <a:extLst>
              <a:ext uri="{FF2B5EF4-FFF2-40B4-BE49-F238E27FC236}">
                <a16:creationId xmlns:a16="http://schemas.microsoft.com/office/drawing/2014/main" id="{BB2F4558-3DE1-0C4D-874B-36B57D458011}"/>
              </a:ext>
            </a:extLst>
          </p:cNvPr>
          <p:cNvSpPr>
            <a:spLocks noGrp="1"/>
          </p:cNvSpPr>
          <p:nvPr>
            <p:ph idx="1"/>
          </p:nvPr>
        </p:nvSpPr>
        <p:spPr/>
        <p:txBody>
          <a:bodyPr>
            <a:normAutofit fontScale="92500" lnSpcReduction="20000"/>
          </a:bodyPr>
          <a:lstStyle/>
          <a:p>
            <a:r>
              <a:rPr lang="fr-FR" dirty="0"/>
              <a:t>+ :</a:t>
            </a:r>
          </a:p>
          <a:p>
            <a:pPr lvl="1"/>
            <a:r>
              <a:rPr lang="fr-FR" dirty="0"/>
              <a:t>1 des outils </a:t>
            </a:r>
            <a:r>
              <a:rPr lang="fr-FR" dirty="0" err="1"/>
              <a:t>NoSQL</a:t>
            </a:r>
            <a:r>
              <a:rPr lang="fr-FR" dirty="0"/>
              <a:t> les plus matures</a:t>
            </a:r>
          </a:p>
          <a:p>
            <a:pPr lvl="1"/>
            <a:r>
              <a:rPr lang="fr-FR" dirty="0"/>
              <a:t>Grand nombre de bibliothèques supportées par son éditeur (permettant son intégration dans un grand nombre de langages de programmation) </a:t>
            </a:r>
          </a:p>
          <a:p>
            <a:pPr lvl="1"/>
            <a:r>
              <a:rPr lang="fr-FR" dirty="0"/>
              <a:t>Intégration de </a:t>
            </a:r>
            <a:r>
              <a:rPr lang="fr-FR" dirty="0" err="1"/>
              <a:t>MongoDB</a:t>
            </a:r>
            <a:r>
              <a:rPr lang="fr-FR" dirty="0"/>
              <a:t> dans un nombre très important de </a:t>
            </a:r>
            <a:r>
              <a:rPr lang="fr-FR" dirty="0" err="1"/>
              <a:t>frameworks</a:t>
            </a:r>
            <a:r>
              <a:rPr lang="fr-FR" dirty="0"/>
              <a:t> parmi les plus populaires.</a:t>
            </a:r>
          </a:p>
          <a:p>
            <a:pPr lvl="1"/>
            <a:r>
              <a:rPr lang="fr-FR" dirty="0"/>
              <a:t>Paradigme documentaire simple à prendre en main</a:t>
            </a:r>
          </a:p>
          <a:p>
            <a:pPr lvl="1"/>
            <a:r>
              <a:rPr lang="fr-FR" dirty="0"/>
              <a:t>Construction aisée de requêtes complexes</a:t>
            </a:r>
          </a:p>
          <a:p>
            <a:pPr lvl="1"/>
            <a:r>
              <a:rPr lang="fr-FR" dirty="0"/>
              <a:t>API bien documentée</a:t>
            </a:r>
          </a:p>
          <a:p>
            <a:pPr lvl="1"/>
            <a:r>
              <a:rPr lang="fr-FR" dirty="0"/>
              <a:t>Système transactionnel (depuis la V4.2)</a:t>
            </a:r>
          </a:p>
          <a:p>
            <a:pPr lvl="1"/>
            <a:r>
              <a:rPr lang="fr-FR" dirty="0"/>
              <a:t>Time </a:t>
            </a:r>
            <a:r>
              <a:rPr lang="fr-FR" dirty="0" err="1"/>
              <a:t>series</a:t>
            </a:r>
            <a:r>
              <a:rPr lang="fr-FR" dirty="0"/>
              <a:t> (depuis la V5)</a:t>
            </a:r>
          </a:p>
          <a:p>
            <a:pPr lvl="1"/>
            <a:r>
              <a:rPr lang="fr-FR" dirty="0" err="1"/>
              <a:t>Search</a:t>
            </a:r>
            <a:r>
              <a:rPr lang="fr-FR" dirty="0"/>
              <a:t> Engine (depuis la V5) en mode SaaS (Atlas)</a:t>
            </a:r>
          </a:p>
          <a:p>
            <a:r>
              <a:rPr lang="fr-FR" dirty="0"/>
              <a:t>- :</a:t>
            </a:r>
          </a:p>
          <a:p>
            <a:pPr lvl="1"/>
            <a:r>
              <a:rPr lang="fr-FR" dirty="0"/>
              <a:t>Nécessité d’avoir un nombre important de serveurs dès lors que l’on souhaite distribuer les données</a:t>
            </a:r>
          </a:p>
          <a:p>
            <a:pPr lvl="1"/>
            <a:r>
              <a:rPr lang="fr-FR" dirty="0"/>
              <a:t>Temps de configuration nécessaire important surtout pour le mode </a:t>
            </a:r>
            <a:r>
              <a:rPr lang="fr-FR" dirty="0" err="1"/>
              <a:t>Sharding</a:t>
            </a:r>
            <a:endParaRPr lang="fr-FR" dirty="0"/>
          </a:p>
        </p:txBody>
      </p:sp>
      <p:sp>
        <p:nvSpPr>
          <p:cNvPr id="4" name="Espace réservé du numéro de diapositive 3">
            <a:extLst>
              <a:ext uri="{FF2B5EF4-FFF2-40B4-BE49-F238E27FC236}">
                <a16:creationId xmlns:a16="http://schemas.microsoft.com/office/drawing/2014/main" id="{0FA8C9AF-10EE-FC4C-83D4-6240194E5FDC}"/>
              </a:ext>
            </a:extLst>
          </p:cNvPr>
          <p:cNvSpPr>
            <a:spLocks noGrp="1"/>
          </p:cNvSpPr>
          <p:nvPr>
            <p:ph type="sldNum" sz="quarter" idx="12"/>
          </p:nvPr>
        </p:nvSpPr>
        <p:spPr/>
        <p:txBody>
          <a:bodyPr/>
          <a:lstStyle/>
          <a:p>
            <a:fld id="{0CFEC368-1D7A-4F81-ABF6-AE0E36BAF64C}" type="slidenum">
              <a:rPr lang="en-US" smtClean="0"/>
              <a:pPr/>
              <a:t>49</a:t>
            </a:fld>
            <a:endParaRPr lang="en-US"/>
          </a:p>
        </p:txBody>
      </p:sp>
    </p:spTree>
    <p:extLst>
      <p:ext uri="{BB962C8B-B14F-4D97-AF65-F5344CB8AC3E}">
        <p14:creationId xmlns:p14="http://schemas.microsoft.com/office/powerpoint/2010/main" val="36190053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F5516-E186-374F-A348-1052096DFD90}"/>
              </a:ext>
            </a:extLst>
          </p:cNvPr>
          <p:cNvSpPr>
            <a:spLocks noGrp="1"/>
          </p:cNvSpPr>
          <p:nvPr>
            <p:ph type="title"/>
          </p:nvPr>
        </p:nvSpPr>
        <p:spPr/>
        <p:txBody>
          <a:bodyPr/>
          <a:lstStyle/>
          <a:p>
            <a:r>
              <a:rPr lang="fr-FR" dirty="0"/>
              <a:t>Bibliographie/Webographie</a:t>
            </a:r>
          </a:p>
        </p:txBody>
      </p:sp>
      <p:sp>
        <p:nvSpPr>
          <p:cNvPr id="3" name="Espace réservé du contenu 2">
            <a:extLst>
              <a:ext uri="{FF2B5EF4-FFF2-40B4-BE49-F238E27FC236}">
                <a16:creationId xmlns:a16="http://schemas.microsoft.com/office/drawing/2014/main" id="{408355C9-D2BB-7842-88BF-BF7EFDAFF959}"/>
              </a:ext>
            </a:extLst>
          </p:cNvPr>
          <p:cNvSpPr>
            <a:spLocks noGrp="1"/>
          </p:cNvSpPr>
          <p:nvPr>
            <p:ph idx="1"/>
          </p:nvPr>
        </p:nvSpPr>
        <p:spPr/>
        <p:txBody>
          <a:bodyPr>
            <a:normAutofit/>
          </a:bodyPr>
          <a:lstStyle/>
          <a:p>
            <a:r>
              <a:rPr lang="fr-FR" i="1" dirty="0"/>
              <a:t>Les bases de données </a:t>
            </a:r>
            <a:r>
              <a:rPr lang="fr-FR" i="1" dirty="0" err="1"/>
              <a:t>NoSQL</a:t>
            </a:r>
            <a:r>
              <a:rPr lang="fr-FR" i="1" dirty="0"/>
              <a:t>: Comprendre et mettre en œuvre</a:t>
            </a:r>
            <a:r>
              <a:rPr lang="fr-FR" dirty="0"/>
              <a:t>, 3</a:t>
            </a:r>
            <a:r>
              <a:rPr lang="fr-FR" baseline="30000" dirty="0"/>
              <a:t>ème</a:t>
            </a:r>
            <a:r>
              <a:rPr lang="fr-FR" dirty="0"/>
              <a:t>  édition, Rudi </a:t>
            </a:r>
            <a:r>
              <a:rPr lang="fr-FR" dirty="0" err="1"/>
              <a:t>Bruchez</a:t>
            </a:r>
            <a:r>
              <a:rPr lang="fr-FR" dirty="0"/>
              <a:t>, Editions Eyrolles, 2021</a:t>
            </a:r>
          </a:p>
          <a:p>
            <a:r>
              <a:rPr lang="fr-FR" dirty="0"/>
              <a:t>Livre blanc </a:t>
            </a:r>
            <a:r>
              <a:rPr lang="fr-FR" dirty="0" err="1"/>
              <a:t>NoSQL</a:t>
            </a:r>
            <a:r>
              <a:rPr lang="fr-FR" dirty="0"/>
              <a:t>, SMILE.</a:t>
            </a:r>
          </a:p>
          <a:p>
            <a:pPr lvl="1"/>
            <a:r>
              <a:rPr lang="fr-FR" dirty="0">
                <a:hlinkClick r:id="rId2"/>
              </a:rPr>
              <a:t>https://www.smile.eu/fr/livres-blancslivres-blancs/nosql</a:t>
            </a:r>
            <a:endParaRPr lang="fr-FR" dirty="0"/>
          </a:p>
          <a:p>
            <a:r>
              <a:rPr lang="fr-FR" dirty="0" err="1"/>
              <a:t>Db-engines.com</a:t>
            </a:r>
            <a:endParaRPr lang="fr-FR" dirty="0"/>
          </a:p>
          <a:p>
            <a:r>
              <a:rPr lang="fr-FR" dirty="0" err="1"/>
              <a:t>Testing</a:t>
            </a:r>
            <a:r>
              <a:rPr lang="fr-FR" dirty="0"/>
              <a:t> the performance of </a:t>
            </a:r>
            <a:r>
              <a:rPr lang="fr-FR" dirty="0" err="1"/>
              <a:t>NoSQL</a:t>
            </a:r>
            <a:r>
              <a:rPr lang="fr-FR" dirty="0"/>
              <a:t> </a:t>
            </a:r>
            <a:r>
              <a:rPr lang="fr-FR" dirty="0" err="1"/>
              <a:t>databases</a:t>
            </a:r>
            <a:r>
              <a:rPr lang="fr-FR" dirty="0"/>
              <a:t> via the </a:t>
            </a:r>
            <a:r>
              <a:rPr lang="fr-FR" dirty="0" err="1"/>
              <a:t>database</a:t>
            </a:r>
            <a:r>
              <a:rPr lang="fr-FR" dirty="0"/>
              <a:t> benchmark </a:t>
            </a:r>
            <a:r>
              <a:rPr lang="fr-FR" dirty="0" err="1"/>
              <a:t>tool</a:t>
            </a:r>
            <a:r>
              <a:rPr lang="fr-FR" dirty="0"/>
              <a:t>, LJ </a:t>
            </a:r>
            <a:r>
              <a:rPr lang="fr-FR" dirty="0" err="1"/>
              <a:t>Krstic</a:t>
            </a:r>
            <a:r>
              <a:rPr lang="fr-FR" dirty="0"/>
              <a:t> et al., </a:t>
            </a:r>
            <a:r>
              <a:rPr lang="fr-FR" dirty="0" err="1"/>
              <a:t>Military</a:t>
            </a:r>
            <a:r>
              <a:rPr lang="fr-FR" dirty="0"/>
              <a:t> </a:t>
            </a:r>
            <a:r>
              <a:rPr lang="fr-FR" dirty="0" err="1"/>
              <a:t>Technical</a:t>
            </a:r>
            <a:r>
              <a:rPr lang="fr-FR" dirty="0"/>
              <a:t> Courier 66(3):614-639, July 2018</a:t>
            </a:r>
          </a:p>
          <a:p>
            <a:pPr lvl="1"/>
            <a:r>
              <a:rPr lang="fr-FR" dirty="0">
                <a:hlinkClick r:id="rId3"/>
              </a:rPr>
              <a:t>https://www.researchgate.net/publication/326006960_Testing_the_performance_of_NoSQL_databases_via_the_database_benchmark_tool</a:t>
            </a:r>
            <a:endParaRPr lang="fr-FR" dirty="0"/>
          </a:p>
          <a:p>
            <a:endParaRPr lang="fr-FR" dirty="0"/>
          </a:p>
        </p:txBody>
      </p:sp>
      <p:sp>
        <p:nvSpPr>
          <p:cNvPr id="4" name="Espace réservé du numéro de diapositive 3">
            <a:extLst>
              <a:ext uri="{FF2B5EF4-FFF2-40B4-BE49-F238E27FC236}">
                <a16:creationId xmlns:a16="http://schemas.microsoft.com/office/drawing/2014/main" id="{4106B14E-3613-2548-9CD8-1D9685BBBD8F}"/>
              </a:ext>
            </a:extLst>
          </p:cNvPr>
          <p:cNvSpPr>
            <a:spLocks noGrp="1"/>
          </p:cNvSpPr>
          <p:nvPr>
            <p:ph type="sldNum" sz="quarter" idx="12"/>
          </p:nvPr>
        </p:nvSpPr>
        <p:spPr/>
        <p:txBody>
          <a:bodyPr/>
          <a:lstStyle/>
          <a:p>
            <a:fld id="{0CFEC368-1D7A-4F81-ABF6-AE0E36BAF64C}" type="slidenum">
              <a:rPr lang="en-US" smtClean="0"/>
              <a:pPr/>
              <a:t>50</a:t>
            </a:fld>
            <a:endParaRPr lang="en-US"/>
          </a:p>
        </p:txBody>
      </p:sp>
    </p:spTree>
    <p:extLst>
      <p:ext uri="{BB962C8B-B14F-4D97-AF65-F5344CB8AC3E}">
        <p14:creationId xmlns:p14="http://schemas.microsoft.com/office/powerpoint/2010/main" val="34031516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té">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Clarté.thmx</Template>
  <TotalTime>3350</TotalTime>
  <Words>4456</Words>
  <Application>Microsoft Macintosh PowerPoint</Application>
  <PresentationFormat>Affichage à l'écran (4:3)</PresentationFormat>
  <Paragraphs>417</Paragraphs>
  <Slides>50</Slides>
  <Notes>3</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50</vt:i4>
      </vt:variant>
    </vt:vector>
  </HeadingPairs>
  <TitlesOfParts>
    <vt:vector size="57" baseType="lpstr">
      <vt:lpstr>ＭＳ Ｐゴシック</vt:lpstr>
      <vt:lpstr>Arial</vt:lpstr>
      <vt:lpstr>Calibri</vt:lpstr>
      <vt:lpstr>Courier New</vt:lpstr>
      <vt:lpstr>Tahoma</vt:lpstr>
      <vt:lpstr>Times New Roman</vt:lpstr>
      <vt:lpstr>Clarté</vt:lpstr>
      <vt:lpstr>Nouvelles Bases de données</vt:lpstr>
      <vt:lpstr>NoSQL</vt:lpstr>
      <vt:lpstr>SGBD Relationnels</vt:lpstr>
      <vt:lpstr>Limites du modèle relationnel</vt:lpstr>
      <vt:lpstr>Limites du modèle transactionnel</vt:lpstr>
      <vt:lpstr>Modèle transactionnel</vt:lpstr>
      <vt:lpstr>Propriétés des systèmes distribués</vt:lpstr>
      <vt:lpstr>Théorème CAP</vt:lpstr>
      <vt:lpstr>Théorème CAP</vt:lpstr>
      <vt:lpstr>Types de base NoSQL</vt:lpstr>
      <vt:lpstr>Bases clé/valeur</vt:lpstr>
      <vt:lpstr>Bases clé/valeur</vt:lpstr>
      <vt:lpstr>Bases documentaires</vt:lpstr>
      <vt:lpstr>Bases documentaires</vt:lpstr>
      <vt:lpstr>Bases documentaires</vt:lpstr>
      <vt:lpstr>Bases orientées colonnes</vt:lpstr>
      <vt:lpstr>Bases orientées colonnes</vt:lpstr>
      <vt:lpstr>Bases orientées colonnes</vt:lpstr>
      <vt:lpstr>Bases orientées colonnes</vt:lpstr>
      <vt:lpstr>Bases orientées colonnes</vt:lpstr>
      <vt:lpstr>Bases orientées graphes</vt:lpstr>
      <vt:lpstr>Search engines (moteurs de recherche)</vt:lpstr>
      <vt:lpstr>Time series DB</vt:lpstr>
      <vt:lpstr>Théorème CAP</vt:lpstr>
      <vt:lpstr>Théorème CAP</vt:lpstr>
      <vt:lpstr>Conception des bases NoSQL</vt:lpstr>
      <vt:lpstr>Quelle sélection ?</vt:lpstr>
      <vt:lpstr>Bilan (d’après Oracle)</vt:lpstr>
      <vt:lpstr>Bilan (d’après moi)</vt:lpstr>
      <vt:lpstr>Tendances</vt:lpstr>
      <vt:lpstr>Tendances</vt:lpstr>
      <vt:lpstr>Evolution</vt:lpstr>
      <vt:lpstr>MongoDB</vt:lpstr>
      <vt:lpstr>Présentation</vt:lpstr>
      <vt:lpstr>Documents</vt:lpstr>
      <vt:lpstr>SQL -&gt; MongoDB</vt:lpstr>
      <vt:lpstr>Architecture</vt:lpstr>
      <vt:lpstr>Architecture</vt:lpstr>
      <vt:lpstr>Architecture</vt:lpstr>
      <vt:lpstr>Architecture</vt:lpstr>
      <vt:lpstr>Architecture</vt:lpstr>
      <vt:lpstr>Architecture</vt:lpstr>
      <vt:lpstr>Architecture</vt:lpstr>
      <vt:lpstr>Architecture</vt:lpstr>
      <vt:lpstr>Architecture</vt:lpstr>
      <vt:lpstr>Qualité de service</vt:lpstr>
      <vt:lpstr>Qualité de service</vt:lpstr>
      <vt:lpstr>Développement / API</vt:lpstr>
      <vt:lpstr>Avantages / inconvénients</vt:lpstr>
      <vt:lpstr>Bibliographie/Webographie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 .</dc:creator>
  <cp:lastModifiedBy>Vincent Couturier</cp:lastModifiedBy>
  <cp:revision>1362</cp:revision>
  <dcterms:created xsi:type="dcterms:W3CDTF">2015-01-21T14:24:05Z</dcterms:created>
  <dcterms:modified xsi:type="dcterms:W3CDTF">2025-09-16T07:43:10Z</dcterms:modified>
</cp:coreProperties>
</file>