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6" r:id="rId1"/>
  </p:sldMasterIdLst>
  <p:notesMasterIdLst>
    <p:notesMasterId r:id="rId51"/>
  </p:notesMasterIdLst>
  <p:handoutMasterIdLst>
    <p:handoutMasterId r:id="rId52"/>
  </p:handoutMasterIdLst>
  <p:sldIdLst>
    <p:sldId id="256" r:id="rId2"/>
    <p:sldId id="324" r:id="rId3"/>
    <p:sldId id="260" r:id="rId4"/>
    <p:sldId id="259" r:id="rId5"/>
    <p:sldId id="261" r:id="rId6"/>
    <p:sldId id="262" r:id="rId7"/>
    <p:sldId id="264" r:id="rId8"/>
    <p:sldId id="265" r:id="rId9"/>
    <p:sldId id="320" r:id="rId10"/>
    <p:sldId id="304" r:id="rId11"/>
    <p:sldId id="270" r:id="rId12"/>
    <p:sldId id="272" r:id="rId13"/>
    <p:sldId id="300" r:id="rId14"/>
    <p:sldId id="273" r:id="rId15"/>
    <p:sldId id="274" r:id="rId16"/>
    <p:sldId id="276" r:id="rId17"/>
    <p:sldId id="301" r:id="rId18"/>
    <p:sldId id="302" r:id="rId19"/>
    <p:sldId id="321" r:id="rId20"/>
    <p:sldId id="277" r:id="rId21"/>
    <p:sldId id="278" r:id="rId22"/>
    <p:sldId id="305" r:id="rId23"/>
    <p:sldId id="306" r:id="rId24"/>
    <p:sldId id="307" r:id="rId25"/>
    <p:sldId id="308" r:id="rId26"/>
    <p:sldId id="309" r:id="rId27"/>
    <p:sldId id="310" r:id="rId28"/>
    <p:sldId id="279" r:id="rId29"/>
    <p:sldId id="280" r:id="rId30"/>
    <p:sldId id="281" r:id="rId31"/>
    <p:sldId id="282" r:id="rId32"/>
    <p:sldId id="284" r:id="rId33"/>
    <p:sldId id="285" r:id="rId34"/>
    <p:sldId id="286" r:id="rId35"/>
    <p:sldId id="312" r:id="rId36"/>
    <p:sldId id="314" r:id="rId37"/>
    <p:sldId id="289" r:id="rId38"/>
    <p:sldId id="290" r:id="rId39"/>
    <p:sldId id="291" r:id="rId40"/>
    <p:sldId id="292" r:id="rId41"/>
    <p:sldId id="313" r:id="rId42"/>
    <p:sldId id="325" r:id="rId43"/>
    <p:sldId id="315" r:id="rId44"/>
    <p:sldId id="316" r:id="rId45"/>
    <p:sldId id="317" r:id="rId46"/>
    <p:sldId id="318" r:id="rId47"/>
    <p:sldId id="326" r:id="rId48"/>
    <p:sldId id="322" r:id="rId49"/>
    <p:sldId id="323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thur Veys" initials="AV" lastIdx="1" clrIdx="0">
    <p:extLst>
      <p:ext uri="{19B8F6BF-5375-455C-9EA6-DF929625EA0E}">
        <p15:presenceInfo xmlns:p15="http://schemas.microsoft.com/office/powerpoint/2012/main" userId="9391acc4897554ac" providerId="Windows Live"/>
      </p:ext>
    </p:extLst>
  </p:cmAuthor>
  <p:cmAuthor id="2" name="Vincent COUTURIER" initials="VC" lastIdx="2" clrIdx="1">
    <p:extLst>
      <p:ext uri="{19B8F6BF-5375-455C-9EA6-DF929625EA0E}">
        <p15:presenceInfo xmlns:p15="http://schemas.microsoft.com/office/powerpoint/2012/main" userId="S::vincent.couturier@univ-smb.fr::874e7036-9712-4153-bb4d-cc7b69aef51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/>
    <p:restoredTop sz="94795"/>
  </p:normalViewPr>
  <p:slideViewPr>
    <p:cSldViewPr snapToGrid="0" snapToObjects="1">
      <p:cViewPr varScale="1">
        <p:scale>
          <a:sx n="120" d="100"/>
          <a:sy n="120" d="100"/>
        </p:scale>
        <p:origin x="2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DIN Thibaut" userId="ea6945e6-f082-4cc2-b0d9-581bf51b3210" providerId="ADAL" clId="{F0DE2B4E-D8D6-40A8-BAEB-F87280291942}"/>
    <pc:docChg chg="modSld">
      <pc:chgData name="GAUDIN Thibaut" userId="ea6945e6-f082-4cc2-b0d9-581bf51b3210" providerId="ADAL" clId="{F0DE2B4E-D8D6-40A8-BAEB-F87280291942}" dt="2025-01-07T20:29:46.516" v="2" actId="20577"/>
      <pc:docMkLst>
        <pc:docMk/>
      </pc:docMkLst>
      <pc:sldChg chg="modSp mod">
        <pc:chgData name="GAUDIN Thibaut" userId="ea6945e6-f082-4cc2-b0d9-581bf51b3210" providerId="ADAL" clId="{F0DE2B4E-D8D6-40A8-BAEB-F87280291942}" dt="2025-01-07T20:29:46.516" v="2" actId="20577"/>
        <pc:sldMkLst>
          <pc:docMk/>
          <pc:sldMk cId="4075973730" sldId="262"/>
        </pc:sldMkLst>
        <pc:spChg chg="mod">
          <ac:chgData name="GAUDIN Thibaut" userId="ea6945e6-f082-4cc2-b0d9-581bf51b3210" providerId="ADAL" clId="{F0DE2B4E-D8D6-40A8-BAEB-F87280291942}" dt="2025-01-07T20:29:46.516" v="2" actId="20577"/>
          <ac:spMkLst>
            <pc:docMk/>
            <pc:sldMk cId="4075973730" sldId="262"/>
            <ac:spMk id="5" creationId="{14CC8BA4-961D-C146-8AAA-812989855142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9-03-24T20:52:50.280" idx="2">
    <p:pos x="3344" y="761"/>
    <p:text>Grok est un penser de texte pour analyser les logs</p:text>
    <p:extLst>
      <p:ext uri="{C676402C-5697-4E1C-873F-D02D1690AC5C}">
        <p15:threadingInfo xmlns:p15="http://schemas.microsoft.com/office/powerpoint/2012/main" timeZoneBias="-6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06081F-4F5A-47C4-B577-4E444E6FB79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2627B80-4D4B-4F30-8C2A-1BB1A649E7B1}">
      <dgm:prSet phldrT="[Texte]"/>
      <dgm:spPr/>
      <dgm:t>
        <a:bodyPr/>
        <a:lstStyle/>
        <a:p>
          <a:r>
            <a:rPr lang="fr-FR" dirty="0"/>
            <a:t>Master</a:t>
          </a:r>
        </a:p>
      </dgm:t>
    </dgm:pt>
    <dgm:pt modelId="{D88026BD-660F-48B2-B10B-7A7222184123}" type="parTrans" cxnId="{1CF00116-A1FF-4718-817F-B1FF37F82B3B}">
      <dgm:prSet/>
      <dgm:spPr/>
      <dgm:t>
        <a:bodyPr/>
        <a:lstStyle/>
        <a:p>
          <a:endParaRPr lang="fr-FR"/>
        </a:p>
      </dgm:t>
    </dgm:pt>
    <dgm:pt modelId="{270EC531-F115-46A3-BABB-0C91F4886334}" type="sibTrans" cxnId="{1CF00116-A1FF-4718-817F-B1FF37F82B3B}">
      <dgm:prSet/>
      <dgm:spPr/>
      <dgm:t>
        <a:bodyPr/>
        <a:lstStyle/>
        <a:p>
          <a:endParaRPr lang="fr-FR"/>
        </a:p>
      </dgm:t>
    </dgm:pt>
    <dgm:pt modelId="{85BADF50-7B81-4703-BF93-D3F277B4EFC3}">
      <dgm:prSet phldrT="[Texte]"/>
      <dgm:spPr/>
      <dgm:t>
        <a:bodyPr/>
        <a:lstStyle/>
        <a:p>
          <a:r>
            <a:rPr lang="fr-FR" dirty="0"/>
            <a:t>Slave</a:t>
          </a:r>
        </a:p>
      </dgm:t>
    </dgm:pt>
    <dgm:pt modelId="{2949AFAF-75BD-4008-8C10-765B69D5C98C}" type="parTrans" cxnId="{915A1A8E-A4B9-4B41-864D-688DA701F0FC}">
      <dgm:prSet/>
      <dgm:spPr/>
      <dgm:t>
        <a:bodyPr/>
        <a:lstStyle/>
        <a:p>
          <a:endParaRPr lang="fr-FR"/>
        </a:p>
      </dgm:t>
    </dgm:pt>
    <dgm:pt modelId="{B85A910B-87F3-48A7-A21F-58E6E712766F}" type="sibTrans" cxnId="{915A1A8E-A4B9-4B41-864D-688DA701F0FC}">
      <dgm:prSet/>
      <dgm:spPr/>
      <dgm:t>
        <a:bodyPr/>
        <a:lstStyle/>
        <a:p>
          <a:endParaRPr lang="fr-FR"/>
        </a:p>
      </dgm:t>
    </dgm:pt>
    <dgm:pt modelId="{C36813FE-E349-4B2E-B284-0042E2AF633A}">
      <dgm:prSet phldrT="[Texte]"/>
      <dgm:spPr/>
      <dgm:t>
        <a:bodyPr/>
        <a:lstStyle/>
        <a:p>
          <a:r>
            <a:rPr lang="fr-FR" dirty="0"/>
            <a:t>Slave</a:t>
          </a:r>
        </a:p>
      </dgm:t>
    </dgm:pt>
    <dgm:pt modelId="{BAAAE9C6-59D7-4B23-AA1D-A1AB20959701}" type="parTrans" cxnId="{B089AC3F-AAB2-4C3B-8D22-DCCDED171DB3}">
      <dgm:prSet/>
      <dgm:spPr/>
      <dgm:t>
        <a:bodyPr/>
        <a:lstStyle/>
        <a:p>
          <a:endParaRPr lang="fr-FR"/>
        </a:p>
      </dgm:t>
    </dgm:pt>
    <dgm:pt modelId="{4ACAFA7C-A830-4A57-9D96-861D87D25FB0}" type="sibTrans" cxnId="{B089AC3F-AAB2-4C3B-8D22-DCCDED171DB3}">
      <dgm:prSet/>
      <dgm:spPr/>
      <dgm:t>
        <a:bodyPr/>
        <a:lstStyle/>
        <a:p>
          <a:endParaRPr lang="fr-FR"/>
        </a:p>
      </dgm:t>
    </dgm:pt>
    <dgm:pt modelId="{3708D609-0517-4E3B-BBB5-07C79FE2CEF5}">
      <dgm:prSet phldrT="[Texte]"/>
      <dgm:spPr/>
      <dgm:t>
        <a:bodyPr/>
        <a:lstStyle/>
        <a:p>
          <a:r>
            <a:rPr lang="fr-FR" dirty="0"/>
            <a:t>Slave</a:t>
          </a:r>
        </a:p>
      </dgm:t>
    </dgm:pt>
    <dgm:pt modelId="{C61644AE-C948-49C4-97F4-9279FF2CF285}" type="parTrans" cxnId="{B7A6D4BA-D81A-4568-910E-69FC31B2B15B}">
      <dgm:prSet/>
      <dgm:spPr/>
      <dgm:t>
        <a:bodyPr/>
        <a:lstStyle/>
        <a:p>
          <a:endParaRPr lang="fr-FR"/>
        </a:p>
      </dgm:t>
    </dgm:pt>
    <dgm:pt modelId="{11429617-BE74-41D5-9B84-28ED54657B28}" type="sibTrans" cxnId="{B7A6D4BA-D81A-4568-910E-69FC31B2B15B}">
      <dgm:prSet/>
      <dgm:spPr/>
      <dgm:t>
        <a:bodyPr/>
        <a:lstStyle/>
        <a:p>
          <a:endParaRPr lang="fr-FR"/>
        </a:p>
      </dgm:t>
    </dgm:pt>
    <dgm:pt modelId="{5FC1ABF4-CBB4-467B-BA55-274470BA8C17}" type="pres">
      <dgm:prSet presAssocID="{2C06081F-4F5A-47C4-B577-4E444E6FB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06B4320-210B-4BE4-ACFB-69195897A7E3}" type="pres">
      <dgm:prSet presAssocID="{72627B80-4D4B-4F30-8C2A-1BB1A649E7B1}" presName="hierRoot1" presStyleCnt="0">
        <dgm:presLayoutVars>
          <dgm:hierBranch val="init"/>
        </dgm:presLayoutVars>
      </dgm:prSet>
      <dgm:spPr/>
    </dgm:pt>
    <dgm:pt modelId="{41676D1A-FE90-46BA-A4DA-14351C1BA32E}" type="pres">
      <dgm:prSet presAssocID="{72627B80-4D4B-4F30-8C2A-1BB1A649E7B1}" presName="rootComposite1" presStyleCnt="0"/>
      <dgm:spPr/>
    </dgm:pt>
    <dgm:pt modelId="{62DBE7F7-AE47-4679-BB52-11CE551AF764}" type="pres">
      <dgm:prSet presAssocID="{72627B80-4D4B-4F30-8C2A-1BB1A649E7B1}" presName="rootText1" presStyleLbl="node0" presStyleIdx="0" presStyleCnt="1">
        <dgm:presLayoutVars>
          <dgm:chPref val="3"/>
        </dgm:presLayoutVars>
      </dgm:prSet>
      <dgm:spPr/>
    </dgm:pt>
    <dgm:pt modelId="{F72A56A9-4421-4DBC-B34F-07F7530F716C}" type="pres">
      <dgm:prSet presAssocID="{72627B80-4D4B-4F30-8C2A-1BB1A649E7B1}" presName="rootConnector1" presStyleLbl="node1" presStyleIdx="0" presStyleCnt="0"/>
      <dgm:spPr/>
    </dgm:pt>
    <dgm:pt modelId="{09931B26-32F6-454F-AC2D-003985340C4A}" type="pres">
      <dgm:prSet presAssocID="{72627B80-4D4B-4F30-8C2A-1BB1A649E7B1}" presName="hierChild2" presStyleCnt="0"/>
      <dgm:spPr/>
    </dgm:pt>
    <dgm:pt modelId="{C85717A7-D168-4588-98CC-9A45B20FF811}" type="pres">
      <dgm:prSet presAssocID="{2949AFAF-75BD-4008-8C10-765B69D5C98C}" presName="Name37" presStyleLbl="parChTrans1D2" presStyleIdx="0" presStyleCnt="3"/>
      <dgm:spPr/>
    </dgm:pt>
    <dgm:pt modelId="{02BF37E2-5E6F-43F6-B181-A2327929C792}" type="pres">
      <dgm:prSet presAssocID="{85BADF50-7B81-4703-BF93-D3F277B4EFC3}" presName="hierRoot2" presStyleCnt="0">
        <dgm:presLayoutVars>
          <dgm:hierBranch val="init"/>
        </dgm:presLayoutVars>
      </dgm:prSet>
      <dgm:spPr/>
    </dgm:pt>
    <dgm:pt modelId="{BC3BC68E-9DB3-449B-9034-0682B9784E8A}" type="pres">
      <dgm:prSet presAssocID="{85BADF50-7B81-4703-BF93-D3F277B4EFC3}" presName="rootComposite" presStyleCnt="0"/>
      <dgm:spPr/>
    </dgm:pt>
    <dgm:pt modelId="{BC38CBF2-8F40-4489-A717-1A72637AD240}" type="pres">
      <dgm:prSet presAssocID="{85BADF50-7B81-4703-BF93-D3F277B4EFC3}" presName="rootText" presStyleLbl="node2" presStyleIdx="0" presStyleCnt="3">
        <dgm:presLayoutVars>
          <dgm:chPref val="3"/>
        </dgm:presLayoutVars>
      </dgm:prSet>
      <dgm:spPr/>
    </dgm:pt>
    <dgm:pt modelId="{B434CACC-B2A1-439D-A2BA-64B2B6FDD024}" type="pres">
      <dgm:prSet presAssocID="{85BADF50-7B81-4703-BF93-D3F277B4EFC3}" presName="rootConnector" presStyleLbl="node2" presStyleIdx="0" presStyleCnt="3"/>
      <dgm:spPr/>
    </dgm:pt>
    <dgm:pt modelId="{B6F55EF9-BDC5-4CF9-B334-887D65BE145C}" type="pres">
      <dgm:prSet presAssocID="{85BADF50-7B81-4703-BF93-D3F277B4EFC3}" presName="hierChild4" presStyleCnt="0"/>
      <dgm:spPr/>
    </dgm:pt>
    <dgm:pt modelId="{7AA2BB06-4339-415E-BEEF-0653A5E310A0}" type="pres">
      <dgm:prSet presAssocID="{85BADF50-7B81-4703-BF93-D3F277B4EFC3}" presName="hierChild5" presStyleCnt="0"/>
      <dgm:spPr/>
    </dgm:pt>
    <dgm:pt modelId="{95494339-F929-4495-8FCD-E5410D614701}" type="pres">
      <dgm:prSet presAssocID="{BAAAE9C6-59D7-4B23-AA1D-A1AB20959701}" presName="Name37" presStyleLbl="parChTrans1D2" presStyleIdx="1" presStyleCnt="3"/>
      <dgm:spPr/>
    </dgm:pt>
    <dgm:pt modelId="{169B6AD3-D097-4BE6-AB35-37C542B112F2}" type="pres">
      <dgm:prSet presAssocID="{C36813FE-E349-4B2E-B284-0042E2AF633A}" presName="hierRoot2" presStyleCnt="0">
        <dgm:presLayoutVars>
          <dgm:hierBranch val="init"/>
        </dgm:presLayoutVars>
      </dgm:prSet>
      <dgm:spPr/>
    </dgm:pt>
    <dgm:pt modelId="{8F605030-9CD1-4FC6-B276-CD69FCB0101F}" type="pres">
      <dgm:prSet presAssocID="{C36813FE-E349-4B2E-B284-0042E2AF633A}" presName="rootComposite" presStyleCnt="0"/>
      <dgm:spPr/>
    </dgm:pt>
    <dgm:pt modelId="{871B71A9-8EC7-444E-AD6C-BFE3FA034330}" type="pres">
      <dgm:prSet presAssocID="{C36813FE-E349-4B2E-B284-0042E2AF633A}" presName="rootText" presStyleLbl="node2" presStyleIdx="1" presStyleCnt="3">
        <dgm:presLayoutVars>
          <dgm:chPref val="3"/>
        </dgm:presLayoutVars>
      </dgm:prSet>
      <dgm:spPr/>
    </dgm:pt>
    <dgm:pt modelId="{338DF5AC-19B0-4845-B1E7-A9C358A96250}" type="pres">
      <dgm:prSet presAssocID="{C36813FE-E349-4B2E-B284-0042E2AF633A}" presName="rootConnector" presStyleLbl="node2" presStyleIdx="1" presStyleCnt="3"/>
      <dgm:spPr/>
    </dgm:pt>
    <dgm:pt modelId="{854F3EDD-BCB7-46F3-9A0D-D041574A0BE6}" type="pres">
      <dgm:prSet presAssocID="{C36813FE-E349-4B2E-B284-0042E2AF633A}" presName="hierChild4" presStyleCnt="0"/>
      <dgm:spPr/>
    </dgm:pt>
    <dgm:pt modelId="{7CA3F313-1867-43A4-973A-C885FCA735BF}" type="pres">
      <dgm:prSet presAssocID="{C36813FE-E349-4B2E-B284-0042E2AF633A}" presName="hierChild5" presStyleCnt="0"/>
      <dgm:spPr/>
    </dgm:pt>
    <dgm:pt modelId="{6DDB1F30-247F-406E-B02B-B26530914746}" type="pres">
      <dgm:prSet presAssocID="{C61644AE-C948-49C4-97F4-9279FF2CF285}" presName="Name37" presStyleLbl="parChTrans1D2" presStyleIdx="2" presStyleCnt="3"/>
      <dgm:spPr/>
    </dgm:pt>
    <dgm:pt modelId="{2DCB870E-6A58-451B-950A-B6FF5820F89B}" type="pres">
      <dgm:prSet presAssocID="{3708D609-0517-4E3B-BBB5-07C79FE2CEF5}" presName="hierRoot2" presStyleCnt="0">
        <dgm:presLayoutVars>
          <dgm:hierBranch val="init"/>
        </dgm:presLayoutVars>
      </dgm:prSet>
      <dgm:spPr/>
    </dgm:pt>
    <dgm:pt modelId="{F6E73D50-CFDA-41B8-8092-8E11D11154A3}" type="pres">
      <dgm:prSet presAssocID="{3708D609-0517-4E3B-BBB5-07C79FE2CEF5}" presName="rootComposite" presStyleCnt="0"/>
      <dgm:spPr/>
    </dgm:pt>
    <dgm:pt modelId="{BD0CE40A-C654-47E5-ADAC-2604FA1BF695}" type="pres">
      <dgm:prSet presAssocID="{3708D609-0517-4E3B-BBB5-07C79FE2CEF5}" presName="rootText" presStyleLbl="node2" presStyleIdx="2" presStyleCnt="3">
        <dgm:presLayoutVars>
          <dgm:chPref val="3"/>
        </dgm:presLayoutVars>
      </dgm:prSet>
      <dgm:spPr/>
    </dgm:pt>
    <dgm:pt modelId="{43F2E35A-FBAB-4676-9209-8C4EA71C743D}" type="pres">
      <dgm:prSet presAssocID="{3708D609-0517-4E3B-BBB5-07C79FE2CEF5}" presName="rootConnector" presStyleLbl="node2" presStyleIdx="2" presStyleCnt="3"/>
      <dgm:spPr/>
    </dgm:pt>
    <dgm:pt modelId="{EADE3AD7-96CA-42EC-9BCD-173F21A7431C}" type="pres">
      <dgm:prSet presAssocID="{3708D609-0517-4E3B-BBB5-07C79FE2CEF5}" presName="hierChild4" presStyleCnt="0"/>
      <dgm:spPr/>
    </dgm:pt>
    <dgm:pt modelId="{A9889383-D1FE-47F5-ACA5-37F6F3E3D93B}" type="pres">
      <dgm:prSet presAssocID="{3708D609-0517-4E3B-BBB5-07C79FE2CEF5}" presName="hierChild5" presStyleCnt="0"/>
      <dgm:spPr/>
    </dgm:pt>
    <dgm:pt modelId="{0301C2DB-D829-4FB7-8A07-9FF1824B2123}" type="pres">
      <dgm:prSet presAssocID="{72627B80-4D4B-4F30-8C2A-1BB1A649E7B1}" presName="hierChild3" presStyleCnt="0"/>
      <dgm:spPr/>
    </dgm:pt>
  </dgm:ptLst>
  <dgm:cxnLst>
    <dgm:cxn modelId="{D1F38B0D-6C84-41EE-8690-75B41CDB26A9}" type="presOf" srcId="{2949AFAF-75BD-4008-8C10-765B69D5C98C}" destId="{C85717A7-D168-4588-98CC-9A45B20FF811}" srcOrd="0" destOrd="0" presId="urn:microsoft.com/office/officeart/2005/8/layout/orgChart1"/>
    <dgm:cxn modelId="{036DA70E-60AC-4D46-A585-F4E0971D74B5}" type="presOf" srcId="{3708D609-0517-4E3B-BBB5-07C79FE2CEF5}" destId="{BD0CE40A-C654-47E5-ADAC-2604FA1BF695}" srcOrd="0" destOrd="0" presId="urn:microsoft.com/office/officeart/2005/8/layout/orgChart1"/>
    <dgm:cxn modelId="{1CF00116-A1FF-4718-817F-B1FF37F82B3B}" srcId="{2C06081F-4F5A-47C4-B577-4E444E6FB79E}" destId="{72627B80-4D4B-4F30-8C2A-1BB1A649E7B1}" srcOrd="0" destOrd="0" parTransId="{D88026BD-660F-48B2-B10B-7A7222184123}" sibTransId="{270EC531-F115-46A3-BABB-0C91F4886334}"/>
    <dgm:cxn modelId="{6623211F-EF6F-4FE9-8895-F6A267AA7BF3}" type="presOf" srcId="{72627B80-4D4B-4F30-8C2A-1BB1A649E7B1}" destId="{F72A56A9-4421-4DBC-B34F-07F7530F716C}" srcOrd="1" destOrd="0" presId="urn:microsoft.com/office/officeart/2005/8/layout/orgChart1"/>
    <dgm:cxn modelId="{FF692D21-24E9-45CF-B378-65D75E12EC47}" type="presOf" srcId="{BAAAE9C6-59D7-4B23-AA1D-A1AB20959701}" destId="{95494339-F929-4495-8FCD-E5410D614701}" srcOrd="0" destOrd="0" presId="urn:microsoft.com/office/officeart/2005/8/layout/orgChart1"/>
    <dgm:cxn modelId="{B089AC3F-AAB2-4C3B-8D22-DCCDED171DB3}" srcId="{72627B80-4D4B-4F30-8C2A-1BB1A649E7B1}" destId="{C36813FE-E349-4B2E-B284-0042E2AF633A}" srcOrd="1" destOrd="0" parTransId="{BAAAE9C6-59D7-4B23-AA1D-A1AB20959701}" sibTransId="{4ACAFA7C-A830-4A57-9D96-861D87D25FB0}"/>
    <dgm:cxn modelId="{B6D3D459-ABF6-4CD9-AA87-4921E1C18FD0}" type="presOf" srcId="{C61644AE-C948-49C4-97F4-9279FF2CF285}" destId="{6DDB1F30-247F-406E-B02B-B26530914746}" srcOrd="0" destOrd="0" presId="urn:microsoft.com/office/officeart/2005/8/layout/orgChart1"/>
    <dgm:cxn modelId="{E8AC675A-E9C6-4A44-8726-CF28915BD891}" type="presOf" srcId="{C36813FE-E349-4B2E-B284-0042E2AF633A}" destId="{338DF5AC-19B0-4845-B1E7-A9C358A96250}" srcOrd="1" destOrd="0" presId="urn:microsoft.com/office/officeart/2005/8/layout/orgChart1"/>
    <dgm:cxn modelId="{B031F05E-23DF-4B22-AEA8-D24E73B9382B}" type="presOf" srcId="{3708D609-0517-4E3B-BBB5-07C79FE2CEF5}" destId="{43F2E35A-FBAB-4676-9209-8C4EA71C743D}" srcOrd="1" destOrd="0" presId="urn:microsoft.com/office/officeart/2005/8/layout/orgChart1"/>
    <dgm:cxn modelId="{BD95B164-C931-4152-B901-E4773F8D4D92}" type="presOf" srcId="{2C06081F-4F5A-47C4-B577-4E444E6FB79E}" destId="{5FC1ABF4-CBB4-467B-BA55-274470BA8C17}" srcOrd="0" destOrd="0" presId="urn:microsoft.com/office/officeart/2005/8/layout/orgChart1"/>
    <dgm:cxn modelId="{915A1A8E-A4B9-4B41-864D-688DA701F0FC}" srcId="{72627B80-4D4B-4F30-8C2A-1BB1A649E7B1}" destId="{85BADF50-7B81-4703-BF93-D3F277B4EFC3}" srcOrd="0" destOrd="0" parTransId="{2949AFAF-75BD-4008-8C10-765B69D5C98C}" sibTransId="{B85A910B-87F3-48A7-A21F-58E6E712766F}"/>
    <dgm:cxn modelId="{69FECDA3-0190-428D-A2E3-1DF695F6BAF5}" type="presOf" srcId="{72627B80-4D4B-4F30-8C2A-1BB1A649E7B1}" destId="{62DBE7F7-AE47-4679-BB52-11CE551AF764}" srcOrd="0" destOrd="0" presId="urn:microsoft.com/office/officeart/2005/8/layout/orgChart1"/>
    <dgm:cxn modelId="{5C81B4A7-E6B6-4071-AF80-EE44D30A8966}" type="presOf" srcId="{85BADF50-7B81-4703-BF93-D3F277B4EFC3}" destId="{BC38CBF2-8F40-4489-A717-1A72637AD240}" srcOrd="0" destOrd="0" presId="urn:microsoft.com/office/officeart/2005/8/layout/orgChart1"/>
    <dgm:cxn modelId="{B7A6D4BA-D81A-4568-910E-69FC31B2B15B}" srcId="{72627B80-4D4B-4F30-8C2A-1BB1A649E7B1}" destId="{3708D609-0517-4E3B-BBB5-07C79FE2CEF5}" srcOrd="2" destOrd="0" parTransId="{C61644AE-C948-49C4-97F4-9279FF2CF285}" sibTransId="{11429617-BE74-41D5-9B84-28ED54657B28}"/>
    <dgm:cxn modelId="{B27696C8-8EB9-479A-A4B1-69282CC2C317}" type="presOf" srcId="{C36813FE-E349-4B2E-B284-0042E2AF633A}" destId="{871B71A9-8EC7-444E-AD6C-BFE3FA034330}" srcOrd="0" destOrd="0" presId="urn:microsoft.com/office/officeart/2005/8/layout/orgChart1"/>
    <dgm:cxn modelId="{CA221EF5-AA9D-4739-88C9-1D3C544AFF9F}" type="presOf" srcId="{85BADF50-7B81-4703-BF93-D3F277B4EFC3}" destId="{B434CACC-B2A1-439D-A2BA-64B2B6FDD024}" srcOrd="1" destOrd="0" presId="urn:microsoft.com/office/officeart/2005/8/layout/orgChart1"/>
    <dgm:cxn modelId="{6BA0F331-3642-493E-BB2F-7A74FDDC841B}" type="presParOf" srcId="{5FC1ABF4-CBB4-467B-BA55-274470BA8C17}" destId="{D06B4320-210B-4BE4-ACFB-69195897A7E3}" srcOrd="0" destOrd="0" presId="urn:microsoft.com/office/officeart/2005/8/layout/orgChart1"/>
    <dgm:cxn modelId="{20FD3790-3E37-4532-8D53-450588DF2C44}" type="presParOf" srcId="{D06B4320-210B-4BE4-ACFB-69195897A7E3}" destId="{41676D1A-FE90-46BA-A4DA-14351C1BA32E}" srcOrd="0" destOrd="0" presId="urn:microsoft.com/office/officeart/2005/8/layout/orgChart1"/>
    <dgm:cxn modelId="{7CBF34C0-BAD4-43D0-9F9F-85DC9584D635}" type="presParOf" srcId="{41676D1A-FE90-46BA-A4DA-14351C1BA32E}" destId="{62DBE7F7-AE47-4679-BB52-11CE551AF764}" srcOrd="0" destOrd="0" presId="urn:microsoft.com/office/officeart/2005/8/layout/orgChart1"/>
    <dgm:cxn modelId="{1E2E9CD3-D943-4BB5-BA5B-6CD52CCC83D3}" type="presParOf" srcId="{41676D1A-FE90-46BA-A4DA-14351C1BA32E}" destId="{F72A56A9-4421-4DBC-B34F-07F7530F716C}" srcOrd="1" destOrd="0" presId="urn:microsoft.com/office/officeart/2005/8/layout/orgChart1"/>
    <dgm:cxn modelId="{69004E48-E7FB-40C2-9F41-20D81026962C}" type="presParOf" srcId="{D06B4320-210B-4BE4-ACFB-69195897A7E3}" destId="{09931B26-32F6-454F-AC2D-003985340C4A}" srcOrd="1" destOrd="0" presId="urn:microsoft.com/office/officeart/2005/8/layout/orgChart1"/>
    <dgm:cxn modelId="{60CE187B-3304-4BC8-8E42-CF5E8DA1DB1F}" type="presParOf" srcId="{09931B26-32F6-454F-AC2D-003985340C4A}" destId="{C85717A7-D168-4588-98CC-9A45B20FF811}" srcOrd="0" destOrd="0" presId="urn:microsoft.com/office/officeart/2005/8/layout/orgChart1"/>
    <dgm:cxn modelId="{AC55DABE-629B-4230-A1BF-49C281D9465B}" type="presParOf" srcId="{09931B26-32F6-454F-AC2D-003985340C4A}" destId="{02BF37E2-5E6F-43F6-B181-A2327929C792}" srcOrd="1" destOrd="0" presId="urn:microsoft.com/office/officeart/2005/8/layout/orgChart1"/>
    <dgm:cxn modelId="{A635F178-5F41-4DC8-A494-D056D694CD3A}" type="presParOf" srcId="{02BF37E2-5E6F-43F6-B181-A2327929C792}" destId="{BC3BC68E-9DB3-449B-9034-0682B9784E8A}" srcOrd="0" destOrd="0" presId="urn:microsoft.com/office/officeart/2005/8/layout/orgChart1"/>
    <dgm:cxn modelId="{12A129C1-8E0E-41A5-B1B7-D98CB15BC806}" type="presParOf" srcId="{BC3BC68E-9DB3-449B-9034-0682B9784E8A}" destId="{BC38CBF2-8F40-4489-A717-1A72637AD240}" srcOrd="0" destOrd="0" presId="urn:microsoft.com/office/officeart/2005/8/layout/orgChart1"/>
    <dgm:cxn modelId="{9B1B3EAD-DC81-49DC-9772-BA91F31BD471}" type="presParOf" srcId="{BC3BC68E-9DB3-449B-9034-0682B9784E8A}" destId="{B434CACC-B2A1-439D-A2BA-64B2B6FDD024}" srcOrd="1" destOrd="0" presId="urn:microsoft.com/office/officeart/2005/8/layout/orgChart1"/>
    <dgm:cxn modelId="{A71E62E2-466B-4126-BE70-F7626667D22E}" type="presParOf" srcId="{02BF37E2-5E6F-43F6-B181-A2327929C792}" destId="{B6F55EF9-BDC5-4CF9-B334-887D65BE145C}" srcOrd="1" destOrd="0" presId="urn:microsoft.com/office/officeart/2005/8/layout/orgChart1"/>
    <dgm:cxn modelId="{1C18C6FB-A20B-474A-B43F-83BB406E2186}" type="presParOf" srcId="{02BF37E2-5E6F-43F6-B181-A2327929C792}" destId="{7AA2BB06-4339-415E-BEEF-0653A5E310A0}" srcOrd="2" destOrd="0" presId="urn:microsoft.com/office/officeart/2005/8/layout/orgChart1"/>
    <dgm:cxn modelId="{0C3307EC-9D90-48D7-A477-6A9664CBD131}" type="presParOf" srcId="{09931B26-32F6-454F-AC2D-003985340C4A}" destId="{95494339-F929-4495-8FCD-E5410D614701}" srcOrd="2" destOrd="0" presId="urn:microsoft.com/office/officeart/2005/8/layout/orgChart1"/>
    <dgm:cxn modelId="{E02B3CBF-4051-4210-A1C1-03F1303C8059}" type="presParOf" srcId="{09931B26-32F6-454F-AC2D-003985340C4A}" destId="{169B6AD3-D097-4BE6-AB35-37C542B112F2}" srcOrd="3" destOrd="0" presId="urn:microsoft.com/office/officeart/2005/8/layout/orgChart1"/>
    <dgm:cxn modelId="{4207A7B1-1C46-416F-B73E-6ECD4089BF08}" type="presParOf" srcId="{169B6AD3-D097-4BE6-AB35-37C542B112F2}" destId="{8F605030-9CD1-4FC6-B276-CD69FCB0101F}" srcOrd="0" destOrd="0" presId="urn:microsoft.com/office/officeart/2005/8/layout/orgChart1"/>
    <dgm:cxn modelId="{DC9C12DB-C4A6-43EF-A8F7-470FD71654C7}" type="presParOf" srcId="{8F605030-9CD1-4FC6-B276-CD69FCB0101F}" destId="{871B71A9-8EC7-444E-AD6C-BFE3FA034330}" srcOrd="0" destOrd="0" presId="urn:microsoft.com/office/officeart/2005/8/layout/orgChart1"/>
    <dgm:cxn modelId="{92E17385-0CC8-4579-9255-7E009F067645}" type="presParOf" srcId="{8F605030-9CD1-4FC6-B276-CD69FCB0101F}" destId="{338DF5AC-19B0-4845-B1E7-A9C358A96250}" srcOrd="1" destOrd="0" presId="urn:microsoft.com/office/officeart/2005/8/layout/orgChart1"/>
    <dgm:cxn modelId="{80BB719E-C5B8-4FE5-8AD5-046D89B3B218}" type="presParOf" srcId="{169B6AD3-D097-4BE6-AB35-37C542B112F2}" destId="{854F3EDD-BCB7-46F3-9A0D-D041574A0BE6}" srcOrd="1" destOrd="0" presId="urn:microsoft.com/office/officeart/2005/8/layout/orgChart1"/>
    <dgm:cxn modelId="{91400F06-6101-4D52-A835-6F2327BAA631}" type="presParOf" srcId="{169B6AD3-D097-4BE6-AB35-37C542B112F2}" destId="{7CA3F313-1867-43A4-973A-C885FCA735BF}" srcOrd="2" destOrd="0" presId="urn:microsoft.com/office/officeart/2005/8/layout/orgChart1"/>
    <dgm:cxn modelId="{36A4A9A5-463D-4098-A28B-47196AF800C9}" type="presParOf" srcId="{09931B26-32F6-454F-AC2D-003985340C4A}" destId="{6DDB1F30-247F-406E-B02B-B26530914746}" srcOrd="4" destOrd="0" presId="urn:microsoft.com/office/officeart/2005/8/layout/orgChart1"/>
    <dgm:cxn modelId="{2985F878-725D-4F4A-82F0-170125965E01}" type="presParOf" srcId="{09931B26-32F6-454F-AC2D-003985340C4A}" destId="{2DCB870E-6A58-451B-950A-B6FF5820F89B}" srcOrd="5" destOrd="0" presId="urn:microsoft.com/office/officeart/2005/8/layout/orgChart1"/>
    <dgm:cxn modelId="{1E46513E-51B0-418B-A9DE-2938EAC62115}" type="presParOf" srcId="{2DCB870E-6A58-451B-950A-B6FF5820F89B}" destId="{F6E73D50-CFDA-41B8-8092-8E11D11154A3}" srcOrd="0" destOrd="0" presId="urn:microsoft.com/office/officeart/2005/8/layout/orgChart1"/>
    <dgm:cxn modelId="{A73C2531-D348-4255-A07E-593C04FA649A}" type="presParOf" srcId="{F6E73D50-CFDA-41B8-8092-8E11D11154A3}" destId="{BD0CE40A-C654-47E5-ADAC-2604FA1BF695}" srcOrd="0" destOrd="0" presId="urn:microsoft.com/office/officeart/2005/8/layout/orgChart1"/>
    <dgm:cxn modelId="{CC3EB609-A0C6-4EE8-A517-863CC5D93558}" type="presParOf" srcId="{F6E73D50-CFDA-41B8-8092-8E11D11154A3}" destId="{43F2E35A-FBAB-4676-9209-8C4EA71C743D}" srcOrd="1" destOrd="0" presId="urn:microsoft.com/office/officeart/2005/8/layout/orgChart1"/>
    <dgm:cxn modelId="{4CD68B4F-A99B-45CB-A0D0-B421C9AFE7DD}" type="presParOf" srcId="{2DCB870E-6A58-451B-950A-B6FF5820F89B}" destId="{EADE3AD7-96CA-42EC-9BCD-173F21A7431C}" srcOrd="1" destOrd="0" presId="urn:microsoft.com/office/officeart/2005/8/layout/orgChart1"/>
    <dgm:cxn modelId="{E8B8F882-3665-490B-AD42-1BB096780722}" type="presParOf" srcId="{2DCB870E-6A58-451B-950A-B6FF5820F89B}" destId="{A9889383-D1FE-47F5-ACA5-37F6F3E3D93B}" srcOrd="2" destOrd="0" presId="urn:microsoft.com/office/officeart/2005/8/layout/orgChart1"/>
    <dgm:cxn modelId="{3F850B9D-C90B-4E11-A001-898F89F7DA8C}" type="presParOf" srcId="{D06B4320-210B-4BE4-ACFB-69195897A7E3}" destId="{0301C2DB-D829-4FB7-8A07-9FF1824B212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B1F30-247F-406E-B02B-B26530914746}">
      <dsp:nvSpPr>
        <dsp:cNvPr id="0" name=""/>
        <dsp:cNvSpPr/>
      </dsp:nvSpPr>
      <dsp:spPr>
        <a:xfrm>
          <a:off x="2045494" y="1308325"/>
          <a:ext cx="1447201" cy="251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583"/>
              </a:lnTo>
              <a:lnTo>
                <a:pt x="1447201" y="125583"/>
              </a:lnTo>
              <a:lnTo>
                <a:pt x="1447201" y="25116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494339-F929-4495-8FCD-E5410D614701}">
      <dsp:nvSpPr>
        <dsp:cNvPr id="0" name=""/>
        <dsp:cNvSpPr/>
      </dsp:nvSpPr>
      <dsp:spPr>
        <a:xfrm>
          <a:off x="1999774" y="1308325"/>
          <a:ext cx="91440" cy="2511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116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717A7-D168-4588-98CC-9A45B20FF811}">
      <dsp:nvSpPr>
        <dsp:cNvPr id="0" name=""/>
        <dsp:cNvSpPr/>
      </dsp:nvSpPr>
      <dsp:spPr>
        <a:xfrm>
          <a:off x="598292" y="1308325"/>
          <a:ext cx="1447201" cy="251167"/>
        </a:xfrm>
        <a:custGeom>
          <a:avLst/>
          <a:gdLst/>
          <a:ahLst/>
          <a:cxnLst/>
          <a:rect l="0" t="0" r="0" b="0"/>
          <a:pathLst>
            <a:path>
              <a:moveTo>
                <a:pt x="1447201" y="0"/>
              </a:moveTo>
              <a:lnTo>
                <a:pt x="1447201" y="125583"/>
              </a:lnTo>
              <a:lnTo>
                <a:pt x="0" y="125583"/>
              </a:lnTo>
              <a:lnTo>
                <a:pt x="0" y="251167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BE7F7-AE47-4679-BB52-11CE551AF764}">
      <dsp:nvSpPr>
        <dsp:cNvPr id="0" name=""/>
        <dsp:cNvSpPr/>
      </dsp:nvSpPr>
      <dsp:spPr>
        <a:xfrm>
          <a:off x="1447476" y="710308"/>
          <a:ext cx="1196034" cy="598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Master</a:t>
          </a:r>
        </a:p>
      </dsp:txBody>
      <dsp:txXfrm>
        <a:off x="1447476" y="710308"/>
        <a:ext cx="1196034" cy="598017"/>
      </dsp:txXfrm>
    </dsp:sp>
    <dsp:sp modelId="{BC38CBF2-8F40-4489-A717-1A72637AD240}">
      <dsp:nvSpPr>
        <dsp:cNvPr id="0" name=""/>
        <dsp:cNvSpPr/>
      </dsp:nvSpPr>
      <dsp:spPr>
        <a:xfrm>
          <a:off x="274" y="1559493"/>
          <a:ext cx="1196034" cy="598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Slave</a:t>
          </a:r>
        </a:p>
      </dsp:txBody>
      <dsp:txXfrm>
        <a:off x="274" y="1559493"/>
        <a:ext cx="1196034" cy="598017"/>
      </dsp:txXfrm>
    </dsp:sp>
    <dsp:sp modelId="{871B71A9-8EC7-444E-AD6C-BFE3FA034330}">
      <dsp:nvSpPr>
        <dsp:cNvPr id="0" name=""/>
        <dsp:cNvSpPr/>
      </dsp:nvSpPr>
      <dsp:spPr>
        <a:xfrm>
          <a:off x="1447476" y="1559493"/>
          <a:ext cx="1196034" cy="598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Slave</a:t>
          </a:r>
        </a:p>
      </dsp:txBody>
      <dsp:txXfrm>
        <a:off x="1447476" y="1559493"/>
        <a:ext cx="1196034" cy="598017"/>
      </dsp:txXfrm>
    </dsp:sp>
    <dsp:sp modelId="{BD0CE40A-C654-47E5-ADAC-2604FA1BF695}">
      <dsp:nvSpPr>
        <dsp:cNvPr id="0" name=""/>
        <dsp:cNvSpPr/>
      </dsp:nvSpPr>
      <dsp:spPr>
        <a:xfrm>
          <a:off x="2894678" y="1559493"/>
          <a:ext cx="1196034" cy="5980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Slave</a:t>
          </a:r>
        </a:p>
      </dsp:txBody>
      <dsp:txXfrm>
        <a:off x="2894678" y="1559493"/>
        <a:ext cx="1196034" cy="598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5F0904-646F-3F41-A070-BE652CCCBF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080B8-F48A-BB41-846F-3BEB687C6A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65A14-AA0F-BE4A-AD52-DDD1A490AF2C}" type="datetimeFigureOut">
              <a:rPr lang="fr-FR" smtClean="0"/>
              <a:t>13/01/2026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E1CD0-56EF-BD40-8A55-A7050C91F4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48056-61DD-7848-A487-A12EE7326E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5F807-4198-0C4F-B9AB-804A1ABF723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1951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C8E96-0E9E-2E46-89A2-378EAF047464}" type="datetimeFigureOut">
              <a:rPr lang="fr-FR" smtClean="0"/>
              <a:t>13/01/2026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771BC-E135-D74E-94A7-54B80B0B823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063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91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6649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206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434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004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SAAS : dispo chez amazon, elastic cloud (officiel), Logz.io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1261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5941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972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1255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4710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7F40-BD24-C24E-B1C1-E976DE4FE63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960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7546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0520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7280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6840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266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214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4165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7F40-BD24-C24E-B1C1-E976DE4FE63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77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7F40-BD24-C24E-B1C1-E976DE4FE63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074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8690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DSL : Domain specific language. Langage spécifique pour une seule utilisation (C on peut faire plein de choses (script, calculatrice, …) pas en HTML -&gt; que web)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6379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8965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37836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Récupère les document dont le titre ressemble à how to make millions mais n’étant pas en spam, avec boost si ils sont en favoris. Ne garder que ceux dont la date &gt;= 2014, price moins de 30 et ne doivent pas être des 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0757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50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66904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4667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7001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64945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95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2871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Parler du split brain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5777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Sharding. : -&gt; on peut splitter une grosse données sur plusieurs disque</a:t>
            </a:r>
          </a:p>
          <a:p>
            <a:r>
              <a:rPr lang="fr-FR" dirty="0"/>
              <a:t>-&gt; on peut paralléliser les actions sur les shards</a:t>
            </a:r>
          </a:p>
          <a:p>
            <a:r>
              <a:rPr lang="fr-FR" dirty="0"/>
              <a:t>-&gt; scalable et résilient avec le système de réplicas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80403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29847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74695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80559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4497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26381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58078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7427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14680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46371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24779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74378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17783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96214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44326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771BC-E135-D74E-94A7-54B80B0B823B}" type="slidenum">
              <a:rPr lang="fr-FR" smtClean="0"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39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B9EBBA-996F-894A-B54A-D6246ED52CEA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07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4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FA1846-DA80-1C48-A609-854EA85C59AD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69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89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58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4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5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0DF5E60-9974-AC48-9591-99C2BB44B7CF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4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80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3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D62726E-379B-B349-9EED-81ED093FA806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87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12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astic.co/fr/pricing/faq/licens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earch.org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raylog.org/" TargetMode="External"/><Relationship Id="rId4" Type="http://schemas.openxmlformats.org/officeDocument/2006/relationships/hyperlink" Target="https://datascientest.com/knn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astic.co/guide/en/logstash/current/plugins-inputs-http_poller.html" TargetMode="External"/><Relationship Id="rId3" Type="http://schemas.openxmlformats.org/officeDocument/2006/relationships/hyperlink" Target="https://www.elastic.co/guide/en/logstash/current/plugins-inputs-elasticsearch.html" TargetMode="External"/><Relationship Id="rId7" Type="http://schemas.openxmlformats.org/officeDocument/2006/relationships/hyperlink" Target="https://www.elastic.co/guide/en/logstash/current/plugins-inputs-http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astic.co/guide/en/logstash/current/plugins-inputs-file.html" TargetMode="External"/><Relationship Id="rId5" Type="http://schemas.openxmlformats.org/officeDocument/2006/relationships/hyperlink" Target="https://www.elastic.co/guide/en/logstash/current/plugins-inputs-eventlog.html" TargetMode="External"/><Relationship Id="rId10" Type="http://schemas.openxmlformats.org/officeDocument/2006/relationships/hyperlink" Target="https://www.elastic.co/guide/en/logstash/current/plugins-inputs-jdbc.html" TargetMode="External"/><Relationship Id="rId4" Type="http://schemas.openxmlformats.org/officeDocument/2006/relationships/hyperlink" Target="https://www.elastic.co/guide/en/logstash/current/plugins-inputs-exec.html" TargetMode="External"/><Relationship Id="rId9" Type="http://schemas.openxmlformats.org/officeDocument/2006/relationships/hyperlink" Target="https://www.elastic.co/guide/en/logstash/current/plugins-inputs-imap.html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astic.co/guide/en/logstash/current/plugins-filters-json.html" TargetMode="External"/><Relationship Id="rId13" Type="http://schemas.openxmlformats.org/officeDocument/2006/relationships/hyperlink" Target="https://www.elastic.co/guide/en/logstash/current/plugins-filters-sleep.html" TargetMode="External"/><Relationship Id="rId3" Type="http://schemas.openxmlformats.org/officeDocument/2006/relationships/hyperlink" Target="https://www.elastic.co/guide/en/logstash/current/plugins-filters-anonymize.html" TargetMode="External"/><Relationship Id="rId7" Type="http://schemas.openxmlformats.org/officeDocument/2006/relationships/hyperlink" Target="https://www.elastic.co/guide/en/logstash/current/plugins-filters-geoip.html" TargetMode="External"/><Relationship Id="rId12" Type="http://schemas.openxmlformats.org/officeDocument/2006/relationships/hyperlink" Target="https://www.elastic.co/guide/en/logstash/current/plugins-filters-multiline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astic.co/guide/en/logstash/current/plugins-filters-date.html" TargetMode="External"/><Relationship Id="rId11" Type="http://schemas.openxmlformats.org/officeDocument/2006/relationships/hyperlink" Target="https://www.elastic.co/guide/en/logstash/current/plugins-filters-mutate.html" TargetMode="External"/><Relationship Id="rId5" Type="http://schemas.openxmlformats.org/officeDocument/2006/relationships/hyperlink" Target="https://www.elastic.co/guide/en/logstash/current/plugins-filters-checksum.html" TargetMode="External"/><Relationship Id="rId10" Type="http://schemas.openxmlformats.org/officeDocument/2006/relationships/hyperlink" Target="https://www.elastic.co/guide/en/logstash/current/plugins-filters-kv.html" TargetMode="External"/><Relationship Id="rId4" Type="http://schemas.openxmlformats.org/officeDocument/2006/relationships/hyperlink" Target="https://www.elastic.co/guide/en/logstash/current/plugins-filters-csv.html" TargetMode="External"/><Relationship Id="rId9" Type="http://schemas.openxmlformats.org/officeDocument/2006/relationships/hyperlink" Target="https://www.elastic.co/guide/en/logstash/current/plugins-filters-json_encode.html" TargetMode="External"/><Relationship Id="rId14" Type="http://schemas.openxmlformats.org/officeDocument/2006/relationships/hyperlink" Target="https://www.elastic.co/guide/en/logstash/current/plugins-filters-split.html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astic.co/guide/en/logstash/current/plugins-outputs-http.html" TargetMode="External"/><Relationship Id="rId3" Type="http://schemas.openxmlformats.org/officeDocument/2006/relationships/hyperlink" Target="https://www.elastic.co/guide/en/logstash/current/plugins-outputs-csv.html" TargetMode="External"/><Relationship Id="rId7" Type="http://schemas.openxmlformats.org/officeDocument/2006/relationships/hyperlink" Target="https://www.elastic.co/guide/en/logstash/current/plugins-outputs-file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lastic.co/guide/en/logstash/current/plugins-outputs-exec.html" TargetMode="External"/><Relationship Id="rId5" Type="http://schemas.openxmlformats.org/officeDocument/2006/relationships/hyperlink" Target="https://www.elastic.co/guide/en/logstash/current/plugins-outputs-elasticsearch.html" TargetMode="External"/><Relationship Id="rId10" Type="http://schemas.openxmlformats.org/officeDocument/2006/relationships/hyperlink" Target="https://www.elastic.co/guide/en/logstash/current/plugins-outputs-syslog.html" TargetMode="External"/><Relationship Id="rId4" Type="http://schemas.openxmlformats.org/officeDocument/2006/relationships/hyperlink" Target="https://www.elastic.co/guide/en/logstash/current/plugins-outputs-email.html" TargetMode="External"/><Relationship Id="rId9" Type="http://schemas.openxmlformats.org/officeDocument/2006/relationships/hyperlink" Target="https://www.elastic.co/guide/en/logstash/current/plugins-outputs-irc.html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4AC1-EDAF-B040-919D-AC9024FEC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693683"/>
            <a:ext cx="7989752" cy="2364827"/>
          </a:xfrm>
        </p:spPr>
        <p:txBody>
          <a:bodyPr anchor="t">
            <a:normAutofit/>
          </a:bodyPr>
          <a:lstStyle/>
          <a:p>
            <a:r>
              <a:rPr lang="fr-FR" sz="4200" dirty="0"/>
              <a:t>SUITE « ELK » :</a:t>
            </a:r>
            <a:br>
              <a:rPr lang="fr-FR" sz="4200" dirty="0"/>
            </a:br>
            <a:r>
              <a:rPr lang="fr-FR" sz="4200" dirty="0"/>
              <a:t>ELASTICSEARCH – LOGSTASH - </a:t>
            </a:r>
            <a:r>
              <a:rPr lang="fr-FR" sz="4200" dirty="0" err="1"/>
              <a:t>kIBANA</a:t>
            </a:r>
            <a:endParaRPr lang="fr-FR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D0359-5011-DA42-95BF-E5E3C6C5B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056" y="2722179"/>
            <a:ext cx="7989752" cy="493986"/>
          </a:xfrm>
        </p:spPr>
        <p:txBody>
          <a:bodyPr/>
          <a:lstStyle/>
          <a:p>
            <a:r>
              <a:rPr lang="fr-FR" dirty="0"/>
              <a:t>MOTEUR DE RECHERCHE – ETL – </a:t>
            </a:r>
            <a:r>
              <a:rPr lang="fr-FR" dirty="0" err="1"/>
              <a:t>DASHbOARD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6E0698-9EC1-AD42-B89E-20307FA5C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896" y="4109983"/>
            <a:ext cx="1143000" cy="12446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080066B-F80F-8446-B692-0C09365DA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75" y="4083800"/>
            <a:ext cx="1022400" cy="12594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714920-E20B-CD4D-94FE-A546A1E13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185" y="4083801"/>
            <a:ext cx="1090800" cy="12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3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6979D-6707-1348-90AD-18F6F1DB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ELASTICSEARCH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0410CE2-242A-7041-85B0-7533C089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3521404"/>
            <a:ext cx="71501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8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5430-745D-6244-BAEB-462066EF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ELASTICSEARCH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E4AB4-C0BE-BD4D-BD65-6A46FAD7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ELASTICSEARCH : moteur de recherche</a:t>
            </a:r>
          </a:p>
          <a:p>
            <a:r>
              <a:rPr lang="fr-FR" dirty="0"/>
              <a:t>Moteur de recherche ?</a:t>
            </a:r>
          </a:p>
          <a:p>
            <a:pPr lvl="1"/>
            <a:r>
              <a:rPr lang="fr-FR" dirty="0"/>
              <a:t>Le but d’un moteur de recherche est de deviner ce que l’utilisateur souhaite voir comme contenu et de trouver ce qui correspond le plus à sa recherche</a:t>
            </a:r>
          </a:p>
          <a:p>
            <a:pPr lvl="1"/>
            <a:r>
              <a:rPr lang="fr-FR" dirty="0"/>
              <a:t>C’est un vocabulaire différent de celui des SGBDR et du NoSQL :</a:t>
            </a:r>
          </a:p>
          <a:p>
            <a:pPr lvl="2"/>
            <a:r>
              <a:rPr lang="fr-FR" dirty="0"/>
              <a:t>Je cherche tous les films ayant comme titre « Batman » VS Je cherche tous les films ayant dans le titre un mot qui </a:t>
            </a:r>
            <a:r>
              <a:rPr lang="fr-FR" b="1" dirty="0"/>
              <a:t>ressemble</a:t>
            </a:r>
            <a:r>
              <a:rPr lang="fr-FR" dirty="0"/>
              <a:t> à Batman</a:t>
            </a:r>
          </a:p>
          <a:p>
            <a:pPr lvl="2"/>
            <a:r>
              <a:rPr lang="fr-FR" dirty="0"/>
              <a:t>Exactitude vs ressemblance</a:t>
            </a:r>
          </a:p>
        </p:txBody>
      </p:sp>
    </p:spTree>
    <p:extLst>
      <p:ext uri="{BB962C8B-B14F-4D97-AF65-F5344CB8AC3E}">
        <p14:creationId xmlns:p14="http://schemas.microsoft.com/office/powerpoint/2010/main" val="296839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2598-2C61-F542-B914-91E3FAF4F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un moteur de recherche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A356-10E8-DF4C-A5AA-35A9D00BC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385448"/>
          </a:xfrm>
        </p:spPr>
        <p:txBody>
          <a:bodyPr anchor="t">
            <a:normAutofit fontScale="92500"/>
          </a:bodyPr>
          <a:lstStyle/>
          <a:p>
            <a:r>
              <a:rPr lang="fr-FR" dirty="0"/>
              <a:t>Comprendre le langage humain :</a:t>
            </a:r>
          </a:p>
          <a:p>
            <a:pPr lvl="1"/>
            <a:r>
              <a:rPr lang="fr-FR" dirty="0"/>
              <a:t>USA  = United States of America</a:t>
            </a:r>
          </a:p>
          <a:p>
            <a:pPr lvl="1"/>
            <a:r>
              <a:rPr lang="fr-FR" dirty="0"/>
              <a:t>Saut, sautant, sautillant, sauter, … sont des mots de la même famille, du même sens</a:t>
            </a:r>
          </a:p>
          <a:p>
            <a:pPr lvl="1"/>
            <a:r>
              <a:rPr lang="fr-FR" dirty="0"/>
              <a:t>Diminuer les erreurs typographiques et phonétiques (ex : « Johnie Halliday »)</a:t>
            </a:r>
          </a:p>
          <a:p>
            <a:r>
              <a:rPr lang="fr-FR" dirty="0"/>
              <a:t>A l’ère du Big Data, un moteur de recherche se doit d’être capable de faire des requêtes sur plusieurs millions de documents en moins de quelques centaines de ms</a:t>
            </a:r>
          </a:p>
          <a:p>
            <a:pPr lvl="1"/>
            <a:r>
              <a:rPr lang="fr-FR" dirty="0"/>
              <a:t>Scalabilité et résilience (=capacité d'un système à continuer de fonctionner en cas de panne, d'incident intentionnelle ou non et/ou de sollicitation extrême) sont des valeurs clés</a:t>
            </a:r>
          </a:p>
          <a:p>
            <a:r>
              <a:rPr lang="fr-FR" dirty="0"/>
              <a:t>Quelle utilité ?</a:t>
            </a:r>
          </a:p>
          <a:p>
            <a:pPr lvl="1"/>
            <a:r>
              <a:rPr lang="fr-FR" dirty="0"/>
              <a:t>Recherche rapide sur les données de l’entreprise (suggestion, recherche de documents)</a:t>
            </a:r>
          </a:p>
          <a:p>
            <a:pPr lvl="1"/>
            <a:r>
              <a:rPr lang="fr-FR" dirty="0"/>
              <a:t>Centralisation, stockage et indexation de logs systèmes.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343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A168B-B310-5740-9479-BABD70E0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moteurs de recherche du marché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44A1F-A268-D64D-9027-0921E0A2FB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fr-FR" dirty="0"/>
              <a:t>Open source</a:t>
            </a:r>
          </a:p>
          <a:p>
            <a:pPr lvl="1"/>
            <a:r>
              <a:rPr lang="fr-FR" dirty="0"/>
              <a:t>Lucene</a:t>
            </a:r>
          </a:p>
          <a:p>
            <a:pPr lvl="2"/>
            <a:r>
              <a:rPr lang="fr-FR" b="1" dirty="0" err="1"/>
              <a:t>Elasticsearch</a:t>
            </a:r>
            <a:r>
              <a:rPr lang="fr-FR" b="1" dirty="0"/>
              <a:t> (</a:t>
            </a:r>
            <a:r>
              <a:rPr lang="fr-FR" b="1" dirty="0" err="1"/>
              <a:t>Elastic</a:t>
            </a:r>
            <a:r>
              <a:rPr lang="fr-FR" b="1" dirty="0"/>
              <a:t>)</a:t>
            </a:r>
          </a:p>
          <a:p>
            <a:pPr lvl="2"/>
            <a:r>
              <a:rPr lang="fr-FR" dirty="0" err="1"/>
              <a:t>Solr</a:t>
            </a:r>
            <a:r>
              <a:rPr lang="fr-FR" dirty="0"/>
              <a:t> (Apache)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8EA5CD-B2F4-074D-821D-E49BC1E654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/>
          <a:lstStyle/>
          <a:p>
            <a:r>
              <a:rPr lang="fr-FR" dirty="0"/>
              <a:t>Propriétaire</a:t>
            </a:r>
          </a:p>
          <a:p>
            <a:pPr lvl="1"/>
            <a:r>
              <a:rPr lang="fr-FR" dirty="0"/>
              <a:t>Exalead</a:t>
            </a:r>
          </a:p>
          <a:p>
            <a:pPr lvl="1"/>
            <a:r>
              <a:rPr lang="fr-FR" dirty="0"/>
              <a:t>Oracle Text</a:t>
            </a:r>
          </a:p>
          <a:p>
            <a:pPr lvl="1"/>
            <a:r>
              <a:rPr lang="fr-FR" dirty="0" err="1"/>
              <a:t>Splunk</a:t>
            </a:r>
            <a:endParaRPr lang="fr-FR" dirty="0"/>
          </a:p>
          <a:p>
            <a:pPr lvl="1"/>
            <a:r>
              <a:rPr lang="fr-FR" b="1" dirty="0" err="1"/>
              <a:t>Elasticsearch</a:t>
            </a:r>
            <a:r>
              <a:rPr lang="fr-FR" b="1" dirty="0"/>
              <a:t> (</a:t>
            </a:r>
            <a:r>
              <a:rPr lang="fr-FR" b="1" dirty="0" err="1"/>
              <a:t>Elastic</a:t>
            </a:r>
            <a:r>
              <a:rPr lang="fr-FR" b="1" dirty="0"/>
              <a:t>)</a:t>
            </a:r>
          </a:p>
          <a:p>
            <a:pPr lvl="1"/>
            <a:r>
              <a:rPr lang="fr-FR" dirty="0"/>
              <a:t>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95614F-9DD7-6A49-8691-1B0AC72C2177}"/>
              </a:ext>
            </a:extLst>
          </p:cNvPr>
          <p:cNvCxnSpPr/>
          <p:nvPr/>
        </p:nvCxnSpPr>
        <p:spPr>
          <a:xfrm>
            <a:off x="4384431" y="2228002"/>
            <a:ext cx="0" cy="421968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082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F0F3-EB09-EE43-8EC4-3FE1A5E4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projet </a:t>
            </a:r>
            <a:r>
              <a:rPr lang="fr-FR" dirty="0" err="1"/>
              <a:t>ELASTICSEArCH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CC8BA4-961D-C146-8AAA-812989855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214838"/>
          </a:xfrm>
        </p:spPr>
        <p:txBody>
          <a:bodyPr anchor="t">
            <a:normAutofit/>
          </a:bodyPr>
          <a:lstStyle/>
          <a:p>
            <a:r>
              <a:rPr lang="fr-FR" dirty="0"/>
              <a:t>Créé en 2010 par Shay Bannon des cendres de Compass (solution de recherche textuelle)</a:t>
            </a:r>
          </a:p>
          <a:p>
            <a:pPr lvl="1"/>
            <a:r>
              <a:rPr lang="fr-FR" dirty="0"/>
              <a:t>Produit open-source au démarrage de la société et jusqu’en v7.10 (Apache 2.0)</a:t>
            </a:r>
          </a:p>
          <a:p>
            <a:r>
              <a:rPr lang="fr-FR" dirty="0"/>
              <a:t>Création d’une entreprise de services commerciaux et produits supplémentaires en 2012 (Siège social à Amsterdam)</a:t>
            </a:r>
          </a:p>
          <a:p>
            <a:pPr lvl="1"/>
            <a:r>
              <a:rPr lang="fr-FR" dirty="0"/>
              <a:t>Rachat et intégration d’outils pour elastic (Logstash, Kibana, Beats, Found, …)</a:t>
            </a:r>
          </a:p>
          <a:p>
            <a:pPr lvl="1"/>
            <a:r>
              <a:rPr lang="fr-FR" dirty="0"/>
              <a:t>Produit dispo en SaaS (cher mais pratique) + version commerciale + version partiellement libre (Server </a:t>
            </a:r>
            <a:r>
              <a:rPr lang="fr-FR" dirty="0" err="1"/>
              <a:t>Side</a:t>
            </a:r>
            <a:r>
              <a:rPr lang="fr-FR" dirty="0"/>
              <a:t> Public License) : </a:t>
            </a:r>
            <a:r>
              <a:rPr lang="fr-FR" dirty="0">
                <a:hlinkClick r:id="rId3"/>
              </a:rPr>
              <a:t>https://www.elastic.co/fr/pricing/faq/licensing</a:t>
            </a:r>
            <a:endParaRPr lang="fr-FR" dirty="0"/>
          </a:p>
          <a:p>
            <a:r>
              <a:rPr lang="fr-FR" dirty="0"/>
              <a:t>Version actuelle : 9.2</a:t>
            </a:r>
          </a:p>
          <a:p>
            <a:r>
              <a:rPr lang="fr-FR" dirty="0"/>
              <a:t>Version utilisée : 8.1</a:t>
            </a:r>
          </a:p>
        </p:txBody>
      </p:sp>
    </p:spTree>
    <p:extLst>
      <p:ext uri="{BB962C8B-B14F-4D97-AF65-F5344CB8AC3E}">
        <p14:creationId xmlns:p14="http://schemas.microsoft.com/office/powerpoint/2010/main" val="407597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8181-0EDA-CA45-B64A-4BB197C4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3A70-5DDB-C544-893D-60119115B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Basé sur le moteur d’indexation Apache Lucene</a:t>
            </a:r>
          </a:p>
          <a:p>
            <a:pPr lvl="1"/>
            <a:r>
              <a:rPr lang="fr-FR" dirty="0"/>
              <a:t>Moteur de recherche distribué </a:t>
            </a:r>
          </a:p>
          <a:p>
            <a:pPr lvl="1"/>
            <a:r>
              <a:rPr lang="fr-FR" dirty="0"/>
              <a:t>Multi-entité (Documents JSON)</a:t>
            </a:r>
          </a:p>
          <a:p>
            <a:pPr lvl="1"/>
            <a:r>
              <a:rPr lang="fr-FR" dirty="0"/>
              <a:t>Accessible via API REST</a:t>
            </a:r>
          </a:p>
          <a:p>
            <a:r>
              <a:rPr lang="fr-FR" dirty="0"/>
              <a:t>Utilisé par toutes les grandes entreprises du web </a:t>
            </a:r>
          </a:p>
          <a:p>
            <a:pPr lvl="1"/>
            <a:r>
              <a:rPr lang="fr-FR" dirty="0"/>
              <a:t>Netflix, Discord, Facebook, Mozilla, GitHub, OVH, …</a:t>
            </a:r>
          </a:p>
        </p:txBody>
      </p:sp>
    </p:spTree>
    <p:extLst>
      <p:ext uri="{BB962C8B-B14F-4D97-AF65-F5344CB8AC3E}">
        <p14:creationId xmlns:p14="http://schemas.microsoft.com/office/powerpoint/2010/main" val="20990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55F4-39C2-2049-9C71-CD1525F1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peu de  vocabulaire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9E86D54E-3E21-D248-AF55-F8756F57AA3C}"/>
              </a:ext>
            </a:extLst>
          </p:cNvPr>
          <p:cNvSpPr txBox="1">
            <a:spLocks/>
          </p:cNvSpPr>
          <p:nvPr/>
        </p:nvSpPr>
        <p:spPr>
          <a:xfrm>
            <a:off x="547332" y="1879600"/>
            <a:ext cx="8596668" cy="497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charset="2"/>
              <a:buChar char="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Faire abstraction de toutes ses connaissances en SQL</a:t>
            </a:r>
          </a:p>
          <a:p>
            <a:endParaRPr lang="fr-FR" dirty="0"/>
          </a:p>
          <a:p>
            <a:pPr>
              <a:buFont typeface="Wingdings 2" charset="2"/>
              <a:buNone/>
            </a:pPr>
            <a:endParaRPr lang="fr-FR" dirty="0"/>
          </a:p>
          <a:p>
            <a:endParaRPr lang="fr-FR" dirty="0"/>
          </a:p>
          <a:p>
            <a:r>
              <a:rPr lang="fr-FR" dirty="0"/>
              <a:t>Index</a:t>
            </a:r>
          </a:p>
          <a:p>
            <a:pPr lvl="1"/>
            <a:r>
              <a:rPr lang="fr-FR" dirty="0"/>
              <a:t>Index (</a:t>
            </a:r>
            <a:r>
              <a:rPr lang="fr-FR" b="1" dirty="0"/>
              <a:t>Nom</a:t>
            </a:r>
            <a:r>
              <a:rPr lang="fr-FR" dirty="0"/>
              <a:t>) </a:t>
            </a:r>
          </a:p>
          <a:p>
            <a:pPr lvl="2"/>
            <a:r>
              <a:rPr lang="fr-FR" dirty="0"/>
              <a:t>Un index est l’équivalent d’une base de données sur les SGBD relationnelles</a:t>
            </a:r>
          </a:p>
          <a:p>
            <a:pPr lvl="1"/>
            <a:r>
              <a:rPr lang="fr-FR" dirty="0"/>
              <a:t>Indexer (</a:t>
            </a:r>
            <a:r>
              <a:rPr lang="fr-FR" b="1" dirty="0"/>
              <a:t>Verbe</a:t>
            </a:r>
            <a:r>
              <a:rPr lang="fr-FR" dirty="0"/>
              <a:t>) </a:t>
            </a:r>
          </a:p>
          <a:p>
            <a:pPr lvl="2"/>
            <a:r>
              <a:rPr lang="fr-FR" i="1" dirty="0"/>
              <a:t>Indexer un document </a:t>
            </a:r>
            <a:r>
              <a:rPr lang="fr-FR" dirty="0"/>
              <a:t>est « le fait de le stocker dans un index (nom) pour y être sauvegardé et requêté ».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6" name="Tableau 4">
            <a:extLst>
              <a:ext uri="{FF2B5EF4-FFF2-40B4-BE49-F238E27FC236}">
                <a16:creationId xmlns:a16="http://schemas.microsoft.com/office/drawing/2014/main" id="{29A55629-1BF2-6647-A9B2-BE8845955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80566"/>
              </p:ext>
            </p:extLst>
          </p:nvPr>
        </p:nvGraphicFramePr>
        <p:xfrm>
          <a:off x="751825" y="2791068"/>
          <a:ext cx="7648486" cy="818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Relational DB ⇒ Databases ⇒ Tables ⇒ Rows ⇒ Columns 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Elasticsearch ⇒ Index ⇒ Documents ⇒ Fields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62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6B3E-A2EA-0545-B780-64C0E20F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REST ET crud sur elasticsearch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8C7B-5910-9E46-B9AE-419232A1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160271"/>
          </a:xfrm>
        </p:spPr>
        <p:txBody>
          <a:bodyPr/>
          <a:lstStyle/>
          <a:p>
            <a:r>
              <a:rPr lang="fr-FR" sz="2000" dirty="0"/>
              <a:t>Fonctionne sur API REST</a:t>
            </a:r>
          </a:p>
          <a:p>
            <a:pPr lvl="1"/>
            <a:r>
              <a:rPr lang="fr-FR" sz="1800" dirty="0"/>
              <a:t>Implémentation du CRUD sur HTTP </a:t>
            </a:r>
          </a:p>
          <a:p>
            <a:pPr lvl="2"/>
            <a:r>
              <a:rPr lang="fr-FR" sz="1600" dirty="0"/>
              <a:t>GET : récupération de document ou exécution de requête sans payload</a:t>
            </a:r>
          </a:p>
          <a:p>
            <a:pPr lvl="2"/>
            <a:r>
              <a:rPr lang="fr-FR" sz="1600" dirty="0"/>
              <a:t>POST :  exécution de requête avec </a:t>
            </a:r>
            <a:r>
              <a:rPr lang="fr-FR" sz="1600" dirty="0" err="1"/>
              <a:t>payload</a:t>
            </a:r>
            <a:r>
              <a:rPr lang="fr-FR" sz="1600" dirty="0"/>
              <a:t> (document)</a:t>
            </a:r>
          </a:p>
          <a:p>
            <a:pPr lvl="2"/>
            <a:r>
              <a:rPr lang="fr-FR" sz="1600" dirty="0"/>
              <a:t>DELETE : suppression de document ou index</a:t>
            </a:r>
          </a:p>
          <a:p>
            <a:pPr lvl="1"/>
            <a:r>
              <a:rPr lang="fr-FR" sz="1800" dirty="0"/>
              <a:t>Chemin d’accès : &lt;HOST&gt;:&lt;PORT&gt;/&lt;PATH&gt;?&lt;QUERY_STRING&gt;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824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0">
            <a:extLst>
              <a:ext uri="{FF2B5EF4-FFF2-40B4-BE49-F238E27FC236}">
                <a16:creationId xmlns:a16="http://schemas.microsoft.com/office/drawing/2014/main" id="{66D08039-6C4E-4870-9E3D-6218263DE95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9FB31D2E-CBC8-4C4A-917F-DCB48EAEB0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CCF4F09-0D96-42BE-AE16-84AB4E0B567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21AF87EE-372A-438E-B086-63D494ECA27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33" name="Rectangle 18">
            <a:extLst>
              <a:ext uri="{FF2B5EF4-FFF2-40B4-BE49-F238E27FC236}">
                <a16:creationId xmlns:a16="http://schemas.microsoft.com/office/drawing/2014/main" id="{5A990F04-D677-4DB7-9922-D31D61E3E32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4" name="Rectangle 20">
            <a:extLst>
              <a:ext uri="{FF2B5EF4-FFF2-40B4-BE49-F238E27FC236}">
                <a16:creationId xmlns:a16="http://schemas.microsoft.com/office/drawing/2014/main" id="{E45C779D-4C6F-4D65-ACDE-D700D5677F5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9C51B322-BAD9-40C0-BB3B-567DE59B23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2059" y="723899"/>
            <a:ext cx="3757041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B79A49-1452-A34B-93FF-4C2FC2B02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133" b="2"/>
          <a:stretch/>
        </p:blipFill>
        <p:spPr>
          <a:xfrm>
            <a:off x="334899" y="723899"/>
            <a:ext cx="4652131" cy="566666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F0C6271-47D7-4964-A505-71C87C0CA24C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E67D4F-6BA5-4F2E-B41B-B8553908BDB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2C8C5E-4349-46A8-9896-F2124F6874B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C0191E3-F755-4E2E-8AF9-3F7F5D9A264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1E8519-2277-D840-8B60-AA324C5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450" y="1419225"/>
            <a:ext cx="3086938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Exemple de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4C740-03B4-1F43-A391-1EFCC4397199}"/>
              </a:ext>
            </a:extLst>
          </p:cNvPr>
          <p:cNvSpPr txBox="1"/>
          <p:nvPr/>
        </p:nvSpPr>
        <p:spPr>
          <a:xfrm>
            <a:off x="5446450" y="3748087"/>
            <a:ext cx="330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GET INDEX/ID</a:t>
            </a:r>
          </a:p>
        </p:txBody>
      </p:sp>
    </p:spTree>
    <p:extLst>
      <p:ext uri="{BB962C8B-B14F-4D97-AF65-F5344CB8AC3E}">
        <p14:creationId xmlns:p14="http://schemas.microsoft.com/office/powerpoint/2010/main" val="171657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8001" y="986204"/>
            <a:ext cx="6447501" cy="689372"/>
          </a:xfrm>
        </p:spPr>
        <p:txBody>
          <a:bodyPr/>
          <a:lstStyle/>
          <a:p>
            <a:r>
              <a:rPr lang="fr-FR" dirty="0"/>
              <a:t>De l’indexation …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8001" y="2003823"/>
            <a:ext cx="8178799" cy="4561100"/>
          </a:xfrm>
        </p:spPr>
        <p:txBody>
          <a:bodyPr>
            <a:normAutofit/>
          </a:bodyPr>
          <a:lstStyle/>
          <a:p>
            <a:pPr algn="just"/>
            <a:r>
              <a:rPr lang="fr-FR" dirty="0"/>
              <a:t>Rappel sur l’indexation</a:t>
            </a:r>
          </a:p>
          <a:p>
            <a:pPr lvl="1" algn="just"/>
            <a:r>
              <a:rPr lang="fr-FR" dirty="0"/>
              <a:t>Un index est une sorte d’annuaire où une clé décrit un ensemble de documents qui ont un lien plus ou moins fort envers cette clé</a:t>
            </a:r>
          </a:p>
          <a:p>
            <a:pPr lvl="1" algn="just"/>
            <a:r>
              <a:rPr lang="fr-FR" dirty="0"/>
              <a:t>Les premiers index étaient une simple liste des occurrences de mots dans un texte liées à leur localisation exacte.</a:t>
            </a:r>
          </a:p>
          <a:p>
            <a:pPr lvl="1" algn="just"/>
            <a:r>
              <a:rPr lang="fr-FR" dirty="0"/>
              <a:t>Aujourd’hui, on construit les index de façon à ce qu’ils représentent mieux le contenu</a:t>
            </a:r>
          </a:p>
          <a:p>
            <a:pPr algn="just"/>
            <a:r>
              <a:rPr lang="fr-FR" dirty="0"/>
              <a:t>Elasticsearch indexe chaque document selon un mapping (une sorte de descripteur du type de chaque champ et de leurs propriétés). </a:t>
            </a:r>
          </a:p>
          <a:p>
            <a:pPr lvl="1" algn="just"/>
            <a:r>
              <a:rPr lang="fr-FR" dirty="0"/>
              <a:t>Il ajoute à chaque champ des métadonnées : un ID auto-généré unique dans tout </a:t>
            </a:r>
            <a:r>
              <a:rPr lang="fr-FR"/>
              <a:t>le cluster et </a:t>
            </a:r>
            <a:r>
              <a:rPr lang="fr-FR" dirty="0"/>
              <a:t>un champ version</a:t>
            </a:r>
          </a:p>
        </p:txBody>
      </p:sp>
    </p:spTree>
    <p:extLst>
      <p:ext uri="{BB962C8B-B14F-4D97-AF65-F5344CB8AC3E}">
        <p14:creationId xmlns:p14="http://schemas.microsoft.com/office/powerpoint/2010/main" val="366051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8001" y="986204"/>
            <a:ext cx="6447501" cy="689372"/>
          </a:xfrm>
        </p:spPr>
        <p:txBody>
          <a:bodyPr/>
          <a:lstStyle/>
          <a:p>
            <a:r>
              <a:rPr lang="fr-FR" dirty="0"/>
              <a:t>De l’indexation …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8001" y="2003823"/>
            <a:ext cx="8178799" cy="4338362"/>
          </a:xfrm>
        </p:spPr>
        <p:txBody>
          <a:bodyPr>
            <a:normAutofit/>
          </a:bodyPr>
          <a:lstStyle/>
          <a:p>
            <a:r>
              <a:rPr lang="fr-FR" dirty="0"/>
              <a:t>Elasticsearch reçoit en PUT INDEX un nouveau document.</a:t>
            </a:r>
          </a:p>
          <a:p>
            <a:r>
              <a:rPr lang="fr-FR" dirty="0"/>
              <a:t>Lucene va ensuite commencer par indexer ce document qui arrive dans l’index</a:t>
            </a:r>
          </a:p>
          <a:p>
            <a:pPr lvl="1"/>
            <a:r>
              <a:rPr lang="fr-FR" dirty="0"/>
              <a:t>Il va commencer par compter le nombre d’occurrences des mots et les classer par le nombre d’apparitions</a:t>
            </a:r>
          </a:p>
          <a:p>
            <a:pPr lvl="1"/>
            <a:r>
              <a:rPr lang="fr-FR" dirty="0"/>
              <a:t>Il va ensuite supprimer les « stop-words ». Ce sont les mots les plus fréquents dans une langue mais qui apportent peu de sens à la donnée (ex : « un », « de », « les », « of »,  « the », … . </a:t>
            </a:r>
          </a:p>
          <a:p>
            <a:pPr lvl="1"/>
            <a:r>
              <a:rPr lang="fr-FR" dirty="0"/>
              <a:t>Il va ensuite réduire les mots à leur racine en enlevant tout ce qui est conjugaison, genre, déclinaison, … Cela permet de cumuler les fréquences sur les mots ayant la même racine et donc le même sens.</a:t>
            </a:r>
          </a:p>
          <a:p>
            <a:pPr lvl="1"/>
            <a:r>
              <a:rPr lang="fr-FR" dirty="0"/>
              <a:t>Les deux dernières étapes sont faites par un </a:t>
            </a:r>
            <a:r>
              <a:rPr lang="fr-FR" i="1" dirty="0"/>
              <a:t>analyzer</a:t>
            </a:r>
            <a:r>
              <a:rPr lang="fr-FR" dirty="0"/>
              <a:t> que l’on peut définir</a:t>
            </a:r>
          </a:p>
          <a:p>
            <a:pPr lvl="1"/>
            <a:r>
              <a:rPr lang="fr-FR" dirty="0"/>
              <a:t>Ce travail d’indexation permet de créer ce que l’on appelle un index inversé (</a:t>
            </a:r>
            <a:r>
              <a:rPr lang="fr-FR" i="1" dirty="0"/>
              <a:t>Inverted Index</a:t>
            </a:r>
            <a:r>
              <a:rPr lang="fr-FR" dirty="0"/>
              <a:t>). (cf. slide suivant)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830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 inversé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2089547"/>
            <a:ext cx="8213968" cy="4405037"/>
          </a:xfrm>
        </p:spPr>
        <p:txBody>
          <a:bodyPr anchor="t">
            <a:normAutofit/>
          </a:bodyPr>
          <a:lstStyle/>
          <a:p>
            <a:r>
              <a:rPr lang="fr-FR" dirty="0"/>
              <a:t>Un index inversé est la correspondance entre du contenu et sa position dans un ensemble de documents</a:t>
            </a:r>
          </a:p>
          <a:p>
            <a:r>
              <a:rPr lang="fr-FR" dirty="0"/>
              <a:t>Exemple: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dirty="0"/>
              <a:t>Un index inversé sur les mots ou groupes de mots donnerait (le critère d'indexation est la présence du mot dans la phrase) : </a:t>
            </a:r>
          </a:p>
          <a:p>
            <a:pPr lvl="1">
              <a:buNone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753913" y="3124886"/>
            <a:ext cx="5722144" cy="857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/>
              <a:t>"D1" = "c'est ce que c'est" </a:t>
            </a:r>
          </a:p>
          <a:p>
            <a:pPr algn="ctr"/>
            <a:r>
              <a:rPr lang="fr-FR" sz="1350" dirty="0"/>
              <a:t>"D2" = "c'est ceci "</a:t>
            </a:r>
          </a:p>
          <a:p>
            <a:pPr algn="ctr"/>
            <a:r>
              <a:rPr lang="fr-FR" sz="1350" dirty="0"/>
              <a:t> "D3" = "ceci est une banane"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1234" y="4664723"/>
            <a:ext cx="6447501" cy="1091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dirty="0"/>
              <a:t>"c'" {D1, D2}           "est" {D1, D2, D3}</a:t>
            </a:r>
          </a:p>
          <a:p>
            <a:pPr algn="ctr"/>
            <a:r>
              <a:rPr lang="fr-FR" sz="1500" dirty="0"/>
              <a:t> "ce" {D1}          "que" {D1} </a:t>
            </a:r>
          </a:p>
          <a:p>
            <a:pPr algn="ctr"/>
            <a:r>
              <a:rPr lang="fr-FR" sz="1500" dirty="0"/>
              <a:t>"ceci" {D2, D3}       "une" {D3} </a:t>
            </a:r>
          </a:p>
          <a:p>
            <a:pPr algn="ctr"/>
            <a:r>
              <a:rPr lang="fr-FR" sz="1500" dirty="0"/>
              <a:t>"banane" {D3}     </a:t>
            </a:r>
          </a:p>
        </p:txBody>
      </p:sp>
    </p:spTree>
    <p:extLst>
      <p:ext uri="{BB962C8B-B14F-4D97-AF65-F5344CB8AC3E}">
        <p14:creationId xmlns:p14="http://schemas.microsoft.com/office/powerpoint/2010/main" val="23996832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… à la recherche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1982392"/>
            <a:ext cx="8202245" cy="4172223"/>
          </a:xfrm>
        </p:spPr>
        <p:txBody>
          <a:bodyPr>
            <a:normAutofit/>
          </a:bodyPr>
          <a:lstStyle/>
          <a:p>
            <a:r>
              <a:rPr lang="fr-FR" dirty="0"/>
              <a:t> Etapes d’une recherche </a:t>
            </a:r>
            <a:r>
              <a:rPr lang="fr-FR" dirty="0" err="1"/>
              <a:t>Lucene</a:t>
            </a:r>
            <a:r>
              <a:rPr lang="fr-FR" dirty="0"/>
              <a:t> :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FR" dirty="0"/>
              <a:t>Récupération du type de recherche et du mot-clé recherché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FR" dirty="0"/>
              <a:t>Calcul pour chaque document indexé d’une pondération (score) qui correspond à la vraisemblance de son contenu vis-à-vis de la recherche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FR" dirty="0"/>
              <a:t>Application des opérateurs de recherche</a:t>
            </a:r>
          </a:p>
          <a:p>
            <a:pPr marL="666900" lvl="1" indent="-342900">
              <a:buFont typeface="+mj-lt"/>
              <a:buAutoNum type="arabicPeriod"/>
            </a:pPr>
            <a:r>
              <a:rPr lang="fr-FR" dirty="0"/>
              <a:t>Résultats triés par score</a:t>
            </a:r>
          </a:p>
          <a:p>
            <a:r>
              <a:rPr lang="fr-FR" dirty="0"/>
              <a:t>On peut configurer la façon dont le score est calculé</a:t>
            </a:r>
          </a:p>
          <a:p>
            <a:r>
              <a:rPr lang="fr-FR" dirty="0"/>
              <a:t>Le résultat de la recherche dépend du type de champs sur lequel on effectue celle-ci (cf. slide suivant).</a:t>
            </a:r>
          </a:p>
        </p:txBody>
      </p:sp>
    </p:spTree>
    <p:extLst>
      <p:ext uri="{BB962C8B-B14F-4D97-AF65-F5344CB8AC3E}">
        <p14:creationId xmlns:p14="http://schemas.microsoft.com/office/powerpoint/2010/main" val="535862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Exact values vs Full-Text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1928813"/>
            <a:ext cx="8167076" cy="4378202"/>
          </a:xfrm>
        </p:spPr>
        <p:txBody>
          <a:bodyPr>
            <a:normAutofit/>
          </a:bodyPr>
          <a:lstStyle/>
          <a:p>
            <a:r>
              <a:rPr lang="fr-FR" dirty="0"/>
              <a:t>Les données contenues dans Elasticsearch peuvent être de 2 types différents :</a:t>
            </a:r>
          </a:p>
          <a:p>
            <a:pPr lvl="1"/>
            <a:r>
              <a:rPr lang="fr-FR" dirty="0"/>
              <a:t>Donnée exacte (ex : un id, un username, une adresse mail).  Ainsi, « Avion » et « avion » sont deux valeurs différentes.</a:t>
            </a:r>
          </a:p>
          <a:p>
            <a:pPr lvl="1"/>
            <a:r>
              <a:rPr lang="fr-FR" dirty="0"/>
              <a:t>Donnée textuelle : c’est souvent du texte écrit par un humain. </a:t>
            </a:r>
          </a:p>
          <a:p>
            <a:r>
              <a:rPr lang="fr-FR" dirty="0"/>
              <a:t>La recherche sur une donnée exacte est facile pour un ordinateur, c’est une simple vérification d’exactitude.  </a:t>
            </a:r>
          </a:p>
          <a:p>
            <a:r>
              <a:rPr lang="fr-FR" dirty="0"/>
              <a:t>A l’inverse, faire une recherche sur du texte est bien plus complexe :</a:t>
            </a:r>
          </a:p>
          <a:p>
            <a:pPr lvl="1"/>
            <a:r>
              <a:rPr lang="fr-FR" dirty="0"/>
              <a:t>« Cerise est sympa mais je préfère Prune » est une phrase ambigüe pour un ordinateur qui ne sait pas si on se réfère à des personnes ou à un fruit.</a:t>
            </a:r>
          </a:p>
          <a:p>
            <a:pPr lvl="1"/>
            <a:r>
              <a:rPr lang="fr-FR" dirty="0"/>
              <a:t> La recherche n’est plus « Est-ce que le document correspond à la recherche ? » mais « Est-ce que le document est semblable à la recherche ? »</a:t>
            </a:r>
          </a:p>
        </p:txBody>
      </p:sp>
    </p:spTree>
    <p:extLst>
      <p:ext uri="{BB962C8B-B14F-4D97-AF65-F5344CB8AC3E}">
        <p14:creationId xmlns:p14="http://schemas.microsoft.com/office/powerpoint/2010/main" val="1198515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1" y="1115159"/>
            <a:ext cx="6447501" cy="603647"/>
          </a:xfrm>
        </p:spPr>
        <p:txBody>
          <a:bodyPr/>
          <a:lstStyle/>
          <a:p>
            <a:r>
              <a:rPr lang="fr-FR" dirty="0"/>
              <a:t>Mapping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1988435"/>
            <a:ext cx="8213968" cy="4635103"/>
          </a:xfrm>
        </p:spPr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mapping</a:t>
            </a:r>
            <a:r>
              <a:rPr lang="fr-FR" dirty="0"/>
              <a:t> (document JSON) définit la structure des champs d’un index</a:t>
            </a:r>
          </a:p>
          <a:p>
            <a:pPr lvl="1"/>
            <a:r>
              <a:rPr lang="fr-FR" dirty="0"/>
              <a:t>Le type des champs (string, integer, geo_ip, ip, date, …)</a:t>
            </a:r>
          </a:p>
          <a:p>
            <a:pPr lvl="1"/>
            <a:r>
              <a:rPr lang="fr-FR" dirty="0"/>
              <a:t>Les propriétés des champs</a:t>
            </a:r>
          </a:p>
          <a:p>
            <a:pPr lvl="1"/>
            <a:r>
              <a:rPr lang="fr-FR" dirty="0"/>
              <a:t>Les propriétés de l’index</a:t>
            </a:r>
          </a:p>
          <a:p>
            <a:r>
              <a:rPr lang="fr-FR" dirty="0"/>
              <a:t>Lorsque qu’une donnée sera indexée, elle sera traitée selon le type défini dans le mapping.</a:t>
            </a:r>
          </a:p>
          <a:p>
            <a:pPr lvl="1"/>
            <a:r>
              <a:rPr lang="fr-FR" dirty="0"/>
              <a:t>Lorsque qu’un champ ne correspond à aucune configuration du Mapping, ES va appliquer le type qui semble correspondre le plus à la donnée.</a:t>
            </a:r>
          </a:p>
          <a:p>
            <a:r>
              <a:rPr lang="fr-FR" dirty="0"/>
              <a:t>Une fois les données indexées avec un certain Mapping, il est impossible de changer le type des champs existants (on peut cependant en ajouter)</a:t>
            </a:r>
          </a:p>
          <a:p>
            <a:pPr lvl="1"/>
            <a:r>
              <a:rPr lang="fr-FR" dirty="0"/>
              <a:t>On peut néanmoins utiliser une API de </a:t>
            </a:r>
            <a:r>
              <a:rPr lang="fr-FR" dirty="0" err="1"/>
              <a:t>réindexation</a:t>
            </a:r>
            <a:r>
              <a:rPr lang="fr-FR" dirty="0"/>
              <a:t> pour changer les types mais elle nécessite de définir le mapping JSON et l’index cible.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775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D08039-6C4E-4870-9E3D-6218263DE95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31D2E-CBC8-4C4A-917F-DCB48EAEB0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F4F09-0D96-42BE-AE16-84AB4E0B567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F87EE-372A-438E-B086-63D494ECA27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B38E65-3AFD-404A-BEFC-3006BCB7A7D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98562-3047-4BC2-BFF9-F39420474D2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9E0D66-E86B-461B-B58E-7FB356BB03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2C7D57-D78E-413F-958A-00ABC85043A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596FEE5-A0CD-4B5D-B4C1-7858019084E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8A81341-6C47-4992-BD01-6BCF3A34994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1E8519-2277-D840-8B60-AA324C5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206" y="1419225"/>
            <a:ext cx="2311182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600" dirty="0">
                <a:solidFill>
                  <a:srgbClr val="FFFFFF"/>
                </a:solidFill>
              </a:rPr>
              <a:t>Exemple</a:t>
            </a:r>
            <a:r>
              <a:rPr lang="en-US" sz="3600" dirty="0">
                <a:solidFill>
                  <a:srgbClr val="FFFFFF"/>
                </a:solidFill>
              </a:rPr>
              <a:t> de mapping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85D0ED5-A56C-734D-B0B5-1419AD7A8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9519" y="723899"/>
            <a:ext cx="2891593" cy="5666666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6F8A09-A214-1347-9920-611CA6CE745A}"/>
              </a:ext>
            </a:extLst>
          </p:cNvPr>
          <p:cNvSpPr txBox="1"/>
          <p:nvPr/>
        </p:nvSpPr>
        <p:spPr>
          <a:xfrm>
            <a:off x="6222206" y="3806456"/>
            <a:ext cx="231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GET INDEX/_mapping</a:t>
            </a:r>
          </a:p>
        </p:txBody>
      </p:sp>
    </p:spTree>
    <p:extLst>
      <p:ext uri="{BB962C8B-B14F-4D97-AF65-F5344CB8AC3E}">
        <p14:creationId xmlns:p14="http://schemas.microsoft.com/office/powerpoint/2010/main" val="3992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B39C-DA1E-9241-88AE-A876A0B6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CBC7C-9C57-1442-9982-BBCE0FD0A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364183"/>
          </a:xfrm>
        </p:spPr>
        <p:txBody>
          <a:bodyPr/>
          <a:lstStyle/>
          <a:p>
            <a:r>
              <a:rPr lang="fr-FR" sz="2400" dirty="0"/>
              <a:t>3 systèmes de requête : </a:t>
            </a:r>
          </a:p>
          <a:p>
            <a:pPr lvl="1"/>
            <a:r>
              <a:rPr lang="fr-FR" sz="2000" dirty="0"/>
              <a:t>Requête </a:t>
            </a:r>
            <a:r>
              <a:rPr lang="fr-FR" sz="2000" dirty="0" err="1"/>
              <a:t>lucene</a:t>
            </a:r>
            <a:r>
              <a:rPr lang="fr-FR" sz="2000" dirty="0"/>
              <a:t> (requêtes simples)</a:t>
            </a:r>
          </a:p>
          <a:p>
            <a:pPr lvl="1"/>
            <a:r>
              <a:rPr lang="fr-FR" sz="2000" dirty="0" err="1"/>
              <a:t>Query</a:t>
            </a:r>
            <a:r>
              <a:rPr lang="fr-FR" sz="2000" dirty="0"/>
              <a:t> DSL (langage natif, le plus puissant)</a:t>
            </a:r>
          </a:p>
          <a:p>
            <a:pPr lvl="1"/>
            <a:r>
              <a:rPr lang="fr-FR" sz="2000" dirty="0"/>
              <a:t>SQL (requêtes simples)</a:t>
            </a:r>
          </a:p>
          <a:p>
            <a:pPr lvl="1"/>
            <a:r>
              <a:rPr lang="fr-FR" sz="2000" dirty="0"/>
              <a:t>ES|QL - </a:t>
            </a:r>
            <a:r>
              <a:rPr lang="fr-FR" sz="2000" dirty="0" err="1"/>
              <a:t>Elasticsearch</a:t>
            </a:r>
            <a:r>
              <a:rPr lang="fr-FR" sz="2000" dirty="0"/>
              <a:t> </a:t>
            </a:r>
            <a:r>
              <a:rPr lang="fr-FR" sz="2000" dirty="0" err="1"/>
              <a:t>Query</a:t>
            </a:r>
            <a:r>
              <a:rPr lang="fr-FR" sz="2000" dirty="0"/>
              <a:t> </a:t>
            </a:r>
            <a:r>
              <a:rPr lang="fr-FR" sz="2000" dirty="0" err="1"/>
              <a:t>Language</a:t>
            </a:r>
            <a:r>
              <a:rPr lang="fr-FR" sz="2000" dirty="0"/>
              <a:t> (v 9.0)</a:t>
            </a:r>
          </a:p>
          <a:p>
            <a:pPr lvl="2"/>
            <a:r>
              <a:rPr lang="fr-FR" sz="1800" dirty="0"/>
              <a:t>Permet la jointure entre index</a:t>
            </a:r>
          </a:p>
          <a:p>
            <a:pPr lvl="2"/>
            <a:r>
              <a:rPr lang="fr-FR" sz="1800" dirty="0"/>
              <a:t>MAIS </a:t>
            </a:r>
            <a:r>
              <a:rPr lang="fr-FR" sz="1800" dirty="0" err="1"/>
              <a:t>Query</a:t>
            </a:r>
            <a:r>
              <a:rPr lang="fr-FR" sz="1800" dirty="0"/>
              <a:t> DSL reste le langage de requête natif, le plus complet et le plus puissant pour </a:t>
            </a:r>
            <a:r>
              <a:rPr lang="fr-FR" sz="1800" dirty="0" err="1"/>
              <a:t>Elasticsearch</a:t>
            </a:r>
            <a:r>
              <a:rPr lang="fr-FR" sz="1800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DC7239-5D0F-D7C1-6D60-F2C483C5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Query DSL reste le langage de requête natif, le plus complet et le plus puissant pour Elasticsearch.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042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1" y="1023591"/>
            <a:ext cx="6447501" cy="517922"/>
          </a:xfrm>
        </p:spPr>
        <p:txBody>
          <a:bodyPr>
            <a:normAutofit fontScale="90000"/>
          </a:bodyPr>
          <a:lstStyle/>
          <a:p>
            <a:r>
              <a:rPr lang="fr-FR" dirty="0"/>
              <a:t>Recherche Lucene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D62AE-25E5-944B-95FC-125B0A8E1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89" y="1878904"/>
            <a:ext cx="8192022" cy="4979096"/>
          </a:xfrm>
        </p:spPr>
        <p:txBody>
          <a:bodyPr>
            <a:normAutofit/>
          </a:bodyPr>
          <a:lstStyle/>
          <a:p>
            <a:r>
              <a:rPr lang="fr-FR" sz="2000" dirty="0"/>
              <a:t>Système de </a:t>
            </a:r>
            <a:r>
              <a:rPr lang="fr-FR" sz="2000" dirty="0" err="1"/>
              <a:t>requêtage</a:t>
            </a:r>
            <a:r>
              <a:rPr lang="fr-FR" sz="2000" dirty="0"/>
              <a:t> simple REST, appliquant un filtre sur les données (GET INDEX/_search?q=&lt;Requete </a:t>
            </a:r>
            <a:r>
              <a:rPr lang="fr-FR" sz="2000" dirty="0" err="1"/>
              <a:t>lucene</a:t>
            </a:r>
            <a:r>
              <a:rPr lang="fr-FR" sz="2000" dirty="0"/>
              <a:t>&gt;</a:t>
            </a:r>
            <a:endParaRPr lang="fr-FR" sz="1400" dirty="0"/>
          </a:p>
          <a:p>
            <a:pPr lvl="1"/>
            <a:r>
              <a:rPr lang="fr-FR" sz="1800" dirty="0"/>
              <a:t>Recherche textuelle</a:t>
            </a:r>
          </a:p>
          <a:p>
            <a:pPr lvl="2"/>
            <a:r>
              <a:rPr lang="fr-FR" sz="1800" dirty="0"/>
              <a:t>paris </a:t>
            </a:r>
            <a:r>
              <a:rPr lang="fr-FR" sz="1800" dirty="0" err="1"/>
              <a:t>hilton</a:t>
            </a:r>
            <a:endParaRPr lang="fr-FR" sz="1800" dirty="0"/>
          </a:p>
          <a:p>
            <a:pPr lvl="3"/>
            <a:r>
              <a:rPr lang="fr-FR" sz="1600" dirty="0"/>
              <a:t>Recherche de chaque mot dans tous les champs</a:t>
            </a:r>
          </a:p>
          <a:p>
            <a:pPr lvl="2"/>
            <a:r>
              <a:rPr lang="fr-FR" sz="1800" dirty="0"/>
              <a:t> "paris </a:t>
            </a:r>
            <a:r>
              <a:rPr lang="fr-FR" sz="1800" dirty="0" err="1"/>
              <a:t>hilton</a:t>
            </a:r>
            <a:r>
              <a:rPr lang="fr-FR" sz="1800" dirty="0"/>
              <a:t>"</a:t>
            </a:r>
          </a:p>
          <a:p>
            <a:pPr lvl="3"/>
            <a:r>
              <a:rPr lang="fr-FR" sz="1600" dirty="0"/>
              <a:t>Recherche de la phrase exacte dans tous les champs</a:t>
            </a:r>
          </a:p>
          <a:p>
            <a:pPr lvl="1"/>
            <a:r>
              <a:rPr lang="fr-FR" sz="1800" dirty="0"/>
              <a:t>Recherche sur un champ particulier</a:t>
            </a:r>
          </a:p>
          <a:p>
            <a:pPr lvl="2"/>
            <a:r>
              <a:rPr lang="fr-FR" sz="1800" dirty="0" err="1"/>
              <a:t>name</a:t>
            </a:r>
            <a:r>
              <a:rPr lang="fr-FR" sz="1800" dirty="0"/>
              <a:t>:"</a:t>
            </a:r>
            <a:r>
              <a:rPr lang="fr-FR" sz="1800" dirty="0" err="1"/>
              <a:t>hilton</a:t>
            </a:r>
            <a:r>
              <a:rPr lang="fr-FR" sz="1800" dirty="0"/>
              <a:t>"  </a:t>
            </a:r>
          </a:p>
          <a:p>
            <a:pPr lvl="3"/>
            <a:r>
              <a:rPr lang="fr-FR" sz="1600" dirty="0"/>
              <a:t>Recherche tous les enregistrements ayant le mot </a:t>
            </a:r>
            <a:r>
              <a:rPr lang="fr-FR" sz="1600" i="1" dirty="0" err="1"/>
              <a:t>hilton</a:t>
            </a:r>
            <a:r>
              <a:rPr lang="fr-FR" sz="1600" dirty="0"/>
              <a:t> dans le champ </a:t>
            </a:r>
            <a:r>
              <a:rPr lang="fr-FR" sz="1600" i="1" dirty="0" err="1"/>
              <a:t>name</a:t>
            </a:r>
            <a:endParaRPr lang="fr-FR" sz="1600" i="1" dirty="0"/>
          </a:p>
          <a:p>
            <a:endParaRPr lang="fr-FR" sz="700" dirty="0"/>
          </a:p>
        </p:txBody>
      </p:sp>
    </p:spTree>
    <p:extLst>
      <p:ext uri="{BB962C8B-B14F-4D97-AF65-F5344CB8AC3E}">
        <p14:creationId xmlns:p14="http://schemas.microsoft.com/office/powerpoint/2010/main" val="4056316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1" y="1023591"/>
            <a:ext cx="6447501" cy="517922"/>
          </a:xfrm>
        </p:spPr>
        <p:txBody>
          <a:bodyPr>
            <a:normAutofit fontScale="90000"/>
          </a:bodyPr>
          <a:lstStyle/>
          <a:p>
            <a:r>
              <a:rPr lang="fr-FR" dirty="0"/>
              <a:t>Recherche </a:t>
            </a:r>
            <a:r>
              <a:rPr lang="fr-FR" dirty="0" err="1"/>
              <a:t>Lucene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D62AE-25E5-944B-95FC-125B0A8E1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89" y="1878904"/>
            <a:ext cx="8192022" cy="4979096"/>
          </a:xfrm>
        </p:spPr>
        <p:txBody>
          <a:bodyPr>
            <a:normAutofit/>
          </a:bodyPr>
          <a:lstStyle/>
          <a:p>
            <a:pPr lvl="1"/>
            <a:r>
              <a:rPr lang="fr-FR" sz="1800" dirty="0"/>
              <a:t>Recherche générique</a:t>
            </a:r>
          </a:p>
          <a:p>
            <a:pPr lvl="2"/>
            <a:r>
              <a:rPr lang="fr-FR" sz="1800" dirty="0"/>
              <a:t>« ? » est un joker pour un caractère</a:t>
            </a:r>
          </a:p>
          <a:p>
            <a:pPr lvl="2"/>
            <a:r>
              <a:rPr lang="fr-FR" sz="1800" dirty="0"/>
              <a:t>« * » est un joker pour plusieurs caractères </a:t>
            </a:r>
          </a:p>
          <a:p>
            <a:pPr lvl="1"/>
            <a:r>
              <a:rPr lang="fr-FR" sz="1800" dirty="0"/>
              <a:t>Recherche entre deux bornes numériques</a:t>
            </a:r>
          </a:p>
          <a:p>
            <a:pPr lvl="2"/>
            <a:r>
              <a:rPr lang="fr-FR" sz="1800" dirty="0"/>
              <a:t>PerfData:[400 TO 10000]</a:t>
            </a:r>
          </a:p>
          <a:p>
            <a:pPr lvl="3"/>
            <a:r>
              <a:rPr lang="fr-FR" sz="1600" dirty="0"/>
              <a:t>Recherche avec le champ PerfData compris entre 400 et 10000</a:t>
            </a:r>
          </a:p>
          <a:p>
            <a:pPr lvl="1"/>
            <a:r>
              <a:rPr lang="fr-FR" sz="1800" dirty="0"/>
              <a:t>Opérateurs logiques</a:t>
            </a:r>
          </a:p>
          <a:p>
            <a:pPr lvl="2"/>
            <a:r>
              <a:rPr lang="fr-FR" sz="1800" dirty="0"/>
              <a:t>AND / OR / NOT / + / -</a:t>
            </a:r>
          </a:p>
          <a:p>
            <a:pPr lvl="3"/>
            <a:r>
              <a:rPr lang="fr-FR" sz="1600" dirty="0"/>
              <a:t>Le NOT ne peut pas être utilisé seul, il faut utiliser le « - »</a:t>
            </a:r>
          </a:p>
          <a:p>
            <a:pPr lvl="3"/>
            <a:r>
              <a:rPr lang="fr-FR" sz="1600" dirty="0"/>
              <a:t>Le + signifie que le terme doit être présent obligatoirement dans le document </a:t>
            </a:r>
          </a:p>
          <a:p>
            <a:endParaRPr lang="fr-FR" sz="700" dirty="0"/>
          </a:p>
        </p:txBody>
      </p:sp>
    </p:spTree>
    <p:extLst>
      <p:ext uri="{BB962C8B-B14F-4D97-AF65-F5344CB8AC3E}">
        <p14:creationId xmlns:p14="http://schemas.microsoft.com/office/powerpoint/2010/main" val="1833269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935665"/>
            <a:ext cx="7989752" cy="611854"/>
          </a:xfrm>
        </p:spPr>
        <p:txBody>
          <a:bodyPr>
            <a:normAutofit/>
          </a:bodyPr>
          <a:lstStyle/>
          <a:p>
            <a:r>
              <a:rPr lang="fr-FR" sz="2500" dirty="0"/>
              <a:t>Recherche Lucene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 de requête lucene :</a:t>
            </a:r>
          </a:p>
          <a:p>
            <a:pPr lvl="1"/>
            <a:r>
              <a:rPr lang="fr-FR" dirty="0"/>
              <a:t>status:[400 TO 499] AND (extension:php OR extension:html)</a:t>
            </a:r>
          </a:p>
          <a:p>
            <a:pPr lvl="2"/>
            <a:r>
              <a:rPr lang="fr-FR" dirty="0"/>
              <a:t>Recherche de toutes les lignes de logs Apache en erreur (400 à 499) avec le champ extension qui est PHP ou HTML</a:t>
            </a:r>
          </a:p>
          <a:p>
            <a:pPr lvl="1"/>
            <a:r>
              <a:rPr lang="fr-FR" dirty="0"/>
              <a:t>"changing folder" AND ResponseTime:[10000 TO 100000000]</a:t>
            </a:r>
          </a:p>
          <a:p>
            <a:pPr lvl="2"/>
            <a:r>
              <a:rPr lang="fr-FR" dirty="0"/>
              <a:t>Recherche de la chaîne “</a:t>
            </a:r>
            <a:r>
              <a:rPr lang="fr-FR" dirty="0" err="1"/>
              <a:t>changing</a:t>
            </a:r>
            <a:r>
              <a:rPr lang="fr-FR" dirty="0"/>
              <a:t> folder” dans tous les champs et uniquement avec ResponseTime compris entre 10 000 et 10 000 000.</a:t>
            </a:r>
          </a:p>
        </p:txBody>
      </p:sp>
    </p:spTree>
    <p:extLst>
      <p:ext uri="{BB962C8B-B14F-4D97-AF65-F5344CB8AC3E}">
        <p14:creationId xmlns:p14="http://schemas.microsoft.com/office/powerpoint/2010/main" val="2761880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C32A-8FB9-274C-8A3C-56CA024B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Query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5AB5-A859-A04B-8CC2-9483AAC01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257857"/>
          </a:xfrm>
        </p:spPr>
        <p:txBody>
          <a:bodyPr anchor="t"/>
          <a:lstStyle/>
          <a:p>
            <a:r>
              <a:rPr lang="fr-FR" dirty="0"/>
              <a:t>Le </a:t>
            </a:r>
            <a:r>
              <a:rPr lang="fr-FR" dirty="0" err="1"/>
              <a:t>Query</a:t>
            </a:r>
            <a:r>
              <a:rPr lang="fr-FR" dirty="0"/>
              <a:t> DSL d’</a:t>
            </a:r>
            <a:r>
              <a:rPr lang="fr-FR" dirty="0" err="1"/>
              <a:t>Elasticsearch</a:t>
            </a:r>
            <a:r>
              <a:rPr lang="fr-FR" dirty="0"/>
              <a:t> s’exprime en JSON via requête POST sur INDEX/_</a:t>
            </a:r>
            <a:r>
              <a:rPr lang="fr-FR" dirty="0" err="1"/>
              <a:t>search</a:t>
            </a:r>
            <a:endParaRPr lang="fr-FR" sz="1200" dirty="0"/>
          </a:p>
          <a:p>
            <a:pPr lvl="1"/>
            <a:r>
              <a:rPr lang="fr-FR" b="1" dirty="0"/>
              <a:t>Commence toujours </a:t>
            </a:r>
            <a:r>
              <a:rPr lang="fr-FR" dirty="0"/>
              <a:t>par une </a:t>
            </a:r>
            <a:r>
              <a:rPr lang="fr-FR" dirty="0" err="1"/>
              <a:t>query</a:t>
            </a: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b="1" dirty="0"/>
              <a:t>Constituée</a:t>
            </a:r>
            <a:r>
              <a:rPr lang="fr-FR" dirty="0"/>
              <a:t> par une clause de recherche simple (ci-dessus) ou une clause composée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3EFAEF-496D-FF4D-AB55-199DE20D4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150" y="3266694"/>
            <a:ext cx="3187700" cy="1257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2D790F7-8A23-9A41-98AD-F3D8C00FF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50" y="5075174"/>
            <a:ext cx="49657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3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7F56-FF91-D048-8372-9B2B5D4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différentes query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7FE60-A03A-E049-9D35-0BE5E28E3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75105"/>
            <a:ext cx="7989752" cy="472744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Match </a:t>
            </a:r>
          </a:p>
          <a:p>
            <a:pPr lvl="1"/>
            <a:r>
              <a:rPr lang="fr-FR" dirty="0"/>
              <a:t>Fait une recherche textuelle sur un champ. Le texte est analysé avant d’effectuer la recherche.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{ </a:t>
            </a:r>
            <a:r>
              <a:rPr lang="fr-FR" dirty="0">
                <a:solidFill>
                  <a:srgbClr val="00B0F0"/>
                </a:solidFill>
              </a:rPr>
              <a:t>"match"</a:t>
            </a:r>
            <a:r>
              <a:rPr lang="fr-FR" dirty="0">
                <a:solidFill>
                  <a:schemeClr val="tx1"/>
                </a:solidFill>
              </a:rPr>
              <a:t>: { </a:t>
            </a:r>
            <a:r>
              <a:rPr lang="fr-FR" dirty="0">
                <a:solidFill>
                  <a:srgbClr val="00B0F0"/>
                </a:solidFill>
              </a:rPr>
              <a:t>"tweet"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>
                <a:solidFill>
                  <a:schemeClr val="accent6"/>
                </a:solidFill>
              </a:rPr>
              <a:t>"About </a:t>
            </a:r>
            <a:r>
              <a:rPr lang="fr-FR" dirty="0" err="1">
                <a:solidFill>
                  <a:schemeClr val="accent6"/>
                </a:solidFill>
              </a:rPr>
              <a:t>Search</a:t>
            </a:r>
            <a:r>
              <a:rPr lang="fr-FR" dirty="0">
                <a:solidFill>
                  <a:schemeClr val="accent6"/>
                </a:solidFill>
              </a:rPr>
              <a:t>"</a:t>
            </a:r>
            <a:r>
              <a:rPr lang="fr-FR" dirty="0">
                <a:solidFill>
                  <a:schemeClr val="tx1"/>
                </a:solidFill>
              </a:rPr>
              <a:t>}}</a:t>
            </a:r>
          </a:p>
          <a:p>
            <a:r>
              <a:rPr lang="fr-FR" dirty="0" err="1"/>
              <a:t>Term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Comme Match mais ne cherche qu’en valeur exacte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{</a:t>
            </a:r>
            <a:r>
              <a:rPr lang="fr-FR" dirty="0">
                <a:solidFill>
                  <a:srgbClr val="D4D4D4"/>
                </a:solidFill>
              </a:rPr>
              <a:t> </a:t>
            </a:r>
            <a:r>
              <a:rPr lang="fr-FR" dirty="0">
                <a:solidFill>
                  <a:srgbClr val="00B0F0"/>
                </a:solidFill>
              </a:rPr>
              <a:t>"</a:t>
            </a:r>
            <a:r>
              <a:rPr lang="fr-FR" dirty="0" err="1">
                <a:solidFill>
                  <a:srgbClr val="00B0F0"/>
                </a:solidFill>
              </a:rPr>
              <a:t>term</a:t>
            </a:r>
            <a:r>
              <a:rPr lang="fr-FR" dirty="0">
                <a:solidFill>
                  <a:srgbClr val="00B0F0"/>
                </a:solidFill>
              </a:rPr>
              <a:t>"</a:t>
            </a:r>
            <a:r>
              <a:rPr lang="fr-FR" dirty="0">
                <a:solidFill>
                  <a:schemeClr val="tx1"/>
                </a:solidFill>
              </a:rPr>
              <a:t>: {</a:t>
            </a:r>
            <a:r>
              <a:rPr lang="fr-FR" dirty="0">
                <a:solidFill>
                  <a:srgbClr val="D4D4D4"/>
                </a:solidFill>
              </a:rPr>
              <a:t> </a:t>
            </a:r>
            <a:r>
              <a:rPr lang="fr-FR" dirty="0">
                <a:solidFill>
                  <a:srgbClr val="00B0F0"/>
                </a:solidFill>
              </a:rPr>
              <a:t>"public"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accent6"/>
                </a:solidFill>
              </a:rPr>
              <a:t>true</a:t>
            </a:r>
            <a:r>
              <a:rPr lang="fr-FR" dirty="0">
                <a:solidFill>
                  <a:srgbClr val="D4D4D4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}}</a:t>
            </a:r>
          </a:p>
          <a:p>
            <a:r>
              <a:rPr lang="fr-FR" dirty="0"/>
              <a:t>Range</a:t>
            </a:r>
          </a:p>
          <a:p>
            <a:pPr lvl="1"/>
            <a:r>
              <a:rPr lang="fr-FR" dirty="0"/>
              <a:t>Recherche de nombre ou dates qui entrent dans une échelle donnée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{</a:t>
            </a:r>
            <a:r>
              <a:rPr lang="fr-FR" dirty="0">
                <a:solidFill>
                  <a:srgbClr val="00B0F0"/>
                </a:solidFill>
              </a:rPr>
              <a:t>"range"</a:t>
            </a:r>
            <a:r>
              <a:rPr lang="fr-FR" dirty="0">
                <a:solidFill>
                  <a:schemeClr val="tx1"/>
                </a:solidFill>
              </a:rPr>
              <a:t>: {</a:t>
            </a:r>
            <a:r>
              <a:rPr lang="fr-FR" dirty="0">
                <a:solidFill>
                  <a:srgbClr val="00B0F0"/>
                </a:solidFill>
              </a:rPr>
              <a:t>"age"</a:t>
            </a:r>
            <a:r>
              <a:rPr lang="fr-FR" dirty="0">
                <a:solidFill>
                  <a:srgbClr val="D4D4D4"/>
                </a:solidFill>
              </a:rPr>
              <a:t>:</a:t>
            </a:r>
            <a:r>
              <a:rPr lang="fr-FR" dirty="0">
                <a:solidFill>
                  <a:schemeClr val="tx1"/>
                </a:solidFill>
              </a:rPr>
              <a:t> {</a:t>
            </a:r>
            <a:r>
              <a:rPr lang="fr-FR" dirty="0">
                <a:solidFill>
                  <a:srgbClr val="00B0F0"/>
                </a:solidFill>
              </a:rPr>
              <a:t>"gte"</a:t>
            </a:r>
            <a:r>
              <a:rPr lang="fr-FR" dirty="0">
                <a:solidFill>
                  <a:schemeClr val="tx1"/>
                </a:solidFill>
              </a:rPr>
              <a:t>:</a:t>
            </a:r>
            <a:r>
              <a:rPr lang="fr-FR" dirty="0">
                <a:solidFill>
                  <a:schemeClr val="accent2"/>
                </a:solidFill>
              </a:rPr>
              <a:t>20</a:t>
            </a:r>
            <a:r>
              <a:rPr lang="fr-FR" dirty="0">
                <a:solidFill>
                  <a:schemeClr val="tx1"/>
                </a:solidFill>
              </a:rPr>
              <a:t>,</a:t>
            </a:r>
            <a:r>
              <a:rPr lang="fr-FR" dirty="0">
                <a:solidFill>
                  <a:srgbClr val="00B0F0"/>
                </a:solidFill>
              </a:rPr>
              <a:t>"lt"</a:t>
            </a:r>
            <a:r>
              <a:rPr lang="fr-FR" dirty="0">
                <a:solidFill>
                  <a:srgbClr val="D4D4D4"/>
                </a:solidFill>
              </a:rPr>
              <a:t>:</a:t>
            </a:r>
            <a:r>
              <a:rPr lang="fr-FR" dirty="0">
                <a:solidFill>
                  <a:schemeClr val="accent2"/>
                </a:solidFill>
              </a:rPr>
              <a:t>30</a:t>
            </a:r>
            <a:r>
              <a:rPr lang="fr-FR" dirty="0">
                <a:solidFill>
                  <a:schemeClr val="tx1"/>
                </a:solidFill>
              </a:rPr>
              <a:t>}}}</a:t>
            </a:r>
          </a:p>
          <a:p>
            <a:r>
              <a:rPr lang="fr-FR" dirty="0" err="1"/>
              <a:t>Exist</a:t>
            </a:r>
            <a:r>
              <a:rPr lang="fr-FR" dirty="0"/>
              <a:t> et missing</a:t>
            </a:r>
          </a:p>
          <a:p>
            <a:pPr lvl="1"/>
            <a:r>
              <a:rPr lang="fr-FR" sz="1800" dirty="0"/>
              <a:t>Filtre sur l’existence ou non d’un champ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{ </a:t>
            </a:r>
            <a:r>
              <a:rPr lang="fr-FR" dirty="0">
                <a:solidFill>
                  <a:srgbClr val="00B0F0"/>
                </a:solidFill>
              </a:rPr>
              <a:t>"exist"</a:t>
            </a:r>
            <a:r>
              <a:rPr lang="fr-FR" dirty="0">
                <a:solidFill>
                  <a:schemeClr val="tx1"/>
                </a:solidFill>
              </a:rPr>
              <a:t>: { </a:t>
            </a:r>
            <a:r>
              <a:rPr lang="fr-FR" dirty="0">
                <a:solidFill>
                  <a:srgbClr val="00B0F0"/>
                </a:solidFill>
              </a:rPr>
              <a:t>"field"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>
                <a:solidFill>
                  <a:schemeClr val="accent6"/>
                </a:solidFill>
              </a:rPr>
              <a:t>"age"</a:t>
            </a:r>
            <a:r>
              <a:rPr lang="fr-FR" dirty="0">
                <a:solidFill>
                  <a:schemeClr val="tx1"/>
                </a:solidFill>
              </a:rPr>
              <a:t> }}</a:t>
            </a:r>
            <a:endParaRPr lang="fr-FR" dirty="0">
              <a:solidFill>
                <a:srgbClr val="D4D4D4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834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C7CD-5CFF-F14E-AF64-F8BB0D69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Combiner les requêtes entre elles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DE9BD-86EA-9B42-B3CC-B9FC53818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194062"/>
          </a:xfrm>
        </p:spPr>
        <p:txBody>
          <a:bodyPr>
            <a:normAutofit/>
          </a:bodyPr>
          <a:lstStyle/>
          <a:p>
            <a:r>
              <a:rPr lang="fr-FR" dirty="0"/>
              <a:t>On va utiliser la query Bool</a:t>
            </a:r>
          </a:p>
          <a:p>
            <a:pPr lvl="1"/>
            <a:r>
              <a:rPr lang="fr-FR" dirty="0"/>
              <a:t>Composée de 4 clauses dans lesquelles on peut mettre une ou plusieurs query </a:t>
            </a:r>
          </a:p>
          <a:p>
            <a:pPr lvl="2"/>
            <a:r>
              <a:rPr lang="fr-FR" dirty="0"/>
              <a:t>Must : les documents retournés doivent correspondre à toutes les requêtes de ce champ. Elles contribuent au score.</a:t>
            </a:r>
          </a:p>
          <a:p>
            <a:pPr lvl="2"/>
            <a:r>
              <a:rPr lang="fr-FR" dirty="0"/>
              <a:t>Must_not : Les documents retournés ne doivent pas correspondre à ces requêtes. Un score de 0 est renvoyé pour tous ces documents.</a:t>
            </a:r>
          </a:p>
          <a:p>
            <a:pPr lvl="2"/>
            <a:r>
              <a:rPr lang="fr-FR" dirty="0"/>
              <a:t>Should : Les documents retournés devraient correspondre à ces requêtes. Si tel est le cas, ils ont un boost de score.</a:t>
            </a:r>
          </a:p>
          <a:p>
            <a:pPr lvl="2"/>
            <a:r>
              <a:rPr lang="fr-FR" dirty="0"/>
              <a:t>Filter : comme le must (obligation) mais n’influe pas sur le score </a:t>
            </a:r>
          </a:p>
          <a:p>
            <a:r>
              <a:rPr lang="fr-FR" dirty="0"/>
              <a:t>Il est possible d’assembler des bool query dans des bool query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1565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99F183-99EE-4B1F-BA64-21A07922AE8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83A767-5AFC-40D0-A72C-09036EA172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262CAC-6BC8-43F9-9113-770A2772F6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A2CCB6-DFD2-41CD-96FE-0140B793599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A225C9B-755F-4F91-9681-5E07AFAA71F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2CD2CD-6CF3-4EE9-A24A-A41D45DCF9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FABDB-64C8-7C42-A3B0-45B8FB237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74" y="1694918"/>
            <a:ext cx="4889100" cy="3691270"/>
          </a:xfrm>
          <a:prstGeom prst="rect">
            <a:avLst/>
          </a:prstGeom>
          <a:ln>
            <a:solidFill>
              <a:srgbClr val="F0F0F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E408CB-E3F5-2F4C-99B0-418A91FC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206" y="1419225"/>
            <a:ext cx="2311182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Exemple de bool query</a:t>
            </a:r>
          </a:p>
        </p:txBody>
      </p:sp>
    </p:spTree>
    <p:extLst>
      <p:ext uri="{BB962C8B-B14F-4D97-AF65-F5344CB8AC3E}">
        <p14:creationId xmlns:p14="http://schemas.microsoft.com/office/powerpoint/2010/main" val="2584102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E2332-A1E0-274C-BB12-76F32017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d’une query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C8694-F61B-6847-A160-98F156991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peut ajouter à la racine du JSON divers paramètres à la query </a:t>
            </a:r>
          </a:p>
          <a:p>
            <a:r>
              <a:rPr lang="fr-FR" i="1" dirty="0"/>
              <a:t>Size</a:t>
            </a:r>
          </a:p>
          <a:p>
            <a:pPr lvl="1"/>
            <a:r>
              <a:rPr lang="fr-FR" dirty="0">
                <a:solidFill>
                  <a:srgbClr val="00B0F0"/>
                </a:solidFill>
              </a:rPr>
              <a:t>"size"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>
                <a:solidFill>
                  <a:srgbClr val="00B0F0"/>
                </a:solidFill>
              </a:rPr>
              <a:t> </a:t>
            </a:r>
            <a:r>
              <a:rPr lang="fr-FR" dirty="0">
                <a:solidFill>
                  <a:schemeClr val="accent6"/>
                </a:solidFill>
              </a:rPr>
              <a:t>20</a:t>
            </a:r>
            <a:r>
              <a:rPr lang="fr-FR" dirty="0">
                <a:solidFill>
                  <a:srgbClr val="CE9178"/>
                </a:solidFill>
              </a:rPr>
              <a:t> </a:t>
            </a:r>
            <a:r>
              <a:rPr lang="fr-FR" sz="1800" dirty="0">
                <a:solidFill>
                  <a:srgbClr val="3D3D3D"/>
                </a:solidFill>
              </a:rPr>
              <a:t> =&gt; on peut définir le nombre de résultats à retourner (10 par défaut)</a:t>
            </a:r>
          </a:p>
          <a:p>
            <a:r>
              <a:rPr lang="fr-FR" i="1" dirty="0">
                <a:solidFill>
                  <a:srgbClr val="3D3D3D"/>
                </a:solidFill>
              </a:rPr>
              <a:t>Fields</a:t>
            </a:r>
          </a:p>
          <a:p>
            <a:pPr lvl="1"/>
            <a:r>
              <a:rPr lang="fr-FR" dirty="0">
                <a:solidFill>
                  <a:srgbClr val="3D3D3D"/>
                </a:solidFill>
              </a:rPr>
              <a:t>On peut définir les champs que l’on veut garder dans le retour de la requête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9584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5CA7-63E7-A441-84A5-000F21B4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agrégations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FB4B-DBCD-984E-84E2-F226A4302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agrégations permettent d’analyser et de résumer notre set de données par des métriques</a:t>
            </a:r>
          </a:p>
          <a:p>
            <a:pPr lvl="1"/>
            <a:r>
              <a:rPr lang="fr-FR" dirty="0"/>
              <a:t>Combien d’aiguilles y’a t-il dans une botte de paille ?</a:t>
            </a:r>
          </a:p>
          <a:p>
            <a:pPr lvl="1"/>
            <a:r>
              <a:rPr lang="fr-FR" dirty="0"/>
              <a:t>Quelle est la longueur moyenne de mes aiguilles ?</a:t>
            </a:r>
          </a:p>
          <a:p>
            <a:pPr lvl="1"/>
            <a:r>
              <a:rPr lang="fr-FR" dirty="0"/>
              <a:t>Quelle est la longueur médiane de mes aiguilles par producteur ?</a:t>
            </a:r>
          </a:p>
          <a:p>
            <a:pPr lvl="1"/>
            <a:r>
              <a:rPr lang="fr-FR" dirty="0"/>
              <a:t>Combien d’aiguilles ont été rajoutées dans ma botte de paille par mois ?</a:t>
            </a:r>
          </a:p>
          <a:p>
            <a:pPr lvl="1"/>
            <a:r>
              <a:rPr lang="fr-FR" dirty="0"/>
              <a:t>Quelle est le producteur avec le plus d’aiguilles dans ma botte de paille ?</a:t>
            </a:r>
          </a:p>
          <a:p>
            <a:r>
              <a:rPr lang="fr-FR" dirty="0"/>
              <a:t>On peut coupler des </a:t>
            </a:r>
            <a:r>
              <a:rPr lang="fr-FR" dirty="0" err="1"/>
              <a:t>query</a:t>
            </a:r>
            <a:r>
              <a:rPr lang="fr-FR" dirty="0"/>
              <a:t> aux agrégations pour filtrer les documents à prendre en compte dans cette agrégation</a:t>
            </a:r>
          </a:p>
        </p:txBody>
      </p:sp>
    </p:spTree>
    <p:extLst>
      <p:ext uri="{BB962C8B-B14F-4D97-AF65-F5344CB8AC3E}">
        <p14:creationId xmlns:p14="http://schemas.microsoft.com/office/powerpoint/2010/main" val="1095687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817" y="693512"/>
            <a:ext cx="6810779" cy="990600"/>
          </a:xfrm>
        </p:spPr>
        <p:txBody>
          <a:bodyPr/>
          <a:lstStyle/>
          <a:p>
            <a:r>
              <a:rPr lang="fr-FR" dirty="0"/>
              <a:t>Agrégations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4158" y="2268932"/>
            <a:ext cx="8048847" cy="1537781"/>
          </a:xfrm>
        </p:spPr>
        <p:txBody>
          <a:bodyPr>
            <a:normAutofit fontScale="92500"/>
          </a:bodyPr>
          <a:lstStyle/>
          <a:p>
            <a:r>
              <a:rPr lang="fr-FR" dirty="0"/>
              <a:t>Une agrégation permet de traiter (sommer, moyenner, etc.) et/ou sélectionner un groupe ou de trouver une valeur particulière (par métrique) telle qu’un minimum.</a:t>
            </a:r>
          </a:p>
          <a:p>
            <a:pPr lvl="2"/>
            <a:r>
              <a:rPr lang="fr-FR" dirty="0"/>
              <a:t>ex :  Avoir les données dont Port = 8404</a:t>
            </a:r>
          </a:p>
          <a:p>
            <a:r>
              <a:rPr lang="fr-FR" dirty="0"/>
              <a:t>Les résultats des agrégations sont regroupés dans un « </a:t>
            </a:r>
            <a:r>
              <a:rPr lang="fr-FR" i="1" dirty="0"/>
              <a:t>bucket</a:t>
            </a:r>
            <a:r>
              <a:rPr lang="fr-FR" dirty="0"/>
              <a:t> »</a:t>
            </a:r>
          </a:p>
          <a:p>
            <a:pPr lvl="1">
              <a:buNone/>
            </a:pPr>
            <a:endParaRPr lang="fr-FR" dirty="0"/>
          </a:p>
          <a:p>
            <a:pPr lvl="1">
              <a:buNone/>
            </a:pP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807786" y="3806713"/>
            <a:ext cx="4320480" cy="2484276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lang="fr-FR" sz="1200" dirty="0"/>
          </a:p>
        </p:txBody>
      </p:sp>
      <p:sp>
        <p:nvSpPr>
          <p:cNvPr id="6" name="ZoneTexte 5"/>
          <p:cNvSpPr txBox="1"/>
          <p:nvPr/>
        </p:nvSpPr>
        <p:spPr>
          <a:xfrm>
            <a:off x="1815899" y="4130750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175939" y="4940840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040035" y="4562798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607987" y="5696924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535978" y="3914726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311843" y="4616804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400074" y="5750930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8402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455858" y="5318882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273099" y="4473650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8401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976139" y="4778822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8402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815899" y="5804936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8402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2752002" y="5318882"/>
            <a:ext cx="576064" cy="1846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8404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968026" y="4130750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8402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112043" y="4994846"/>
            <a:ext cx="576064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951803" y="4994846"/>
            <a:ext cx="576064" cy="1846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8404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976139" y="5318882"/>
            <a:ext cx="576064" cy="1846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616098" y="4184755"/>
            <a:ext cx="576064" cy="1846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8404</a:t>
            </a:r>
          </a:p>
        </p:txBody>
      </p:sp>
      <p:sp>
        <p:nvSpPr>
          <p:cNvPr id="1026" name="AutoShape 2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495817" y="1450652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  <p:pic>
        <p:nvPicPr>
          <p:cNvPr id="1029" name="Picture 5" descr="C:\Users\c02674\Desktop\bucket_PNG7771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4331" y="4184755"/>
            <a:ext cx="2020138" cy="1482521"/>
          </a:xfrm>
          <a:prstGeom prst="rect">
            <a:avLst/>
          </a:prstGeom>
          <a:noFill/>
        </p:spPr>
      </p:pic>
      <p:cxnSp>
        <p:nvCxnSpPr>
          <p:cNvPr id="29" name="Forme 28"/>
          <p:cNvCxnSpPr>
            <a:stCxn id="22" idx="3"/>
            <a:endCxn id="1029" idx="0"/>
          </p:cNvCxnSpPr>
          <p:nvPr/>
        </p:nvCxnSpPr>
        <p:spPr>
          <a:xfrm flipV="1">
            <a:off x="4192162" y="4184755"/>
            <a:ext cx="2522238" cy="92333"/>
          </a:xfrm>
          <a:prstGeom prst="curvedConnector4">
            <a:avLst>
              <a:gd name="adj1" fmla="val 29977"/>
              <a:gd name="adj2" fmla="val 347582"/>
            </a:avLst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orme 33"/>
          <p:cNvCxnSpPr>
            <a:stCxn id="21" idx="0"/>
            <a:endCxn id="1029" idx="1"/>
          </p:cNvCxnSpPr>
          <p:nvPr/>
        </p:nvCxnSpPr>
        <p:spPr>
          <a:xfrm rot="5400000" flipH="1" flipV="1">
            <a:off x="4787818" y="4402369"/>
            <a:ext cx="392866" cy="1440160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en arc 35"/>
          <p:cNvCxnSpPr>
            <a:stCxn id="17" idx="3"/>
          </p:cNvCxnSpPr>
          <p:nvPr/>
        </p:nvCxnSpPr>
        <p:spPr>
          <a:xfrm flipV="1">
            <a:off x="3328066" y="4616806"/>
            <a:ext cx="2448272" cy="79440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en arc 41"/>
          <p:cNvCxnSpPr>
            <a:stCxn id="20" idx="3"/>
          </p:cNvCxnSpPr>
          <p:nvPr/>
        </p:nvCxnSpPr>
        <p:spPr>
          <a:xfrm flipV="1">
            <a:off x="1527867" y="4346776"/>
            <a:ext cx="4104455" cy="740403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6066328" y="5696924"/>
            <a:ext cx="1296144" cy="18466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27000" tIns="0" rIns="27000" bIns="0" rtlCol="0">
            <a:spAutoFit/>
          </a:bodyPr>
          <a:lstStyle/>
          <a:p>
            <a:pPr algn="ctr"/>
            <a:r>
              <a:rPr lang="fr-FR" sz="1200" dirty="0"/>
              <a:t>Résultat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663771" y="5966954"/>
            <a:ext cx="792088" cy="184666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>
                <a:solidFill>
                  <a:schemeClr val="accent3"/>
                </a:solidFill>
              </a:rPr>
              <a:t>PORT</a:t>
            </a:r>
          </a:p>
        </p:txBody>
      </p:sp>
    </p:spTree>
    <p:extLst>
      <p:ext uri="{BB962C8B-B14F-4D97-AF65-F5344CB8AC3E}">
        <p14:creationId xmlns:p14="http://schemas.microsoft.com/office/powerpoint/2010/main" val="170056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945047"/>
            <a:ext cx="6447501" cy="550069"/>
          </a:xfrm>
        </p:spPr>
        <p:txBody>
          <a:bodyPr/>
          <a:lstStyle/>
          <a:p>
            <a:r>
              <a:rPr lang="fr-FR" dirty="0"/>
              <a:t>Agrégations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3727" y="2262750"/>
            <a:ext cx="7910543" cy="1455290"/>
          </a:xfrm>
        </p:spPr>
        <p:txBody>
          <a:bodyPr>
            <a:normAutofit fontScale="92500"/>
          </a:bodyPr>
          <a:lstStyle/>
          <a:p>
            <a:r>
              <a:rPr lang="fr-FR" dirty="0"/>
              <a:t>La puissance d’Elasticsearch vient de la possibilité de faire de multiples sous-agrégations :</a:t>
            </a:r>
          </a:p>
          <a:p>
            <a:pPr lvl="1"/>
            <a:r>
              <a:rPr lang="fr-FR" dirty="0"/>
              <a:t>Le résultat du bucket de la précédente agrégation est utilisé comme source pour le suivant</a:t>
            </a:r>
          </a:p>
          <a:p>
            <a:pPr lvl="1"/>
            <a:r>
              <a:rPr lang="fr-FR" dirty="0"/>
              <a:t>Ex : Récupérer les 5 utilisateurs faisant le plus de transactions sur le port 8404</a:t>
            </a:r>
          </a:p>
          <a:p>
            <a:pPr lvl="1"/>
            <a:endParaRPr lang="fr-FR" dirty="0"/>
          </a:p>
          <a:p>
            <a:pPr lvl="1">
              <a:buNone/>
            </a:pPr>
            <a:endParaRPr lang="fr-FR" dirty="0"/>
          </a:p>
        </p:txBody>
      </p:sp>
      <p:sp>
        <p:nvSpPr>
          <p:cNvPr id="1026" name="AutoShape 2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  <p:sp>
        <p:nvSpPr>
          <p:cNvPr id="1028" name="AutoShape 4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  <p:pic>
        <p:nvPicPr>
          <p:cNvPr id="57" name="Picture 5" descr="C:\Users\c02674\Desktop\bucket_PNG7771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36475">
            <a:off x="3263733" y="3624364"/>
            <a:ext cx="1026114" cy="1338729"/>
          </a:xfrm>
          <a:prstGeom prst="rect">
            <a:avLst/>
          </a:prstGeom>
          <a:noFill/>
        </p:spPr>
      </p:pic>
      <p:pic>
        <p:nvPicPr>
          <p:cNvPr id="58" name="Picture 5" descr="C:\Users\c02674\Desktop\bucket_PNG7771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6933" y="4947763"/>
            <a:ext cx="1368152" cy="1004047"/>
          </a:xfrm>
          <a:prstGeom prst="rect">
            <a:avLst/>
          </a:prstGeom>
          <a:noFill/>
        </p:spPr>
      </p:pic>
      <p:sp>
        <p:nvSpPr>
          <p:cNvPr id="59" name="ZoneTexte 58"/>
          <p:cNvSpPr txBox="1"/>
          <p:nvPr/>
        </p:nvSpPr>
        <p:spPr>
          <a:xfrm>
            <a:off x="6533156" y="5379811"/>
            <a:ext cx="1296144" cy="18466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Résultat</a:t>
            </a:r>
          </a:p>
        </p:txBody>
      </p:sp>
      <p:sp>
        <p:nvSpPr>
          <p:cNvPr id="60" name="Flèche droite 59"/>
          <p:cNvSpPr/>
          <p:nvPr/>
        </p:nvSpPr>
        <p:spPr>
          <a:xfrm>
            <a:off x="5813076" y="5433816"/>
            <a:ext cx="648072" cy="54006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lang="fr-FR" sz="1200" dirty="0"/>
          </a:p>
        </p:txBody>
      </p:sp>
      <p:cxnSp>
        <p:nvCxnSpPr>
          <p:cNvPr id="62" name="Forme 61"/>
          <p:cNvCxnSpPr>
            <a:stCxn id="57" idx="0"/>
            <a:endCxn id="58" idx="0"/>
          </p:cNvCxnSpPr>
          <p:nvPr/>
        </p:nvCxnSpPr>
        <p:spPr>
          <a:xfrm>
            <a:off x="4437182" y="4211804"/>
            <a:ext cx="763827" cy="735959"/>
          </a:xfrm>
          <a:prstGeom prst="curvedConnector2">
            <a:avLst/>
          </a:prstGeom>
          <a:ln w="76200"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060549" y="3597612"/>
            <a:ext cx="936104" cy="7020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endParaRPr lang="fr-FR" sz="1200" dirty="0"/>
          </a:p>
        </p:txBody>
      </p:sp>
      <p:cxnSp>
        <p:nvCxnSpPr>
          <p:cNvPr id="64" name="Forme 63"/>
          <p:cNvCxnSpPr>
            <a:endCxn id="57" idx="2"/>
          </p:cNvCxnSpPr>
          <p:nvPr/>
        </p:nvCxnSpPr>
        <p:spPr>
          <a:xfrm>
            <a:off x="1564605" y="3975656"/>
            <a:ext cx="1551795" cy="39999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2212676" y="4515715"/>
            <a:ext cx="1080120" cy="369332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Bucket 1</a:t>
            </a:r>
          </a:p>
          <a:p>
            <a:r>
              <a:rPr lang="fr-FR" sz="1200" dirty="0"/>
              <a:t>Port:8404</a:t>
            </a:r>
          </a:p>
        </p:txBody>
      </p:sp>
      <p:sp>
        <p:nvSpPr>
          <p:cNvPr id="69" name="ZoneTexte 68"/>
          <p:cNvSpPr txBox="1"/>
          <p:nvPr/>
        </p:nvSpPr>
        <p:spPr>
          <a:xfrm>
            <a:off x="3436812" y="5379811"/>
            <a:ext cx="1296144" cy="369332"/>
          </a:xfrm>
          <a:prstGeom prst="rect">
            <a:avLst/>
          </a:prstGeom>
          <a:noFill/>
        </p:spPr>
        <p:txBody>
          <a:bodyPr wrap="square" lIns="27000" tIns="0" rIns="27000" bIns="0" rtlCol="0">
            <a:spAutoFit/>
          </a:bodyPr>
          <a:lstStyle/>
          <a:p>
            <a:r>
              <a:rPr lang="fr-FR" sz="1200" dirty="0"/>
              <a:t>Bucket 2</a:t>
            </a:r>
          </a:p>
          <a:p>
            <a:r>
              <a:rPr lang="fr-FR" sz="1200" dirty="0"/>
              <a:t>TOP 5 Users</a:t>
            </a:r>
          </a:p>
        </p:txBody>
      </p:sp>
    </p:spTree>
    <p:extLst>
      <p:ext uri="{BB962C8B-B14F-4D97-AF65-F5344CB8AC3E}">
        <p14:creationId xmlns:p14="http://schemas.microsoft.com/office/powerpoint/2010/main" val="1990477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796" y="748903"/>
            <a:ext cx="6447501" cy="990600"/>
          </a:xfrm>
        </p:spPr>
        <p:txBody>
          <a:bodyPr/>
          <a:lstStyle/>
          <a:p>
            <a:r>
              <a:rPr lang="fr-FR" dirty="0"/>
              <a:t>Les opérateurs d’agrégation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0375" y="2167696"/>
            <a:ext cx="8353425" cy="4690304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Agrégation de type métrique, pour récupérer une donnée scalaire telle que :</a:t>
            </a:r>
          </a:p>
          <a:p>
            <a:pPr lvl="1"/>
            <a:r>
              <a:rPr lang="fr-FR" dirty="0"/>
              <a:t>Moyenne (Average), médiane</a:t>
            </a:r>
          </a:p>
          <a:p>
            <a:pPr lvl="1"/>
            <a:r>
              <a:rPr lang="fr-FR" dirty="0"/>
              <a:t>Nombre (approximé) de valeurs distinctes (Cardinality)</a:t>
            </a:r>
          </a:p>
          <a:p>
            <a:pPr lvl="1"/>
            <a:r>
              <a:rPr lang="fr-FR" dirty="0"/>
              <a:t>Somme (Sum)</a:t>
            </a:r>
          </a:p>
          <a:p>
            <a:pPr lvl="1"/>
            <a:r>
              <a:rPr lang="fr-FR" dirty="0"/>
              <a:t>Min, max, centile, …</a:t>
            </a:r>
          </a:p>
          <a:p>
            <a:r>
              <a:rPr lang="fr-FR" dirty="0"/>
              <a:t>Agrégation par </a:t>
            </a:r>
            <a:r>
              <a:rPr lang="fr-FR" dirty="0" err="1"/>
              <a:t>bucket</a:t>
            </a:r>
            <a:r>
              <a:rPr lang="fr-FR" dirty="0"/>
              <a:t>, pour récupérer un sous ensemble des résultats de la recherche, filtré par une variable de recherche.</a:t>
            </a:r>
          </a:p>
          <a:p>
            <a:pPr lvl="1"/>
            <a:r>
              <a:rPr lang="fr-FR" dirty="0"/>
              <a:t>date_histogram : découpe les données selon une échelle de temps (ex : nombre de documents par tranche de 10min)</a:t>
            </a:r>
          </a:p>
          <a:p>
            <a:pPr lvl="1"/>
            <a:r>
              <a:rPr lang="fr-FR" dirty="0"/>
              <a:t>Histogram : donne le nombre de valeurs contenues dans un intervalle donné (ex: nb de documents ayant des perfs entre 0 et 500ms, 500ms et 1000ms, …)</a:t>
            </a:r>
          </a:p>
          <a:p>
            <a:pPr lvl="1"/>
            <a:r>
              <a:rPr lang="fr-FR" dirty="0"/>
              <a:t>Range : retourne les documents contenus dans un ou plusieurs intervalles de temps ou numérique</a:t>
            </a:r>
          </a:p>
          <a:p>
            <a:pPr lvl="1"/>
            <a:r>
              <a:rPr lang="fr-FR" dirty="0"/>
              <a:t>IPV4_range : Retourne les données dont le champ IP est contenu dans un intervalle donné</a:t>
            </a:r>
          </a:p>
          <a:p>
            <a:pPr lvl="1"/>
            <a:r>
              <a:rPr lang="fr-FR" dirty="0"/>
              <a:t>Terms : Catégorise les données selon un champ et sélectionne les X premiers (tops) ou derniers (ex : classe les documents par utilisateur et donne les 5 utilisateurs ayant le plus de documents)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1026" name="AutoShape 2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  <p:sp>
        <p:nvSpPr>
          <p:cNvPr id="1028" name="AutoShape 4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</p:spTree>
    <p:extLst>
      <p:ext uri="{BB962C8B-B14F-4D97-AF65-F5344CB8AC3E}">
        <p14:creationId xmlns:p14="http://schemas.microsoft.com/office/powerpoint/2010/main" val="2976873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opérateurs d’agrégation 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Agrégation par </a:t>
            </a:r>
            <a:r>
              <a:rPr lang="fr-FR" dirty="0" err="1"/>
              <a:t>bucket</a:t>
            </a:r>
            <a:r>
              <a:rPr lang="fr-FR" dirty="0"/>
              <a:t> (suite) :</a:t>
            </a:r>
          </a:p>
          <a:p>
            <a:pPr lvl="1"/>
            <a:r>
              <a:rPr lang="fr-FR" dirty="0"/>
              <a:t>Filters : regroupe les données en fonction de requêtes Lucene (ex : Nombre de documents correspondant à une recherche de supervision, de transaction, …)</a:t>
            </a:r>
          </a:p>
          <a:p>
            <a:pPr lvl="1"/>
            <a:r>
              <a:rPr lang="fr-FR" dirty="0"/>
              <a:t>Significant Terms : équivalent à Terms mais ressort les données les plus intéressantes et inhabituelles</a:t>
            </a:r>
          </a:p>
          <a:p>
            <a:pPr lvl="1"/>
            <a:endParaRPr lang="fr-FR" dirty="0"/>
          </a:p>
        </p:txBody>
      </p:sp>
      <p:sp>
        <p:nvSpPr>
          <p:cNvPr id="1026" name="AutoShape 2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  <p:sp>
        <p:nvSpPr>
          <p:cNvPr id="1028" name="AutoShape 4" descr="http://pngimg.com/upload/bucket_PNG7771.png"/>
          <p:cNvSpPr>
            <a:spLocks noChangeAspect="1" noChangeArrowheads="1"/>
          </p:cNvSpPr>
          <p:nvPr/>
        </p:nvSpPr>
        <p:spPr bwMode="auto">
          <a:xfrm>
            <a:off x="155575" y="748903"/>
            <a:ext cx="3048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350" dirty="0"/>
          </a:p>
        </p:txBody>
      </p:sp>
    </p:spTree>
    <p:extLst>
      <p:ext uri="{BB962C8B-B14F-4D97-AF65-F5344CB8AC3E}">
        <p14:creationId xmlns:p14="http://schemas.microsoft.com/office/powerpoint/2010/main" val="705579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Résilience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2046685"/>
            <a:ext cx="8178799" cy="3341587"/>
          </a:xfrm>
        </p:spPr>
        <p:txBody>
          <a:bodyPr/>
          <a:lstStyle/>
          <a:p>
            <a:r>
              <a:rPr lang="fr-FR" dirty="0"/>
              <a:t>Elasticsearch a été créé dès le début pour être un système scalable et résilient. Le but est de fournir un service continu et sans perte de données </a:t>
            </a:r>
          </a:p>
          <a:p>
            <a:r>
              <a:rPr lang="fr-FR" dirty="0"/>
              <a:t>Il s’appuie pour cela sur un fonctionnement en cluster et sur une partition des données</a:t>
            </a:r>
          </a:p>
          <a:p>
            <a:r>
              <a:rPr lang="fr-FR" dirty="0"/>
              <a:t>Un cluster est un ensemble de nœud ES communiquant ensemble sous la supervision d’un nœud maitre (</a:t>
            </a:r>
            <a:r>
              <a:rPr lang="fr-FR" i="1" dirty="0"/>
              <a:t>Master</a:t>
            </a:r>
            <a:r>
              <a:rPr lang="fr-FR" dirty="0"/>
              <a:t>). Un cluster permet une scalabilité horizontale</a:t>
            </a:r>
          </a:p>
          <a:p>
            <a:endParaRPr lang="fr-FR" dirty="0"/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4044991983"/>
              </p:ext>
            </p:extLst>
          </p:nvPr>
        </p:nvGraphicFramePr>
        <p:xfrm>
          <a:off x="2530574" y="4107139"/>
          <a:ext cx="4090988" cy="2867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3402711" y="6281130"/>
            <a:ext cx="23467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50" dirty="0"/>
              <a:t>Exemple de cluster 4 nœuds</a:t>
            </a:r>
          </a:p>
        </p:txBody>
      </p:sp>
    </p:spTree>
    <p:extLst>
      <p:ext uri="{BB962C8B-B14F-4D97-AF65-F5344CB8AC3E}">
        <p14:creationId xmlns:p14="http://schemas.microsoft.com/office/powerpoint/2010/main" val="330803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01" y="1982392"/>
            <a:ext cx="8062943" cy="4195124"/>
          </a:xfrm>
        </p:spPr>
        <p:txBody>
          <a:bodyPr>
            <a:normAutofit/>
          </a:bodyPr>
          <a:lstStyle/>
          <a:p>
            <a:r>
              <a:rPr lang="fr-FR" dirty="0"/>
              <a:t>Chaque nouvelle instance d’Elasticsearch va essayer de se connecter à son cluster lors de son démarrage</a:t>
            </a:r>
          </a:p>
          <a:p>
            <a:pPr lvl="1"/>
            <a:r>
              <a:rPr lang="fr-FR" dirty="0"/>
              <a:t>Si aucun nœud ne répond, il devient automatiquement master si sa configuration le permet</a:t>
            </a:r>
          </a:p>
          <a:p>
            <a:pPr lvl="1"/>
            <a:r>
              <a:rPr lang="fr-FR" dirty="0"/>
              <a:t>Si un master répond, il rejoint le cluster</a:t>
            </a:r>
          </a:p>
          <a:p>
            <a:r>
              <a:rPr lang="fr-FR" dirty="0"/>
              <a:t>La charge de recherche et d’indexation est répartie de façon intelligente entre les nœuds (temps de réponse au ping, charge réseau, …)</a:t>
            </a:r>
          </a:p>
          <a:p>
            <a:r>
              <a:rPr lang="fr-FR" dirty="0"/>
              <a:t>Si le serveur du nœud master vient à se déconnecter, les nœuds vont automatiquement réélire un nouveau nœud pour le remplacer.</a:t>
            </a:r>
          </a:p>
        </p:txBody>
      </p:sp>
    </p:spTree>
    <p:extLst>
      <p:ext uri="{BB962C8B-B14F-4D97-AF65-F5344CB8AC3E}">
        <p14:creationId xmlns:p14="http://schemas.microsoft.com/office/powerpoint/2010/main" val="3382693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Sharding et replicas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7301" y="1539784"/>
            <a:ext cx="8157534" cy="3395165"/>
          </a:xfrm>
        </p:spPr>
        <p:txBody>
          <a:bodyPr/>
          <a:lstStyle/>
          <a:p>
            <a:r>
              <a:rPr lang="fr-FR" dirty="0"/>
              <a:t>Chaque donnée indexée par ES va être découpée en morceaux de données (</a:t>
            </a:r>
            <a:r>
              <a:rPr lang="fr-FR" i="1" dirty="0" err="1"/>
              <a:t>Shard</a:t>
            </a:r>
            <a:r>
              <a:rPr lang="fr-FR" dirty="0"/>
              <a:t>) lesquelles seront par la suite réparties sur les différents nœuds du cluster</a:t>
            </a:r>
          </a:p>
          <a:p>
            <a:r>
              <a:rPr lang="fr-FR" dirty="0"/>
              <a:t>Elasticsearch va aussi créer des </a:t>
            </a:r>
            <a:r>
              <a:rPr lang="fr-FR" i="1" dirty="0"/>
              <a:t>replicas</a:t>
            </a:r>
            <a:r>
              <a:rPr lang="fr-FR" dirty="0"/>
              <a:t> qui seront des copies parfaites des </a:t>
            </a:r>
            <a:r>
              <a:rPr lang="fr-FR" i="1" dirty="0"/>
              <a:t>shards</a:t>
            </a:r>
            <a:r>
              <a:rPr lang="fr-FR" dirty="0"/>
              <a:t>, qui iront se positionner sur un nœud différent en tant que sauvegarde.</a:t>
            </a:r>
          </a:p>
          <a:p>
            <a:r>
              <a:rPr lang="fr-FR" dirty="0"/>
              <a:t>En cas de défaillance d’un nœud, le master va activer les </a:t>
            </a:r>
            <a:r>
              <a:rPr lang="fr-FR" i="1" dirty="0"/>
              <a:t>shards</a:t>
            </a:r>
            <a:r>
              <a:rPr lang="fr-FR" dirty="0"/>
              <a:t> de backups et immédiatement faire de nouveaux </a:t>
            </a:r>
            <a:r>
              <a:rPr lang="fr-FR" i="1" dirty="0"/>
              <a:t>replicas</a:t>
            </a:r>
          </a:p>
        </p:txBody>
      </p:sp>
      <p:pic>
        <p:nvPicPr>
          <p:cNvPr id="5" name="Image 4" descr="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84" y="4364970"/>
            <a:ext cx="6303688" cy="215407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CE305BB-1EBB-634F-8ACF-5458758CBAD7}"/>
              </a:ext>
            </a:extLst>
          </p:cNvPr>
          <p:cNvSpPr txBox="1"/>
          <p:nvPr/>
        </p:nvSpPr>
        <p:spPr>
          <a:xfrm>
            <a:off x="7144909" y="5436538"/>
            <a:ext cx="990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/>
              <a:t>P = </a:t>
            </a:r>
            <a:r>
              <a:rPr lang="fr-FR" sz="1400" i="1" dirty="0" err="1"/>
              <a:t>Primary</a:t>
            </a:r>
            <a:endParaRPr lang="fr-FR" sz="1400" i="1" dirty="0"/>
          </a:p>
          <a:p>
            <a:r>
              <a:rPr lang="fr-FR" sz="1400" i="1" dirty="0"/>
              <a:t>R = Réplica</a:t>
            </a:r>
          </a:p>
        </p:txBody>
      </p:sp>
    </p:spTree>
    <p:extLst>
      <p:ext uri="{BB962C8B-B14F-4D97-AF65-F5344CB8AC3E}">
        <p14:creationId xmlns:p14="http://schemas.microsoft.com/office/powerpoint/2010/main" val="25498487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BDAA-D60C-1D46-81FA-0FBFE94B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fonctionnalités / OUTILS </a:t>
            </a:r>
            <a:r>
              <a:rPr lang="fr-FR" dirty="0" err="1"/>
              <a:t>LIeS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E663-1D51-D24F-A5F7-5BA695291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84248"/>
            <a:ext cx="7989752" cy="4873752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Système de snapshot (backup / restore)</a:t>
            </a:r>
          </a:p>
          <a:p>
            <a:r>
              <a:rPr lang="fr-FR" dirty="0"/>
              <a:t>X-PACK (payant)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Monitoring</a:t>
            </a:r>
          </a:p>
          <a:p>
            <a:pPr lvl="1"/>
            <a:r>
              <a:rPr lang="fr-FR" dirty="0" err="1"/>
              <a:t>Alerting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Machine Learning (ML), </a:t>
            </a:r>
            <a:r>
              <a:rPr lang="fr-FR" dirty="0" err="1"/>
              <a:t>kNN</a:t>
            </a:r>
            <a:r>
              <a:rPr lang="fr-FR" dirty="0"/>
              <a:t>,  </a:t>
            </a:r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search</a:t>
            </a:r>
            <a:endParaRPr lang="fr-FR" dirty="0"/>
          </a:p>
          <a:p>
            <a:pPr lvl="1"/>
            <a:r>
              <a:rPr lang="fr-FR" dirty="0"/>
              <a:t>SQL</a:t>
            </a:r>
          </a:p>
          <a:p>
            <a:r>
              <a:rPr lang="fr-FR" dirty="0" err="1"/>
              <a:t>OpenSearch</a:t>
            </a:r>
            <a:r>
              <a:rPr lang="fr-FR" dirty="0"/>
              <a:t> (libre, mais principalement développé par Amazon) </a:t>
            </a:r>
            <a:r>
              <a:rPr lang="fr-FR" dirty="0">
                <a:hlinkClick r:id="rId3"/>
              </a:rPr>
              <a:t>https://opensearch.org</a:t>
            </a:r>
            <a:endParaRPr lang="fr-FR" dirty="0"/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 err="1"/>
              <a:t>Alerting</a:t>
            </a:r>
            <a:endParaRPr lang="fr-FR" dirty="0"/>
          </a:p>
          <a:p>
            <a:pPr lvl="1"/>
            <a:r>
              <a:rPr lang="fr-FR" dirty="0"/>
              <a:t>Monitoring / Performance</a:t>
            </a:r>
          </a:p>
          <a:p>
            <a:pPr lvl="1"/>
            <a:r>
              <a:rPr lang="fr-FR" dirty="0"/>
              <a:t>SQL</a:t>
            </a:r>
          </a:p>
          <a:p>
            <a:pPr lvl="1"/>
            <a:r>
              <a:rPr lang="fr-FR" dirty="0" err="1"/>
              <a:t>kNN</a:t>
            </a:r>
            <a:r>
              <a:rPr lang="fr-FR" dirty="0"/>
              <a:t> (ML) : </a:t>
            </a:r>
            <a:r>
              <a:rPr lang="fr-FR" dirty="0">
                <a:hlinkClick r:id="rId4"/>
              </a:rPr>
              <a:t>https://datascientest.com/knn</a:t>
            </a:r>
            <a:endParaRPr lang="fr-FR" dirty="0"/>
          </a:p>
          <a:p>
            <a:r>
              <a:rPr lang="fr-FR" dirty="0" err="1"/>
              <a:t>Graylog</a:t>
            </a:r>
            <a:r>
              <a:rPr lang="fr-FR" dirty="0"/>
              <a:t> (libre ou payant) : </a:t>
            </a:r>
            <a:r>
              <a:rPr lang="fr-FR" dirty="0">
                <a:hlinkClick r:id="rId5"/>
              </a:rPr>
              <a:t>https://www.graylog.org</a:t>
            </a:r>
            <a:endParaRPr lang="fr-FR" dirty="0"/>
          </a:p>
          <a:p>
            <a:pPr lvl="1"/>
            <a:r>
              <a:rPr lang="fr-FR" dirty="0"/>
              <a:t>Analyse de logs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6513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6979D-6707-1348-90AD-18F6F1DB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LOGSTASH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A786A-58E5-2E49-8886-C12F8BC8C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46" y="3534883"/>
            <a:ext cx="4699443" cy="121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06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concepts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8001" y="2068117"/>
            <a:ext cx="8062943" cy="3971176"/>
          </a:xfrm>
        </p:spPr>
        <p:txBody>
          <a:bodyPr/>
          <a:lstStyle/>
          <a:p>
            <a:r>
              <a:rPr lang="fr-FR" dirty="0"/>
              <a:t>C’est un ETL (</a:t>
            </a:r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Transform</a:t>
            </a:r>
            <a:r>
              <a:rPr lang="fr-FR" dirty="0"/>
              <a:t> and </a:t>
            </a:r>
            <a:r>
              <a:rPr lang="fr-FR" dirty="0" err="1"/>
              <a:t>Load</a:t>
            </a:r>
            <a:r>
              <a:rPr lang="fr-FR" dirty="0"/>
              <a:t>) fonctionnant sur un système de plugins</a:t>
            </a:r>
          </a:p>
          <a:p>
            <a:r>
              <a:rPr lang="fr-FR" dirty="0"/>
              <a:t>Traitement en 3 parties :</a:t>
            </a:r>
          </a:p>
          <a:p>
            <a:pPr lvl="1"/>
            <a:r>
              <a:rPr lang="fr-FR" dirty="0"/>
              <a:t>Input : capture et collecte des données</a:t>
            </a:r>
          </a:p>
          <a:p>
            <a:pPr lvl="1"/>
            <a:r>
              <a:rPr lang="fr-FR" dirty="0"/>
              <a:t>Filter : traitement et normalisation des données</a:t>
            </a:r>
          </a:p>
          <a:p>
            <a:pPr lvl="1"/>
            <a:r>
              <a:rPr lang="fr-FR" dirty="0"/>
              <a:t>Output : transport de ces données vers une autre destination</a:t>
            </a:r>
          </a:p>
          <a:p>
            <a:r>
              <a:rPr lang="fr-FR" dirty="0"/>
              <a:t>La configuration de Logstash est entièrement programmable et repose sur un système de plugins</a:t>
            </a:r>
          </a:p>
          <a:p>
            <a:pPr lvl="1"/>
            <a:r>
              <a:rPr lang="fr-FR" dirty="0"/>
              <a:t>N’importe qui peut développer son propre plugin (en Ruby)</a:t>
            </a:r>
          </a:p>
          <a:p>
            <a:r>
              <a:rPr lang="fr-FR" dirty="0"/>
              <a:t>Développé par Elastic, il n’est pas forcément exclusif à leurs produits</a:t>
            </a:r>
          </a:p>
        </p:txBody>
      </p:sp>
    </p:spTree>
    <p:extLst>
      <p:ext uri="{BB962C8B-B14F-4D97-AF65-F5344CB8AC3E}">
        <p14:creationId xmlns:p14="http://schemas.microsoft.com/office/powerpoint/2010/main" val="1436374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1" y="942310"/>
            <a:ext cx="6447501" cy="807244"/>
          </a:xfrm>
        </p:spPr>
        <p:txBody>
          <a:bodyPr/>
          <a:lstStyle/>
          <a:p>
            <a:r>
              <a:rPr lang="fr-FR" dirty="0"/>
              <a:t>PRINCIPAUX inputs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684973"/>
              </p:ext>
            </p:extLst>
          </p:nvPr>
        </p:nvGraphicFramePr>
        <p:xfrm>
          <a:off x="996415" y="2374134"/>
          <a:ext cx="6853238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Plugin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Description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3" tooltip="elasticsearch"/>
                        </a:rPr>
                        <a:t>elasticsearch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Reads query results from an Elasticsearch cluster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4" tooltip="exec"/>
                        </a:rPr>
                        <a:t>exec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Captures the output of a shell command as an event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5" tooltip="eventlog"/>
                        </a:rPr>
                        <a:t>eventlog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Pulls events from the Windows Event Log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6" tooltip="file"/>
                        </a:rPr>
                        <a:t>file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Streams events from files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7" tooltip="http"/>
                        </a:rPr>
                        <a:t>http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Receives events over HTTP or HTTPS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8" tooltip="http_poller"/>
                        </a:rPr>
                        <a:t>http_poller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Decodes the output of an HTTP API into events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9" tooltip="imap"/>
                        </a:rPr>
                        <a:t>imap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Reads mail from an IMAP server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  <a:hlinkClick r:id="rId10" tooltip="jdbc"/>
                        </a:rPr>
                        <a:t>jdbc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Creates events from JDBC data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sng" strike="noStrike" dirty="0">
                          <a:solidFill>
                            <a:schemeClr val="tx1"/>
                          </a:solidFill>
                          <a:latin typeface="inherit"/>
                        </a:rPr>
                        <a:t>…</a:t>
                      </a:r>
                      <a:endParaRPr lang="fr-FR" sz="1400" u="sng" dirty="0">
                        <a:solidFill>
                          <a:schemeClr val="tx1"/>
                        </a:solidFill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333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1" y="960822"/>
            <a:ext cx="6447501" cy="496491"/>
          </a:xfrm>
        </p:spPr>
        <p:txBody>
          <a:bodyPr>
            <a:normAutofit fontScale="90000"/>
          </a:bodyPr>
          <a:lstStyle/>
          <a:p>
            <a:r>
              <a:rPr lang="fr-FR" dirty="0"/>
              <a:t>PRINCIPAUX filters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025883"/>
              </p:ext>
            </p:extLst>
          </p:nvPr>
        </p:nvGraphicFramePr>
        <p:xfrm>
          <a:off x="508000" y="2140823"/>
          <a:ext cx="8059927" cy="4421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Plugin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Description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3" tooltip="anonymize"/>
                        </a:rPr>
                        <a:t>anonymize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Replaces field values with a consistent hash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37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4" tooltip="csv"/>
                        </a:rPr>
                        <a:t>csv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Parses comma-separated value data into individual fields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5" tooltip="checksum"/>
                        </a:rPr>
                        <a:t>checksum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Creates a checksum based on fields in an event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54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6" tooltip="date"/>
                        </a:rPr>
                        <a:t>date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Parses dates from fields to use as the Logstash timestamp for an event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7" tooltip="geoip"/>
                        </a:rPr>
                        <a:t>geoip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Adds geographical information about an IP address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8" tooltip="json"/>
                        </a:rPr>
                        <a:t>json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Parses JSON events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9" tooltip="json_encode"/>
                        </a:rPr>
                        <a:t>json_encode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Serializes a field to JSON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0" tooltip="kv"/>
                        </a:rPr>
                        <a:t>kv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Parses key-value pairs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1" tooltip="mutate"/>
                        </a:rPr>
                        <a:t>mutate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Performs mutations on fields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2" tooltip="multiline"/>
                        </a:rPr>
                        <a:t>multiline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Merges multiple lines into a single event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3" tooltip="sleep"/>
                        </a:rPr>
                        <a:t>sleep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Sleeps for a specified time span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4" tooltip="split"/>
                        </a:rPr>
                        <a:t>split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Splits multi-line messages into distinct events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4" tooltip="split"/>
                        </a:rPr>
                        <a:t>grok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Parses unstructured log data, such as syslog logs, apache and other webserver logs, </a:t>
                      </a:r>
                      <a:r>
                        <a:rPr lang="en-US" sz="1400" dirty="0" err="1">
                          <a:latin typeface="inherit"/>
                        </a:rPr>
                        <a:t>mysql</a:t>
                      </a:r>
                      <a:r>
                        <a:rPr lang="en-US" sz="1400" dirty="0">
                          <a:latin typeface="inherit"/>
                        </a:rPr>
                        <a:t> logs, into something structured and </a:t>
                      </a:r>
                      <a:r>
                        <a:rPr lang="en-US" sz="1400" dirty="0" err="1">
                          <a:latin typeface="inherit"/>
                        </a:rPr>
                        <a:t>queryable</a:t>
                      </a:r>
                      <a:endParaRPr lang="en-US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35924306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inherit"/>
                        </a:rPr>
                        <a:t>…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11331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786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1" y="1314450"/>
            <a:ext cx="6447501" cy="496491"/>
          </a:xfrm>
        </p:spPr>
        <p:txBody>
          <a:bodyPr>
            <a:normAutofit fontScale="90000"/>
          </a:bodyPr>
          <a:lstStyle/>
          <a:p>
            <a:r>
              <a:rPr lang="fr-FR" dirty="0"/>
              <a:t>Les outputs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830098"/>
              </p:ext>
            </p:extLst>
          </p:nvPr>
        </p:nvGraphicFramePr>
        <p:xfrm>
          <a:off x="741916" y="2512690"/>
          <a:ext cx="773192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Plugin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Description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3" tooltip="csv"/>
                        </a:rPr>
                        <a:t>csv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Writes events to disk in a delimited format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4" tooltip="email"/>
                        </a:rPr>
                        <a:t>email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Sends email to a specified address when output is received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5" tooltip="elasticsearch"/>
                        </a:rPr>
                        <a:t>elasticsearch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Stores logs in Elasticsearch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6" tooltip="exec"/>
                        </a:rPr>
                        <a:t>exec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Runs a command for a matching event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7" tooltip="file"/>
                        </a:rPr>
                        <a:t>file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Writes events to files on disk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8" tooltip="http"/>
                        </a:rPr>
                        <a:t>http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Sends events to a generic HTTP or HTTPS endpoint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9" tooltip="irc"/>
                        </a:rPr>
                        <a:t>irc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Writes events to IRC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u="none" strike="noStrike" dirty="0">
                          <a:solidFill>
                            <a:srgbClr val="31BEB1"/>
                          </a:solidFill>
                          <a:latin typeface="inherit"/>
                          <a:hlinkClick r:id="rId10" tooltip="syslog"/>
                        </a:rPr>
                        <a:t>syslog</a:t>
                      </a:r>
                      <a:endParaRPr lang="fr-FR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>
                          <a:latin typeface="inherit"/>
                        </a:rPr>
                        <a:t>Sends events to a syslog server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400" dirty="0">
                          <a:latin typeface="inherit"/>
                        </a:rPr>
                        <a:t>…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400" dirty="0">
                        <a:latin typeface="inherit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2658703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728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99F183-99EE-4B1F-BA64-21A07922AE8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83A767-5AFC-40D0-A72C-09036EA172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262CAC-6BC8-43F9-9113-770A2772F6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A2CCB6-DFD2-41CD-96FE-0140B793599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A225C9B-755F-4F91-9681-5E07AFAA71F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2CD2CD-6CF3-4EE9-A24A-A41D45DCF9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A2F1DB-4C33-DE41-8F4B-B277A18A4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631" y="1208531"/>
            <a:ext cx="4332586" cy="47350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A4A0CA-F97D-1C49-BE3A-8EEE13E4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206" y="1419225"/>
            <a:ext cx="2311182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Configuration Logstash</a:t>
            </a:r>
            <a:br>
              <a:rPr lang="en-US" sz="2000" dirty="0">
                <a:solidFill>
                  <a:srgbClr val="FFFFFF"/>
                </a:solidFill>
              </a:rPr>
            </a:b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(</a:t>
            </a:r>
            <a:r>
              <a:rPr lang="en-US" sz="2000" dirty="0" err="1">
                <a:solidFill>
                  <a:srgbClr val="FFFFFF"/>
                </a:solidFill>
              </a:rPr>
              <a:t>Syntaxe</a:t>
            </a:r>
            <a:r>
              <a:rPr lang="en-US" sz="2000" dirty="0">
                <a:solidFill>
                  <a:srgbClr val="FFFFFF"/>
                </a:solidFill>
              </a:rPr>
              <a:t> : RUBY)</a:t>
            </a:r>
          </a:p>
        </p:txBody>
      </p:sp>
    </p:spTree>
    <p:extLst>
      <p:ext uri="{BB962C8B-B14F-4D97-AF65-F5344CB8AC3E}">
        <p14:creationId xmlns:p14="http://schemas.microsoft.com/office/powerpoint/2010/main" val="618891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6979D-6707-1348-90AD-18F6F1DB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KIBANA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43515-0B53-8742-8F55-C2FB03DE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21" y="3187385"/>
            <a:ext cx="3760757" cy="115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43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2545-B29A-A344-B214-8415F06A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Kibana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37A2-3D5F-BA4D-BDCB-94F0119C6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fr-FR" dirty="0"/>
              <a:t>C’est une UI pour Elasticsearch</a:t>
            </a:r>
          </a:p>
          <a:p>
            <a:pPr lvl="1"/>
            <a:r>
              <a:rPr lang="fr-FR" dirty="0"/>
              <a:t>Interface de recherche de documents (onglet « </a:t>
            </a:r>
            <a:r>
              <a:rPr lang="fr-FR" dirty="0" err="1"/>
              <a:t>Discover</a:t>
            </a:r>
            <a:r>
              <a:rPr lang="fr-FR" dirty="0"/>
              <a:t> »)</a:t>
            </a:r>
          </a:p>
          <a:p>
            <a:pPr lvl="1"/>
            <a:r>
              <a:rPr lang="fr-FR" dirty="0"/>
              <a:t>Interface de création de graphiques venant des agrégations (onglet « </a:t>
            </a:r>
            <a:r>
              <a:rPr lang="fr-FR" dirty="0" err="1"/>
              <a:t>Visualize</a:t>
            </a:r>
            <a:r>
              <a:rPr lang="fr-FR" dirty="0"/>
              <a:t> »)</a:t>
            </a:r>
          </a:p>
          <a:p>
            <a:pPr lvl="1"/>
            <a:r>
              <a:rPr lang="fr-FR" dirty="0"/>
              <a:t>Création de </a:t>
            </a:r>
            <a:r>
              <a:rPr lang="fr-FR" dirty="0" err="1"/>
              <a:t>dashboards</a:t>
            </a:r>
            <a:r>
              <a:rPr lang="fr-FR" dirty="0"/>
              <a:t> interactifs regroupant les graphiques (onglet « Dashboard »)</a:t>
            </a:r>
          </a:p>
          <a:p>
            <a:r>
              <a:rPr lang="fr-FR" dirty="0"/>
              <a:t>Ne se connecte qu’à </a:t>
            </a:r>
            <a:r>
              <a:rPr lang="fr-FR" dirty="0" err="1"/>
              <a:t>Elasticsearch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3525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3B9A993-8C14-7142-AA15-5224DB295D6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8092" y="599725"/>
            <a:ext cx="8300581" cy="3583968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2D9BC15-8FC2-B04F-BB06-FEF31418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/>
          <a:lstStyle/>
          <a:p>
            <a:r>
              <a:rPr lang="fr-FR" dirty="0"/>
              <a:t>graphiques</a:t>
            </a:r>
          </a:p>
        </p:txBody>
      </p:sp>
    </p:spTree>
    <p:extLst>
      <p:ext uri="{BB962C8B-B14F-4D97-AF65-F5344CB8AC3E}">
        <p14:creationId xmlns:p14="http://schemas.microsoft.com/office/powerpoint/2010/main" val="3855150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3ED3-7511-0241-BCD1-9DF4AC08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99789F-D1FA-5B42-8C28-046A44BF91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8093" y="599724"/>
            <a:ext cx="8313400" cy="3589503"/>
          </a:xfrm>
        </p:spPr>
      </p:pic>
    </p:spTree>
    <p:extLst>
      <p:ext uri="{BB962C8B-B14F-4D97-AF65-F5344CB8AC3E}">
        <p14:creationId xmlns:p14="http://schemas.microsoft.com/office/powerpoint/2010/main" val="4197673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20FF-388B-1748-898D-A6F89B1C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dashboard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0DBE86D-9C78-D04B-95FD-B13275B60B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38493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6979D-6707-1348-90AD-18F6F1DB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24" y="3111063"/>
            <a:ext cx="7989752" cy="1297838"/>
          </a:xfrm>
        </p:spPr>
        <p:txBody>
          <a:bodyPr>
            <a:normAutofit/>
          </a:bodyPr>
          <a:lstStyle/>
          <a:p>
            <a:pPr algn="ctr"/>
            <a:r>
              <a:rPr lang="fr-FR" sz="4400" dirty="0" err="1">
                <a:solidFill>
                  <a:schemeClr val="tx1"/>
                </a:solidFill>
              </a:rPr>
              <a:t>aUTRES</a:t>
            </a:r>
            <a:r>
              <a:rPr lang="fr-FR" sz="4400" dirty="0">
                <a:solidFill>
                  <a:schemeClr val="tx1"/>
                </a:solidFill>
              </a:rPr>
              <a:t> </a:t>
            </a:r>
            <a:r>
              <a:rPr lang="fr-FR" sz="4400" dirty="0" err="1">
                <a:solidFill>
                  <a:schemeClr val="tx1"/>
                </a:solidFill>
              </a:rPr>
              <a:t>OUTIlS</a:t>
            </a:r>
            <a:endParaRPr lang="fr-FR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678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6F8DF70-F5E5-DE4A-9E22-1935D57F9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779" y="113542"/>
            <a:ext cx="5540849" cy="65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364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759B576-3396-094A-AEEB-E604C0728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45" y="120869"/>
            <a:ext cx="5919310" cy="661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593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3942</TotalTime>
  <Words>3328</Words>
  <Application>Microsoft Macintosh PowerPoint</Application>
  <PresentationFormat>Affichage à l'écran (4:3)</PresentationFormat>
  <Paragraphs>437</Paragraphs>
  <Slides>49</Slides>
  <Notes>49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6" baseType="lpstr">
      <vt:lpstr>-webkit-standard</vt:lpstr>
      <vt:lpstr>Arial</vt:lpstr>
      <vt:lpstr>Calibri</vt:lpstr>
      <vt:lpstr>Gill Sans MT</vt:lpstr>
      <vt:lpstr>inherit</vt:lpstr>
      <vt:lpstr>Wingdings 2</vt:lpstr>
      <vt:lpstr>Dividend</vt:lpstr>
      <vt:lpstr>SUITE « ELK » : ELASTICSEARCH – LOGSTASH - kIBANA</vt:lpstr>
      <vt:lpstr>ELASTICSEARCH</vt:lpstr>
      <vt:lpstr>ELASTICSEARCH ?</vt:lpstr>
      <vt:lpstr>Pourquoi un moteur de recherche ?</vt:lpstr>
      <vt:lpstr>Les moteurs de recherche du marché</vt:lpstr>
      <vt:lpstr>Le projet ELASTICSEArCH</vt:lpstr>
      <vt:lpstr>Elasticsearch</vt:lpstr>
      <vt:lpstr>Un peu de  vocabulaire</vt:lpstr>
      <vt:lpstr>REST ET crud sur elasticsearch</vt:lpstr>
      <vt:lpstr>Exemple de document</vt:lpstr>
      <vt:lpstr>De l’indexation …</vt:lpstr>
      <vt:lpstr>De l’indexation …</vt:lpstr>
      <vt:lpstr>Index inversé</vt:lpstr>
      <vt:lpstr>… à la recherche</vt:lpstr>
      <vt:lpstr>Exact values vs Full-Text</vt:lpstr>
      <vt:lpstr>Mapping</vt:lpstr>
      <vt:lpstr>Exemple de mapping</vt:lpstr>
      <vt:lpstr>Requêtes</vt:lpstr>
      <vt:lpstr>Recherche Lucene</vt:lpstr>
      <vt:lpstr>Recherche Lucene</vt:lpstr>
      <vt:lpstr>Recherche Lucene </vt:lpstr>
      <vt:lpstr>Query DSL</vt:lpstr>
      <vt:lpstr>Les différentes query </vt:lpstr>
      <vt:lpstr>Combiner les requêtes entre elles</vt:lpstr>
      <vt:lpstr>Exemple de bool query</vt:lpstr>
      <vt:lpstr>Paramètres d’une query DSL</vt:lpstr>
      <vt:lpstr>Les agrégations</vt:lpstr>
      <vt:lpstr>Agrégations</vt:lpstr>
      <vt:lpstr>Agrégations</vt:lpstr>
      <vt:lpstr>Les opérateurs d’agrégation</vt:lpstr>
      <vt:lpstr>Les opérateurs d’agrégation (suite)</vt:lpstr>
      <vt:lpstr>Résilience</vt:lpstr>
      <vt:lpstr>Clustering</vt:lpstr>
      <vt:lpstr>Sharding et replicas</vt:lpstr>
      <vt:lpstr>Autres fonctionnalités / OUTILS LIeS</vt:lpstr>
      <vt:lpstr>LOGSTASH</vt:lpstr>
      <vt:lpstr>Les concepts</vt:lpstr>
      <vt:lpstr>PRINCIPAUX inputs</vt:lpstr>
      <vt:lpstr>PRINCIPAUX filters</vt:lpstr>
      <vt:lpstr>Les outputs</vt:lpstr>
      <vt:lpstr>Configuration Logstash  (Syntaxe : RUBY)</vt:lpstr>
      <vt:lpstr>KIBANA</vt:lpstr>
      <vt:lpstr>Kibana</vt:lpstr>
      <vt:lpstr>graphiques</vt:lpstr>
      <vt:lpstr>graphiques</vt:lpstr>
      <vt:lpstr>dashboard</vt:lpstr>
      <vt:lpstr>aUTRES OUTIlS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Moteur de recherche</dc:title>
  <dc:creator>Arthur Veys</dc:creator>
  <cp:lastModifiedBy>Vincent COUTURIER</cp:lastModifiedBy>
  <cp:revision>176</cp:revision>
  <cp:lastPrinted>2018-03-20T22:00:11Z</cp:lastPrinted>
  <dcterms:created xsi:type="dcterms:W3CDTF">2018-03-09T15:26:41Z</dcterms:created>
  <dcterms:modified xsi:type="dcterms:W3CDTF">2026-01-13T21:35:11Z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f1dbbe-1e64-4437-b4ae-0c846e98b90b_Enabled">
    <vt:lpwstr>true</vt:lpwstr>
  </property>
  <property fmtid="{D5CDD505-2E9C-101B-9397-08002B2CF9AE}" pid="3" name="MSIP_Label_5af1dbbe-1e64-4437-b4ae-0c846e98b90b_SetDate">
    <vt:lpwstr>2025-01-07T20:30:58Z</vt:lpwstr>
  </property>
  <property fmtid="{D5CDD505-2E9C-101B-9397-08002B2CF9AE}" pid="4" name="MSIP_Label_5af1dbbe-1e64-4437-b4ae-0c846e98b90b_Method">
    <vt:lpwstr>Privileged</vt:lpwstr>
  </property>
  <property fmtid="{D5CDD505-2E9C-101B-9397-08002B2CF9AE}" pid="5" name="MSIP_Label_5af1dbbe-1e64-4437-b4ae-0c846e98b90b_Name">
    <vt:lpwstr>EXTERNE</vt:lpwstr>
  </property>
  <property fmtid="{D5CDD505-2E9C-101B-9397-08002B2CF9AE}" pid="6" name="MSIP_Label_5af1dbbe-1e64-4437-b4ae-0c846e98b90b_SiteId">
    <vt:lpwstr>8b87af7d-8647-4dc7-8df4-5f69a2011bb5</vt:lpwstr>
  </property>
  <property fmtid="{D5CDD505-2E9C-101B-9397-08002B2CF9AE}" pid="7" name="MSIP_Label_5af1dbbe-1e64-4437-b4ae-0c846e98b90b_ActionId">
    <vt:lpwstr>c3e71942-eef4-4b94-85ac-072fde4b3029</vt:lpwstr>
  </property>
  <property fmtid="{D5CDD505-2E9C-101B-9397-08002B2CF9AE}" pid="8" name="MSIP_Label_5af1dbbe-1e64-4437-b4ae-0c846e98b90b_ContentBits">
    <vt:lpwstr>0</vt:lpwstr>
  </property>
</Properties>
</file>